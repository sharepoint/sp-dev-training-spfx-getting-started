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20"/>
  </p:notesMasterIdLst>
  <p:handoutMasterIdLst>
    <p:handoutMasterId r:id="rId21"/>
  </p:handoutMasterIdLst>
  <p:sldIdLst>
    <p:sldId id="257" r:id="rId3"/>
    <p:sldId id="263" r:id="rId4"/>
    <p:sldId id="1553" r:id="rId5"/>
    <p:sldId id="1555" r:id="rId6"/>
    <p:sldId id="1551" r:id="rId7"/>
    <p:sldId id="1549" r:id="rId8"/>
    <p:sldId id="1550" r:id="rId9"/>
    <p:sldId id="1559" r:id="rId10"/>
    <p:sldId id="1560" r:id="rId11"/>
    <p:sldId id="1552" r:id="rId12"/>
    <p:sldId id="1561" r:id="rId13"/>
    <p:sldId id="1554" r:id="rId14"/>
    <p:sldId id="265" r:id="rId15"/>
    <p:sldId id="283" r:id="rId16"/>
    <p:sldId id="279" r:id="rId17"/>
    <p:sldId id="261" r:id="rId18"/>
    <p:sldId id="260" r:id="rId19"/>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257"/>
            <p14:sldId id="263"/>
          </p14:sldIdLst>
        </p14:section>
        <p14:section name="spfx" id="{3D9C80B2-EAAE-E24F-83D7-5970E147313E}">
          <p14:sldIdLst>
            <p14:sldId id="1553"/>
            <p14:sldId id="1555"/>
            <p14:sldId id="1551"/>
            <p14:sldId id="1549"/>
            <p14:sldId id="1550"/>
            <p14:sldId id="1559"/>
          </p14:sldIdLst>
        </p14:section>
        <p14:section name="dev-environment" id="{0A9C1980-EB9A-9B4C-A48E-3F16C73E0A25}">
          <p14:sldIdLst>
            <p14:sldId id="1560"/>
            <p14:sldId id="1552"/>
            <p14:sldId id="1561"/>
            <p14:sldId id="1554"/>
            <p14:sldId id="265"/>
          </p14:sldIdLst>
        </p14:section>
        <p14:section name="outro" id="{E93196B6-EFE2-3242-B776-C77C0FCFFEF1}">
          <p14:sldIdLst>
            <p14:sldId id="283"/>
            <p14:sldId id="279"/>
            <p14:sldId id="261"/>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0219" autoAdjust="0"/>
    <p:restoredTop sz="72808" autoAdjust="0"/>
  </p:normalViewPr>
  <p:slideViewPr>
    <p:cSldViewPr snapToGrid="0">
      <p:cViewPr varScale="1">
        <p:scale>
          <a:sx n="89" d="100"/>
          <a:sy n="89" d="100"/>
        </p:scale>
        <p:origin x="968" y="160"/>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5/24/26 9:48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5/24/26 9:40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In this unit, you'll learn what the SharePoint Framework is and how to configure your developer environment.</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The SharePoint user experience has been evolving across multiple versions throughout the years.</a:t>
            </a:r>
          </a:p>
          <a:p>
            <a:endParaRPr lang="en-US" sz="900" b="0" kern="1200" dirty="0">
              <a:solidFill>
                <a:schemeClr val="tx1"/>
              </a:solidFill>
              <a:effectLst/>
              <a:latin typeface="Segoe UI Light" pitchFamily="34" charset="0"/>
              <a:ea typeface="+mn-ea"/>
              <a:cs typeface="+mn-cs"/>
            </a:endParaRPr>
          </a:p>
          <a:p>
            <a:r>
              <a:rPr lang="en-US" sz="900" b="0" kern="1200" dirty="0">
                <a:solidFill>
                  <a:schemeClr val="tx1"/>
                </a:solidFill>
                <a:effectLst/>
                <a:latin typeface="Segoe UI Light" pitchFamily="34" charset="0"/>
                <a:ea typeface="+mn-ea"/>
                <a:cs typeface="+mn-cs"/>
              </a:rPr>
              <a:t>SharePoint has a long history going back to the first release of SharePoint Portal Server 2001. The figure above displays the versions of SharePoint Microsoft has released over the years. After the initial release, Microsoft rewrote SharePoint on ASP.NET and introduced web parts in with the SharePoint Portal Server 2003 release.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As SharePoint's popularity grew, developers started to take interest in extending the product. Office SharePoint Server 2007 introduced multiple capabilities for developers, namely features, and solutions. Microsoft also merged the Microsoft Content Management Server, web content management solution, into SharePoint as site publishing capabilities.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SharePoint Server 2010 added multiple shared services to the product, including taxonomy, shared search services, and the ability to incorporate external business data into SharePoint sites.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In 2012, Microsoft introduced a new development model enabling developers to externalize customizations to run either in the browser, or on servers other than the servers where SharePoint was installed. This new model, the SharePoint Add-in model, was introduced in SharePoint Server 2013 and was released along with significant investments to the SharePoint REST API. SharePoint Server 2013 also adopted the OAuth 2.0 protocol and introduced the ability for developers to create apps that had their own identities.</a:t>
            </a:r>
          </a:p>
          <a:p>
            <a:pPr marL="0" marR="0" lvl="0" indent="0" algn="l" defTabSz="932742" rtl="0" eaLnBrk="1" fontAlgn="auto" latinLnBrk="0" hangingPunct="1">
              <a:lnSpc>
                <a:spcPct val="90000"/>
              </a:lnSpc>
              <a:spcBef>
                <a:spcPts val="0"/>
              </a:spcBef>
              <a:spcAft>
                <a:spcPts val="340"/>
              </a:spcAft>
              <a:buClrTx/>
              <a:buSzTx/>
              <a:buFontTx/>
              <a:buNone/>
              <a:tabLst/>
              <a:defRPr/>
            </a:pPr>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More recently, with SharePoint Server 2016, SharePoint Server 2019</a:t>
            </a:r>
            <a:r>
              <a:rPr lang="en-US" b="0" dirty="0">
                <a:solidFill>
                  <a:srgbClr val="000000"/>
                </a:solidFill>
                <a:effectLst/>
                <a:latin typeface="Consolas" panose="020B0609020204030204" pitchFamily="49" charset="0"/>
              </a:rPr>
              <a:t>, SharePoint Server Subscription Edition</a:t>
            </a:r>
            <a:r>
              <a:rPr lang="en-US" sz="900" b="0" kern="1200" dirty="0">
                <a:solidFill>
                  <a:schemeClr val="tx1"/>
                </a:solidFill>
                <a:effectLst/>
                <a:latin typeface="Segoe UI Light" pitchFamily="34" charset="0"/>
                <a:ea typeface="+mn-ea"/>
                <a:cs typeface="+mn-cs"/>
              </a:rPr>
              <a:t>, and SharePoint Online, Microsoft noticed customers were using client-side development techniques to customize and extend SharePoint. Client-side customizations are the foundation and inspiration for the SharePoint Framework.</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Present day SharePoint exists in one of two versions: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a:t>
            </a:r>
            <a:r>
              <a:rPr lang="en-US" b="0" dirty="0">
                <a:solidFill>
                  <a:srgbClr val="000000"/>
                </a:solidFill>
                <a:effectLst/>
                <a:latin typeface="Consolas" panose="020B0609020204030204" pitchFamily="49" charset="0"/>
              </a:rPr>
              <a:t>SharePoint Server Subscription Edition</a:t>
            </a:r>
            <a:r>
              <a:rPr lang="en-US" sz="900" b="1" kern="1200" dirty="0">
                <a:solidFill>
                  <a:schemeClr val="tx1"/>
                </a:solidFill>
                <a:effectLst/>
                <a:latin typeface="Segoe UI Light" pitchFamily="34" charset="0"/>
                <a:ea typeface="+mn-ea"/>
                <a:cs typeface="+mn-cs"/>
              </a:rPr>
              <a:t>**</a:t>
            </a:r>
            <a:r>
              <a:rPr lang="en-US" sz="900" b="0" kern="1200" dirty="0">
                <a:solidFill>
                  <a:schemeClr val="tx1"/>
                </a:solidFill>
                <a:effectLst/>
                <a:latin typeface="Segoe UI Light" pitchFamily="34" charset="0"/>
                <a:ea typeface="+mn-ea"/>
                <a:cs typeface="+mn-cs"/>
              </a:rPr>
              <a:t>: This is the on-premises version of SharePoint that customers install and maintain on their servers.</a:t>
            </a:r>
          </a:p>
          <a:p>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**SharePoint Online**</a:t>
            </a:r>
            <a:r>
              <a:rPr lang="en-US" sz="900" b="0" kern="1200" dirty="0">
                <a:solidFill>
                  <a:schemeClr val="tx1"/>
                </a:solidFill>
                <a:effectLst/>
                <a:latin typeface="Segoe UI Light" pitchFamily="34" charset="0"/>
                <a:ea typeface="+mn-ea"/>
                <a:cs typeface="+mn-cs"/>
              </a:rPr>
              <a:t>: This is the hosted version of SharePoint, managed by Microsoft as part of Microsoft 365.</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sz="900" b="0" kern="1200" dirty="0">
              <a:solidFill>
                <a:schemeClr val="tx1"/>
              </a:solidFill>
              <a:effectLst/>
              <a:latin typeface="Segoe UI Light" pitchFamily="34" charset="0"/>
              <a:ea typeface="+mn-ea"/>
              <a:cs typeface="+mn-cs"/>
            </a:endParaRPr>
          </a:p>
        </p:txBody>
      </p:sp>
      <p:sp>
        <p:nvSpPr>
          <p:cNvPr id="4" name="Date Placeholder 3"/>
          <p:cNvSpPr>
            <a:spLocks noGrp="1"/>
          </p:cNvSpPr>
          <p:nvPr>
            <p:ph type="dt" idx="10"/>
          </p:nvPr>
        </p:nvSpPr>
        <p:spPr/>
        <p:txBody>
          <a:bodyPr/>
          <a:lstStyle/>
          <a:p>
            <a:fld id="{CA18E192-2F8D-428E-B62B-9841F858B005}" type="datetime1">
              <a:rPr lang="en-US" smtClean="0">
                <a:solidFill>
                  <a:prstClr val="black"/>
                </a:solidFill>
              </a:rPr>
              <a:pPr/>
              <a:t>5/24/26</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3</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1775" defTabSz="914099"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1775" defTabSz="914099"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689525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Over the past several years, with the evolution of Microsoft 365, development of SharePoint solutions has a new set of challenges: while on one hand IT and Tenant administrators require a new set of tools to control how data get accessed and consumed in their tenancies, developers want to programmatically control the whole lifecycle, experience, and data access capabilities of a Site.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Unfortunately, developers today find themselves constraint around building app parts because of </a:t>
            </a:r>
            <a:r>
              <a:rPr lang="en-US" sz="900" b="0" kern="1200" dirty="0" err="1">
                <a:solidFill>
                  <a:schemeClr val="tx1"/>
                </a:solidFill>
                <a:effectLst/>
                <a:latin typeface="Segoe UI Light" pitchFamily="34" charset="0"/>
                <a:ea typeface="+mn-ea"/>
                <a:cs typeface="+mn-cs"/>
              </a:rPr>
              <a:t>iframes</a:t>
            </a:r>
            <a:r>
              <a:rPr lang="en-US" sz="900" b="0" kern="1200" dirty="0">
                <a:solidFill>
                  <a:schemeClr val="tx1"/>
                </a:solidFill>
                <a:effectLst/>
                <a:latin typeface="Segoe UI Light" pitchFamily="34" charset="0"/>
                <a:ea typeface="+mn-ea"/>
                <a:cs typeface="+mn-cs"/>
              </a:rPr>
              <a:t>, a reduced set of APIs, and no integration with cross Microsoft 365 workloads. This in turn limits their ability to develop powerful portals that extend SharePoint.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client-side development framework will deliver capabilities that will help both first party and third-party developers build powerful, rich applications and provide an enjoyable web experience in Microsoft 365 for end users that are both intuitive and simple to consume.</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4CFA94A-519F-445C-B30C-9E76FA6A2031}" type="datetime8">
              <a:rPr lang="en-US" smtClean="0">
                <a:solidFill>
                  <a:prstClr val="black"/>
                </a:solidFill>
              </a:rPr>
              <a:pPr/>
              <a:t>5/24/26 9:40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095232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SharePoint Framework is modern client-side development. All the customizations you create and build are deployed and run in the browser. There is no server-side component in a SharePoint Framework component.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You can create server-side components, but you're going to host that yourself in a location other than SharePoint.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SharePoint Framework components are lightweight and run in both web and mobile experiences because they are client-side solutions. We're relying on JavaScript, HTML, CSS, and images. This means they run the exact same way in the browser as it does in the mobile experiences.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SharePoint Framework is backwards compatible meaning that it works not just the modern pages, but also on classic and publishing pages as well.</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development tools and platform used in the SharePoint Framework is implemented with open-source tools and common JavaScript web frameworks like React.</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9B58DE-4BA1-4364-B922-4D0E9172083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412257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What is a modern page?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difference between a modern page and classic pages is that a modern page is rendered client-side. Modern pages aren't rendered server side, which is how SharePoint developers use to build component such as server-side based web parts.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Modern pages are natively responsive meaning that when the browser is resized, it's going to resize and re-render the page appropriate for the current resolution and experience.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Web parts you create will run and be rendered client-side; Client-side components can also use persistent caches so data that's cached by the SharePoint Framework API can be used by custom components on modern pages.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23A5C127-CB05-47B6-8D1E-7BC74A68F508}"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4191081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Modern pages are mobile optimized and will render both in the client if you're using a browser or a desktop browser.</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Modern site pages enable users to easily create beautiful looking pages. They help you communicate ideas and information using an improved authoring canvases and a gallery of web parts. Some of the different building blocks that are available to page authors include a page canvas. This canvas and web parts and these are all built using client-side HTML and JavaScript.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Mobile support is built in from the start, which means that page reflows across different device sizes. Pages are fast and fluid. Modern pages get better with Microsoft Graph because authors can leverage Microsoft Graph to surface relevant pages to the people that need to read them.</a:t>
            </a:r>
          </a:p>
          <a:p>
            <a:pPr>
              <a:spcAft>
                <a:spcPts val="600"/>
              </a:spcAft>
            </a:pPr>
            <a:endParaRPr lang="en-US" sz="1600" dirty="0">
              <a:gradFill>
                <a:gsLst>
                  <a:gs pos="2917">
                    <a:schemeClr val="tx1"/>
                  </a:gs>
                  <a:gs pos="30000">
                    <a:schemeClr val="tx1"/>
                  </a:gs>
                </a:gsLst>
                <a:lin ang="5400000" scaled="0"/>
              </a:gradFill>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0EC29EE-A8AD-4CE0-9C0B-116E0D4D753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4047063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Is all SharePoint Framework development done in JavaScript?</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No, and in many similar ways as the SharePoint Add-in development model, server-side development is needed for backend scenarios.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SharePoint Framework is simply concentrating on the user interface side of components, not on the fundamentals around the API usage. You can still create server-side solutions, but they're not going to be visible or surfaced in SharePoint Online or run within a SharePoint process.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Instead, you can create a SharePoint Framework component that can interact with those backend APIs.</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153644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There are a few things you need to take into consideration when setting up a SharePoint Framework development environment. First you need to set up a Microsoft 365 developer tenant.</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r>
              <a:rPr lang="en-US"/>
              <a:t>SharePoint</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2105520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A developer tenant is no different than a normal production tenant. Microsoft provides developers, through the Microsoft 365 Developer Program to get access to a developer tenant. The developer tenant same thing you would normally get when you purchase Microsoft 365 licenses.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&gt; [!TIP]</a:t>
            </a:r>
          </a:p>
          <a:p>
            <a:r>
              <a:rPr lang="en-US" sz="900" b="0" kern="1200" dirty="0">
                <a:solidFill>
                  <a:schemeClr val="tx1"/>
                </a:solidFill>
                <a:effectLst/>
                <a:latin typeface="Segoe UI Light" pitchFamily="34" charset="0"/>
                <a:ea typeface="+mn-ea"/>
                <a:cs typeface="+mn-cs"/>
              </a:rPr>
              <a:t>&gt; Sign up for the Microsoft 365 Developer Program at [https://aka.ms/offdp](</a:t>
            </a:r>
            <a:r>
              <a:rPr lang="en-US" sz="900" b="0" u="sng" kern="1200" dirty="0">
                <a:solidFill>
                  <a:schemeClr val="tx1"/>
                </a:solidFill>
                <a:effectLst/>
                <a:latin typeface="Segoe UI Light" pitchFamily="34" charset="0"/>
                <a:ea typeface="+mn-ea"/>
                <a:cs typeface="+mn-cs"/>
              </a:rPr>
              <a:t>https://aka.ms/offdp</a:t>
            </a:r>
            <a:r>
              <a:rPr lang="en-US" sz="900" b="0" kern="1200" dirty="0">
                <a:solidFill>
                  <a:schemeClr val="tx1"/>
                </a:solidFill>
                <a:effectLst/>
                <a:latin typeface="Segoe UI Light" pitchFamily="34" charset="0"/>
                <a:ea typeface="+mn-ea"/>
                <a:cs typeface="+mn-cs"/>
              </a:rPr>
              <a:t>).</a:t>
            </a:r>
          </a:p>
        </p:txBody>
      </p:sp>
      <p:sp>
        <p:nvSpPr>
          <p:cNvPr id="4" name="Header Placeholder 3"/>
          <p:cNvSpPr>
            <a:spLocks noGrp="1"/>
          </p:cNvSpPr>
          <p:nvPr>
            <p:ph type="hdr" sz="quarter" idx="10"/>
          </p:nvPr>
        </p:nvSpPr>
        <p:spPr/>
        <p:txBody>
          <a:bodyPr/>
          <a:lstStyle/>
          <a:p>
            <a:r>
              <a:rPr lang="en-US"/>
              <a:t>SharePoint</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4289124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Once you have a developer tenant, you need to create an App Catalog site. The App Catalog is where you deploy your custom packages that contain your components that you want to test or share with others in your organization. You can think of it like the SharePoint Store in a sense</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r>
              <a:rPr lang="en-US"/>
              <a:t>SharePoint</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30654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You then need to create a modern site collection for testing your custom components.</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idx="10"/>
          </p:nvPr>
        </p:nvSpPr>
        <p:spPr/>
        <p:txBody>
          <a:bodyPr/>
          <a:lstStyle/>
          <a:p>
            <a:r>
              <a:rPr lang="en-US"/>
              <a:t>SharePoint</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589787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4145976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465315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9:40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51502445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1241426"/>
            <a:ext cx="5486399" cy="849463"/>
          </a:xfrm>
        </p:spPr>
        <p:txBody>
          <a:bodyPr>
            <a:spAutoFit/>
          </a:bodyPr>
          <a:lstStyle>
            <a:lvl1pPr>
              <a:defRPr sz="48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1938"/>
            <a:ext cx="6216650" cy="6992587"/>
          </a:xfrm>
          <a:blipFill>
            <a:blip r:embed="rId2"/>
            <a:stretch>
              <a:fillRect/>
            </a:stretch>
          </a:blipFill>
        </p:spPr>
        <p:txBody>
          <a:bodyPr tIns="548640" anchor="ctr" anchorCtr="0">
            <a:noAutofit/>
          </a:bodyPr>
          <a:lstStyle>
            <a:lvl1pPr marL="0" marR="0" indent="0" algn="ctr" defTabSz="932742" rtl="0" eaLnBrk="1" fontAlgn="auto" latinLnBrk="0" hangingPunct="1">
              <a:lnSpc>
                <a:spcPct val="90000"/>
              </a:lnSpc>
              <a:spcBef>
                <a:spcPct val="20000"/>
              </a:spcBef>
              <a:spcAft>
                <a:spcPts val="0"/>
              </a:spcAft>
              <a:buClrTx/>
              <a:buSzPct val="90000"/>
              <a:buFont typeface="Arial" pitchFamily="34" charset="0"/>
              <a:buNone/>
              <a:tabLst/>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408545902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2"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7" r:id="rId28"/>
    <p:sldLayoutId id="2147484558" r:id="rId29"/>
    <p:sldLayoutId id="2147484559" r:id="rId30"/>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19.png"/><Relationship Id="rId5" Type="http://schemas.openxmlformats.org/officeDocument/2006/relationships/image" Target="../media/image18.gif"/><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8.xml"/><Relationship Id="rId5" Type="http://schemas.openxmlformats.org/officeDocument/2006/relationships/image" Target="../media/image23.emf"/><Relationship Id="rId4" Type="http://schemas.openxmlformats.org/officeDocument/2006/relationships/image" Target="../media/image22.emf"/></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0.xml"/><Relationship Id="rId4" Type="http://schemas.openxmlformats.org/officeDocument/2006/relationships/hyperlink" Target="https://aka.ms/offd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tenant]-admin.sharepoint.com/" TargetMode="External"/><Relationship Id="rId2" Type="http://schemas.openxmlformats.org/officeDocument/2006/relationships/notesSlide" Target="../notesSlides/notesSlide11.xml"/><Relationship Id="rId1" Type="http://schemas.openxmlformats.org/officeDocument/2006/relationships/slideLayout" Target="../slideLayouts/slideLayout30.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0.xml"/><Relationship Id="rId5" Type="http://schemas.openxmlformats.org/officeDocument/2006/relationships/image" Target="../media/image30.png"/><Relationship Id="rId4" Type="http://schemas.openxmlformats.org/officeDocument/2006/relationships/hyperlink" Target="https://[tenant]-admin.sharepoint.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aka.ms/spfx"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aka.ms/sppnp" TargetMode="External"/><Relationship Id="rId5" Type="http://schemas.openxmlformats.org/officeDocument/2006/relationships/hyperlink" Target="https://aka.ms/offdp" TargetMode="External"/><Relationship Id="rId4" Type="http://schemas.openxmlformats.org/officeDocument/2006/relationships/hyperlink" Target="https://learn.microsoft.com/en-us/sharepoint/dev/spfx/set-up-your-developer-tenan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Getting Started with the SharePoint Framework</a:t>
            </a:r>
          </a:p>
        </p:txBody>
      </p:sp>
      <p:sp>
        <p:nvSpPr>
          <p:cNvPr id="5" name="Text Placeholder 4"/>
          <p:cNvSpPr>
            <a:spLocks noGrp="1"/>
          </p:cNvSpPr>
          <p:nvPr>
            <p:ph type="body" sz="quarter" idx="12"/>
          </p:nvPr>
        </p:nvSpPr>
        <p:spPr/>
        <p:txBody>
          <a:bodyPr/>
          <a:lstStyle/>
          <a:p>
            <a:r>
              <a:rPr lang="en-US" dirty="0"/>
              <a:t>Introducing the SharePoint Framework</a:t>
            </a:r>
          </a:p>
        </p:txBody>
      </p:sp>
    </p:spTree>
    <p:extLst>
      <p:ext uri="{BB962C8B-B14F-4D97-AF65-F5344CB8AC3E}">
        <p14:creationId xmlns:p14="http://schemas.microsoft.com/office/powerpoint/2010/main" val="69971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4614862" cy="917575"/>
          </a:xfrm>
        </p:spPr>
        <p:txBody>
          <a:bodyPr/>
          <a:lstStyle/>
          <a:p>
            <a:r>
              <a:rPr lang="en-US" sz="2800" dirty="0"/>
              <a:t>Introducing the </a:t>
            </a:r>
            <a:br>
              <a:rPr lang="en-US" sz="2800" dirty="0"/>
            </a:br>
            <a:r>
              <a:rPr lang="en-US" sz="2800" dirty="0"/>
              <a:t>SharePoint Framework (SPFx)</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What is the SharePoint Framework?</a:t>
            </a:r>
          </a:p>
          <a:p>
            <a:pPr>
              <a:spcBef>
                <a:spcPts val="1200"/>
              </a:spcBef>
            </a:pPr>
            <a:r>
              <a:rPr lang="en-US" sz="2000" dirty="0"/>
              <a:t>Where is the SharePoint Framework supported?</a:t>
            </a:r>
          </a:p>
          <a:p>
            <a:pPr>
              <a:spcBef>
                <a:spcPts val="1200"/>
              </a:spcBef>
            </a:pPr>
            <a:r>
              <a:rPr lang="en-US" sz="2000" dirty="0"/>
              <a:t>Configuring your Microsoft 365 developer tenant for SPFx development</a:t>
            </a:r>
          </a:p>
        </p:txBody>
      </p:sp>
    </p:spTree>
    <p:extLst>
      <p:ext uri="{BB962C8B-B14F-4D97-AF65-F5344CB8AC3E}">
        <p14:creationId xmlns:p14="http://schemas.microsoft.com/office/powerpoint/2010/main" val="600909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Arrow Connector 31"/>
          <p:cNvCxnSpPr/>
          <p:nvPr/>
        </p:nvCxnSpPr>
        <p:spPr>
          <a:xfrm flipV="1">
            <a:off x="225667" y="3903883"/>
            <a:ext cx="11938536" cy="36980"/>
          </a:xfrm>
          <a:prstGeom prst="straightConnector1">
            <a:avLst/>
          </a:prstGeom>
          <a:ln w="76200">
            <a:solidFill>
              <a:schemeClr val="bg2">
                <a:lumMod val="50000"/>
              </a:schemeClr>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SharePoint UX – Evolving cross versions</a:t>
            </a:r>
          </a:p>
        </p:txBody>
      </p:sp>
      <p:grpSp>
        <p:nvGrpSpPr>
          <p:cNvPr id="57" name="Group 56"/>
          <p:cNvGrpSpPr/>
          <p:nvPr/>
        </p:nvGrpSpPr>
        <p:grpSpPr>
          <a:xfrm>
            <a:off x="5852240" y="1464618"/>
            <a:ext cx="1800000" cy="4436045"/>
            <a:chOff x="5852240" y="1464618"/>
            <a:chExt cx="1800000" cy="4436045"/>
          </a:xfrm>
        </p:grpSpPr>
        <p:sp>
          <p:nvSpPr>
            <p:cNvPr id="11" name="Flowchart: Connector 10"/>
            <p:cNvSpPr/>
            <p:nvPr/>
          </p:nvSpPr>
          <p:spPr>
            <a:xfrm>
              <a:off x="6269286" y="3726150"/>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a:solidFill>
                  <a:srgbClr val="FFFFFF"/>
                </a:solidFill>
              </a:endParaRPr>
            </a:p>
          </p:txBody>
        </p:sp>
        <p:sp>
          <p:nvSpPr>
            <p:cNvPr id="12" name="TextBox 11"/>
            <p:cNvSpPr txBox="1"/>
            <p:nvPr/>
          </p:nvSpPr>
          <p:spPr>
            <a:xfrm>
              <a:off x="5852240" y="2940833"/>
              <a:ext cx="1230093" cy="657231"/>
            </a:xfrm>
            <a:prstGeom prst="rect">
              <a:avLst/>
            </a:prstGeom>
            <a:noFill/>
          </p:spPr>
          <p:txBody>
            <a:bodyPr wrap="square" rtlCol="0">
              <a:spAutoFit/>
            </a:bodyPr>
            <a:lstStyle/>
            <a:p>
              <a:pPr defTabSz="932559"/>
              <a:r>
                <a:rPr lang="en-US" sz="3671" dirty="0">
                  <a:solidFill>
                    <a:schemeClr val="tx2"/>
                  </a:solidFill>
                  <a:latin typeface="Segoe UI Light"/>
                </a:rPr>
                <a:t>2009</a:t>
              </a:r>
            </a:p>
          </p:txBody>
        </p:sp>
        <p:sp>
          <p:nvSpPr>
            <p:cNvPr id="29" name="TextBox 28"/>
            <p:cNvSpPr txBox="1"/>
            <p:nvPr/>
          </p:nvSpPr>
          <p:spPr>
            <a:xfrm>
              <a:off x="5852240" y="2457944"/>
              <a:ext cx="1389833" cy="542399"/>
            </a:xfrm>
            <a:prstGeom prst="rect">
              <a:avLst/>
            </a:prstGeom>
            <a:noFill/>
          </p:spPr>
          <p:txBody>
            <a:bodyPr wrap="none" rtlCol="0">
              <a:spAutoFit/>
            </a:bodyPr>
            <a:lstStyle/>
            <a:p>
              <a:pPr defTabSz="932559"/>
              <a:r>
                <a:rPr lang="en-US" sz="1428" dirty="0">
                  <a:solidFill>
                    <a:srgbClr val="000000">
                      <a:lumMod val="65000"/>
                      <a:lumOff val="35000"/>
                    </a:srgbClr>
                  </a:solidFill>
                </a:rPr>
                <a:t>SharePoint</a:t>
              </a:r>
            </a:p>
            <a:p>
              <a:pPr defTabSz="932559"/>
              <a:r>
                <a:rPr lang="en-US" sz="1428" dirty="0">
                  <a:solidFill>
                    <a:srgbClr val="000000">
                      <a:lumMod val="65000"/>
                      <a:lumOff val="35000"/>
                    </a:srgbClr>
                  </a:solidFill>
                </a:rPr>
                <a:t>Server 2010</a:t>
              </a:r>
            </a:p>
          </p:txBody>
        </p:sp>
        <p:sp>
          <p:nvSpPr>
            <p:cNvPr id="78" name="TextBox 77"/>
            <p:cNvSpPr txBox="1"/>
            <p:nvPr/>
          </p:nvSpPr>
          <p:spPr>
            <a:xfrm>
              <a:off x="5852240" y="4287914"/>
              <a:ext cx="1800000" cy="1612749"/>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FAST acquisition</a:t>
              </a:r>
            </a:p>
            <a:p>
              <a:pPr>
                <a:lnSpc>
                  <a:spcPct val="90000"/>
                </a:lnSpc>
                <a:spcAft>
                  <a:spcPts val="600"/>
                </a:spcAft>
              </a:pPr>
              <a:r>
                <a:rPr lang="en-US" sz="1400" dirty="0">
                  <a:gradFill>
                    <a:gsLst>
                      <a:gs pos="2917">
                        <a:schemeClr val="tx1"/>
                      </a:gs>
                      <a:gs pos="30000">
                        <a:schemeClr val="tx1"/>
                      </a:gs>
                    </a:gsLst>
                    <a:lin ang="5400000" scaled="0"/>
                  </a:gradFill>
                </a:rPr>
                <a:t>Shared Services (e.g. taxonomy)</a:t>
              </a:r>
            </a:p>
            <a:p>
              <a:pPr>
                <a:lnSpc>
                  <a:spcPct val="90000"/>
                </a:lnSpc>
                <a:spcAft>
                  <a:spcPts val="600"/>
                </a:spcAft>
              </a:pPr>
              <a:r>
                <a:rPr lang="en-US" sz="1400" dirty="0">
                  <a:gradFill>
                    <a:gsLst>
                      <a:gs pos="2917">
                        <a:schemeClr val="tx1"/>
                      </a:gs>
                      <a:gs pos="30000">
                        <a:schemeClr val="tx1"/>
                      </a:gs>
                    </a:gsLst>
                    <a:lin ang="5400000" scaled="0"/>
                  </a:gradFill>
                </a:rPr>
                <a:t>First Client-Side Rendering Using XSL</a:t>
              </a:r>
            </a:p>
          </p:txBody>
        </p:sp>
        <p:pic>
          <p:nvPicPr>
            <p:cNvPr id="1026" name="Picture 2" descr="Image result for sharepoint 2010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2240" y="1464618"/>
              <a:ext cx="952787" cy="9527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Group 55"/>
          <p:cNvGrpSpPr/>
          <p:nvPr/>
        </p:nvGrpSpPr>
        <p:grpSpPr>
          <a:xfrm>
            <a:off x="4010951" y="1441662"/>
            <a:ext cx="1682114" cy="3529516"/>
            <a:chOff x="4010951" y="1441662"/>
            <a:chExt cx="1682114" cy="3529516"/>
          </a:xfrm>
        </p:grpSpPr>
        <p:sp>
          <p:nvSpPr>
            <p:cNvPr id="9" name="Flowchart: Connector 8"/>
            <p:cNvSpPr/>
            <p:nvPr/>
          </p:nvSpPr>
          <p:spPr>
            <a:xfrm>
              <a:off x="4426154" y="3676471"/>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a:solidFill>
                  <a:srgbClr val="FFFFFF"/>
                </a:solidFill>
              </a:endParaRPr>
            </a:p>
          </p:txBody>
        </p:sp>
        <p:sp>
          <p:nvSpPr>
            <p:cNvPr id="10" name="TextBox 9"/>
            <p:cNvSpPr txBox="1"/>
            <p:nvPr/>
          </p:nvSpPr>
          <p:spPr>
            <a:xfrm>
              <a:off x="4010951" y="2908940"/>
              <a:ext cx="1226406" cy="670315"/>
            </a:xfrm>
            <a:prstGeom prst="rect">
              <a:avLst/>
            </a:prstGeom>
            <a:noFill/>
          </p:spPr>
          <p:txBody>
            <a:bodyPr wrap="none" rtlCol="0">
              <a:spAutoFit/>
            </a:bodyPr>
            <a:lstStyle/>
            <a:p>
              <a:pPr defTabSz="932559"/>
              <a:r>
                <a:rPr lang="en-US" sz="3671" dirty="0">
                  <a:solidFill>
                    <a:schemeClr val="tx2"/>
                  </a:solidFill>
                  <a:latin typeface="Segoe UI Light"/>
                </a:rPr>
                <a:t>2006</a:t>
              </a:r>
            </a:p>
          </p:txBody>
        </p:sp>
        <p:sp>
          <p:nvSpPr>
            <p:cNvPr id="27" name="TextBox 26"/>
            <p:cNvSpPr txBox="1"/>
            <p:nvPr/>
          </p:nvSpPr>
          <p:spPr>
            <a:xfrm>
              <a:off x="4010951" y="2432775"/>
              <a:ext cx="1682114" cy="542399"/>
            </a:xfrm>
            <a:prstGeom prst="rect">
              <a:avLst/>
            </a:prstGeom>
            <a:noFill/>
          </p:spPr>
          <p:txBody>
            <a:bodyPr wrap="none" rtlCol="0">
              <a:spAutoFit/>
            </a:bodyPr>
            <a:lstStyle/>
            <a:p>
              <a:pPr defTabSz="932559"/>
              <a:r>
                <a:rPr lang="en-US" sz="1428" dirty="0">
                  <a:solidFill>
                    <a:srgbClr val="000000">
                      <a:lumMod val="65000"/>
                      <a:lumOff val="35000"/>
                    </a:srgbClr>
                  </a:solidFill>
                </a:rPr>
                <a:t>Office SharePoint</a:t>
              </a:r>
            </a:p>
            <a:p>
              <a:pPr defTabSz="932559"/>
              <a:r>
                <a:rPr lang="en-US" sz="1428" dirty="0">
                  <a:solidFill>
                    <a:srgbClr val="000000">
                      <a:lumMod val="65000"/>
                      <a:lumOff val="35000"/>
                    </a:srgbClr>
                  </a:solidFill>
                </a:rPr>
                <a:t>Server 2007</a:t>
              </a:r>
            </a:p>
          </p:txBody>
        </p:sp>
        <p:sp>
          <p:nvSpPr>
            <p:cNvPr id="77" name="TextBox 76"/>
            <p:cNvSpPr txBox="1"/>
            <p:nvPr/>
          </p:nvSpPr>
          <p:spPr>
            <a:xfrm>
              <a:off x="4010951" y="4287914"/>
              <a:ext cx="1577032" cy="683264"/>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SharePoint Publishing</a:t>
              </a:r>
            </a:p>
          </p:txBody>
        </p:sp>
        <p:pic>
          <p:nvPicPr>
            <p:cNvPr id="1028" name="Picture 4" descr="Image result for sharepoint 2007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272" y="1441662"/>
              <a:ext cx="963169" cy="9596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p:cNvGrpSpPr/>
          <p:nvPr/>
        </p:nvGrpSpPr>
        <p:grpSpPr>
          <a:xfrm>
            <a:off x="2216142" y="1473173"/>
            <a:ext cx="1697839" cy="3845792"/>
            <a:chOff x="2169662" y="1473173"/>
            <a:chExt cx="1697839" cy="3845792"/>
          </a:xfrm>
        </p:grpSpPr>
        <p:sp>
          <p:nvSpPr>
            <p:cNvPr id="8" name="TextBox 7"/>
            <p:cNvSpPr txBox="1"/>
            <p:nvPr/>
          </p:nvSpPr>
          <p:spPr>
            <a:xfrm>
              <a:off x="2169662" y="2898497"/>
              <a:ext cx="1173986" cy="670315"/>
            </a:xfrm>
            <a:prstGeom prst="rect">
              <a:avLst/>
            </a:prstGeom>
            <a:noFill/>
          </p:spPr>
          <p:txBody>
            <a:bodyPr wrap="none" rtlCol="0">
              <a:spAutoFit/>
            </a:bodyPr>
            <a:lstStyle/>
            <a:p>
              <a:pPr defTabSz="932559"/>
              <a:r>
                <a:rPr lang="en-US" sz="3671" dirty="0">
                  <a:solidFill>
                    <a:schemeClr val="tx2"/>
                  </a:solidFill>
                  <a:latin typeface="Segoe UI Light"/>
                </a:rPr>
                <a:t>2003</a:t>
              </a:r>
            </a:p>
          </p:txBody>
        </p:sp>
        <p:sp>
          <p:nvSpPr>
            <p:cNvPr id="25" name="TextBox 24"/>
            <p:cNvSpPr txBox="1"/>
            <p:nvPr/>
          </p:nvSpPr>
          <p:spPr>
            <a:xfrm>
              <a:off x="2169662" y="2437502"/>
              <a:ext cx="1697839" cy="542399"/>
            </a:xfrm>
            <a:prstGeom prst="rect">
              <a:avLst/>
            </a:prstGeom>
            <a:noFill/>
          </p:spPr>
          <p:txBody>
            <a:bodyPr wrap="none" rtlCol="0">
              <a:spAutoFit/>
            </a:bodyPr>
            <a:lstStyle/>
            <a:p>
              <a:pPr defTabSz="932559"/>
              <a:r>
                <a:rPr lang="en-US" sz="1428" dirty="0">
                  <a:solidFill>
                    <a:srgbClr val="000000">
                      <a:lumMod val="65000"/>
                      <a:lumOff val="35000"/>
                    </a:srgbClr>
                  </a:solidFill>
                </a:rPr>
                <a:t>SharePoint</a:t>
              </a:r>
            </a:p>
            <a:p>
              <a:pPr defTabSz="932559"/>
              <a:r>
                <a:rPr lang="en-US" sz="1428" dirty="0">
                  <a:solidFill>
                    <a:srgbClr val="000000">
                      <a:lumMod val="65000"/>
                      <a:lumOff val="35000"/>
                    </a:srgbClr>
                  </a:solidFill>
                </a:rPr>
                <a:t>Portal Server 2003</a:t>
              </a:r>
            </a:p>
          </p:txBody>
        </p:sp>
        <p:sp>
          <p:nvSpPr>
            <p:cNvPr id="7" name="Flowchart: Connector 6"/>
            <p:cNvSpPr/>
            <p:nvPr/>
          </p:nvSpPr>
          <p:spPr>
            <a:xfrm>
              <a:off x="2558655" y="3696365"/>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dirty="0">
                <a:solidFill>
                  <a:srgbClr val="FFFFFF"/>
                </a:solidFill>
              </a:endParaRPr>
            </a:p>
          </p:txBody>
        </p:sp>
        <p:sp>
          <p:nvSpPr>
            <p:cNvPr id="76" name="TextBox 75"/>
            <p:cNvSpPr txBox="1"/>
            <p:nvPr/>
          </p:nvSpPr>
          <p:spPr>
            <a:xfrm>
              <a:off x="2169662" y="4287914"/>
              <a:ext cx="1509627" cy="1031051"/>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ASP.NET</a:t>
              </a:r>
            </a:p>
            <a:p>
              <a:pPr>
                <a:lnSpc>
                  <a:spcPct val="90000"/>
                </a:lnSpc>
                <a:spcAft>
                  <a:spcPts val="600"/>
                </a:spcAft>
              </a:pPr>
              <a:r>
                <a:rPr lang="en-US" sz="1400" dirty="0">
                  <a:gradFill>
                    <a:gsLst>
                      <a:gs pos="2917">
                        <a:schemeClr val="tx1"/>
                      </a:gs>
                      <a:gs pos="30000">
                        <a:schemeClr val="tx1"/>
                      </a:gs>
                    </a:gsLst>
                    <a:lin ang="5400000" scaled="0"/>
                  </a:gradFill>
                </a:rPr>
                <a:t>Web Parts</a:t>
              </a:r>
            </a:p>
            <a:p>
              <a:pPr>
                <a:lnSpc>
                  <a:spcPct val="90000"/>
                </a:lnSpc>
                <a:spcAft>
                  <a:spcPts val="600"/>
                </a:spcAft>
              </a:pPr>
              <a:r>
                <a:rPr lang="en-US" sz="1400" dirty="0">
                  <a:gradFill>
                    <a:gsLst>
                      <a:gs pos="2917">
                        <a:schemeClr val="tx1"/>
                      </a:gs>
                      <a:gs pos="30000">
                        <a:schemeClr val="tx1"/>
                      </a:gs>
                    </a:gsLst>
                    <a:lin ang="5400000" scaled="0"/>
                  </a:gradFill>
                </a:rPr>
                <a:t>CAML</a:t>
              </a:r>
            </a:p>
          </p:txBody>
        </p:sp>
        <p:pic>
          <p:nvPicPr>
            <p:cNvPr id="64" name="Picture 4" descr="Image result for sharepoint 2007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5459" y="1473173"/>
              <a:ext cx="963169" cy="9596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p:cNvGrpSpPr/>
          <p:nvPr/>
        </p:nvGrpSpPr>
        <p:grpSpPr>
          <a:xfrm>
            <a:off x="328373" y="1641319"/>
            <a:ext cx="1800000" cy="3871546"/>
            <a:chOff x="328373" y="1641319"/>
            <a:chExt cx="1800000" cy="3871546"/>
          </a:xfrm>
        </p:grpSpPr>
        <p:sp>
          <p:nvSpPr>
            <p:cNvPr id="5" name="Flowchart: Connector 4"/>
            <p:cNvSpPr/>
            <p:nvPr/>
          </p:nvSpPr>
          <p:spPr>
            <a:xfrm>
              <a:off x="679822" y="3714613"/>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dirty="0">
                <a:solidFill>
                  <a:srgbClr val="FFFFFF"/>
                </a:solidFill>
              </a:endParaRPr>
            </a:p>
          </p:txBody>
        </p:sp>
        <p:sp>
          <p:nvSpPr>
            <p:cNvPr id="6" name="TextBox 5"/>
            <p:cNvSpPr txBox="1"/>
            <p:nvPr/>
          </p:nvSpPr>
          <p:spPr>
            <a:xfrm>
              <a:off x="328373" y="2898339"/>
              <a:ext cx="1098898" cy="670315"/>
            </a:xfrm>
            <a:prstGeom prst="rect">
              <a:avLst/>
            </a:prstGeom>
            <a:noFill/>
          </p:spPr>
          <p:txBody>
            <a:bodyPr wrap="none" rtlCol="0">
              <a:spAutoFit/>
            </a:bodyPr>
            <a:lstStyle/>
            <a:p>
              <a:pPr defTabSz="932559"/>
              <a:r>
                <a:rPr lang="en-US" sz="3671" dirty="0">
                  <a:solidFill>
                    <a:schemeClr val="tx2"/>
                  </a:solidFill>
                  <a:latin typeface="Segoe UI Light"/>
                </a:rPr>
                <a:t>2001</a:t>
              </a:r>
            </a:p>
          </p:txBody>
        </p:sp>
        <p:sp>
          <p:nvSpPr>
            <p:cNvPr id="23" name="TextBox 22"/>
            <p:cNvSpPr txBox="1"/>
            <p:nvPr/>
          </p:nvSpPr>
          <p:spPr>
            <a:xfrm>
              <a:off x="328373" y="2437503"/>
              <a:ext cx="1697839" cy="542399"/>
            </a:xfrm>
            <a:prstGeom prst="rect">
              <a:avLst/>
            </a:prstGeom>
            <a:noFill/>
          </p:spPr>
          <p:txBody>
            <a:bodyPr wrap="none" rtlCol="0">
              <a:spAutoFit/>
            </a:bodyPr>
            <a:lstStyle/>
            <a:p>
              <a:pPr defTabSz="932559"/>
              <a:r>
                <a:rPr lang="en-US" sz="1428" dirty="0">
                  <a:solidFill>
                    <a:srgbClr val="000000">
                      <a:lumMod val="65000"/>
                      <a:lumOff val="35000"/>
                    </a:srgbClr>
                  </a:solidFill>
                </a:rPr>
                <a:t>SharePoint</a:t>
              </a:r>
            </a:p>
            <a:p>
              <a:pPr defTabSz="932559"/>
              <a:r>
                <a:rPr lang="en-US" sz="1428" dirty="0">
                  <a:solidFill>
                    <a:srgbClr val="000000">
                      <a:lumMod val="65000"/>
                      <a:lumOff val="35000"/>
                    </a:srgbClr>
                  </a:solidFill>
                </a:rPr>
                <a:t>Portal Server 2001</a:t>
              </a:r>
            </a:p>
          </p:txBody>
        </p:sp>
        <p:sp>
          <p:nvSpPr>
            <p:cNvPr id="39" name="TextBox 38"/>
            <p:cNvSpPr txBox="1"/>
            <p:nvPr/>
          </p:nvSpPr>
          <p:spPr>
            <a:xfrm>
              <a:off x="328373" y="4287914"/>
              <a:ext cx="1509627" cy="1224951"/>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ASP</a:t>
              </a:r>
            </a:p>
            <a:p>
              <a:pPr>
                <a:lnSpc>
                  <a:spcPct val="90000"/>
                </a:lnSpc>
                <a:spcAft>
                  <a:spcPts val="600"/>
                </a:spcAft>
              </a:pPr>
              <a:r>
                <a:rPr lang="en-US" sz="1400" dirty="0">
                  <a:gradFill>
                    <a:gsLst>
                      <a:gs pos="2917">
                        <a:schemeClr val="tx1"/>
                      </a:gs>
                      <a:gs pos="30000">
                        <a:schemeClr val="tx1"/>
                      </a:gs>
                    </a:gsLst>
                    <a:lin ang="5400000" scaled="0"/>
                  </a:gradFill>
                </a:rPr>
                <a:t>Early Server Widget Tech</a:t>
              </a:r>
            </a:p>
            <a:p>
              <a:pPr>
                <a:lnSpc>
                  <a:spcPct val="90000"/>
                </a:lnSpc>
                <a:spcAft>
                  <a:spcPts val="600"/>
                </a:spcAft>
              </a:pPr>
              <a:r>
                <a:rPr lang="en-US" sz="1400" dirty="0">
                  <a:gradFill>
                    <a:gsLst>
                      <a:gs pos="2917">
                        <a:schemeClr val="tx1"/>
                      </a:gs>
                      <a:gs pos="30000">
                        <a:schemeClr val="tx1"/>
                      </a:gs>
                    </a:gsLst>
                    <a:lin ang="5400000" scaled="0"/>
                  </a:gradFill>
                </a:rPr>
                <a:t>Single Box</a:t>
              </a:r>
            </a:p>
          </p:txBody>
        </p:sp>
        <p:pic>
          <p:nvPicPr>
            <p:cNvPr id="1030" name="Picture 6" descr="Image result for sharepoint 2001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616" y="1641319"/>
              <a:ext cx="1740757" cy="6906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2" name="Group 61"/>
          <p:cNvGrpSpPr/>
          <p:nvPr/>
        </p:nvGrpSpPr>
        <p:grpSpPr>
          <a:xfrm>
            <a:off x="7693534" y="1421200"/>
            <a:ext cx="1799995" cy="4402519"/>
            <a:chOff x="7693534" y="1421200"/>
            <a:chExt cx="1799995" cy="4402519"/>
          </a:xfrm>
        </p:grpSpPr>
        <p:sp>
          <p:nvSpPr>
            <p:cNvPr id="41" name="TextBox 40"/>
            <p:cNvSpPr txBox="1"/>
            <p:nvPr/>
          </p:nvSpPr>
          <p:spPr>
            <a:xfrm>
              <a:off x="7693534" y="2922308"/>
              <a:ext cx="1284689" cy="657231"/>
            </a:xfrm>
            <a:prstGeom prst="rect">
              <a:avLst/>
            </a:prstGeom>
            <a:noFill/>
          </p:spPr>
          <p:txBody>
            <a:bodyPr wrap="none" rtlCol="0">
              <a:spAutoFit/>
            </a:bodyPr>
            <a:lstStyle/>
            <a:p>
              <a:pPr defTabSz="932559"/>
              <a:r>
                <a:rPr lang="en-US" sz="3671" dirty="0">
                  <a:solidFill>
                    <a:schemeClr val="tx2"/>
                  </a:solidFill>
                  <a:latin typeface="Segoe UI Light"/>
                </a:rPr>
                <a:t>2012</a:t>
              </a:r>
            </a:p>
          </p:txBody>
        </p:sp>
        <p:sp>
          <p:nvSpPr>
            <p:cNvPr id="44" name="TextBox 43"/>
            <p:cNvSpPr txBox="1"/>
            <p:nvPr/>
          </p:nvSpPr>
          <p:spPr>
            <a:xfrm>
              <a:off x="7693534" y="2436149"/>
              <a:ext cx="1410411" cy="531812"/>
            </a:xfrm>
            <a:prstGeom prst="rect">
              <a:avLst/>
            </a:prstGeom>
            <a:noFill/>
          </p:spPr>
          <p:txBody>
            <a:bodyPr wrap="none" rtlCol="0">
              <a:spAutoFit/>
            </a:bodyPr>
            <a:lstStyle/>
            <a:p>
              <a:pPr defTabSz="932559"/>
              <a:r>
                <a:rPr lang="en-US" sz="1428" dirty="0">
                  <a:solidFill>
                    <a:srgbClr val="000000">
                      <a:lumMod val="65000"/>
                      <a:lumOff val="35000"/>
                    </a:srgbClr>
                  </a:solidFill>
                </a:rPr>
                <a:t>SharePoint</a:t>
              </a:r>
            </a:p>
            <a:p>
              <a:pPr defTabSz="932559"/>
              <a:r>
                <a:rPr lang="en-US" sz="1428" dirty="0">
                  <a:solidFill>
                    <a:srgbClr val="000000">
                      <a:lumMod val="65000"/>
                      <a:lumOff val="35000"/>
                    </a:srgbClr>
                  </a:solidFill>
                </a:rPr>
                <a:t>Server 2013</a:t>
              </a:r>
            </a:p>
          </p:txBody>
        </p:sp>
        <p:sp>
          <p:nvSpPr>
            <p:cNvPr id="45" name="TextBox 44"/>
            <p:cNvSpPr txBox="1"/>
            <p:nvPr/>
          </p:nvSpPr>
          <p:spPr>
            <a:xfrm>
              <a:off x="7693534" y="4287914"/>
              <a:ext cx="1799995" cy="1535805"/>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Search driven publishing sites</a:t>
              </a:r>
            </a:p>
            <a:p>
              <a:pPr>
                <a:lnSpc>
                  <a:spcPct val="90000"/>
                </a:lnSpc>
                <a:spcAft>
                  <a:spcPts val="600"/>
                </a:spcAft>
              </a:pPr>
              <a:r>
                <a:rPr lang="en-US" sz="1400" dirty="0">
                  <a:gradFill>
                    <a:gsLst>
                      <a:gs pos="2917">
                        <a:schemeClr val="tx1"/>
                      </a:gs>
                      <a:gs pos="30000">
                        <a:schemeClr val="tx1"/>
                      </a:gs>
                    </a:gsLst>
                    <a:lin ang="5400000" scaled="0"/>
                  </a:gradFill>
                </a:rPr>
                <a:t>Client-Side Rendering sprinkled in, e.g. CBS, MDS, etc.</a:t>
              </a:r>
            </a:p>
          </p:txBody>
        </p:sp>
        <p:pic>
          <p:nvPicPr>
            <p:cNvPr id="61" name="Picture 60"/>
            <p:cNvPicPr>
              <a:picLocks noChangeAspect="1"/>
            </p:cNvPicPr>
            <p:nvPr/>
          </p:nvPicPr>
          <p:blipFill rotWithShape="1">
            <a:blip r:embed="rId6"/>
            <a:srcRect r="63118"/>
            <a:stretch/>
          </p:blipFill>
          <p:spPr>
            <a:xfrm>
              <a:off x="7693534" y="1421200"/>
              <a:ext cx="1048843" cy="1069821"/>
            </a:xfrm>
            <a:prstGeom prst="rect">
              <a:avLst/>
            </a:prstGeom>
          </p:spPr>
        </p:pic>
        <p:sp>
          <p:nvSpPr>
            <p:cNvPr id="66" name="Flowchart: Connector 65"/>
            <p:cNvSpPr/>
            <p:nvPr/>
          </p:nvSpPr>
          <p:spPr>
            <a:xfrm>
              <a:off x="8137878" y="3714321"/>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a:solidFill>
                  <a:srgbClr val="FFFFFF"/>
                </a:solidFill>
              </a:endParaRPr>
            </a:p>
          </p:txBody>
        </p:sp>
      </p:grpSp>
      <p:grpSp>
        <p:nvGrpSpPr>
          <p:cNvPr id="63" name="Group 62"/>
          <p:cNvGrpSpPr/>
          <p:nvPr/>
        </p:nvGrpSpPr>
        <p:grpSpPr>
          <a:xfrm>
            <a:off x="9674621" y="1446592"/>
            <a:ext cx="2489582" cy="4801859"/>
            <a:chOff x="9534817" y="1446592"/>
            <a:chExt cx="2489582" cy="4801859"/>
          </a:xfrm>
        </p:grpSpPr>
        <p:sp>
          <p:nvSpPr>
            <p:cNvPr id="14" name="TextBox 13"/>
            <p:cNvSpPr txBox="1"/>
            <p:nvPr/>
          </p:nvSpPr>
          <p:spPr>
            <a:xfrm>
              <a:off x="9534817" y="2923661"/>
              <a:ext cx="1521571" cy="657231"/>
            </a:xfrm>
            <a:prstGeom prst="rect">
              <a:avLst/>
            </a:prstGeom>
            <a:noFill/>
          </p:spPr>
          <p:txBody>
            <a:bodyPr wrap="none" rtlCol="0">
              <a:spAutoFit/>
            </a:bodyPr>
            <a:lstStyle/>
            <a:p>
              <a:pPr defTabSz="932559"/>
              <a:r>
                <a:rPr lang="en-US" sz="3671" dirty="0">
                  <a:solidFill>
                    <a:schemeClr val="tx2"/>
                  </a:solidFill>
                  <a:latin typeface="Segoe UI Light"/>
                </a:rPr>
                <a:t>2016 …</a:t>
              </a:r>
            </a:p>
          </p:txBody>
        </p:sp>
        <p:sp>
          <p:nvSpPr>
            <p:cNvPr id="31" name="TextBox 30"/>
            <p:cNvSpPr txBox="1"/>
            <p:nvPr/>
          </p:nvSpPr>
          <p:spPr>
            <a:xfrm>
              <a:off x="9534817" y="2437502"/>
              <a:ext cx="1572675" cy="531812"/>
            </a:xfrm>
            <a:prstGeom prst="rect">
              <a:avLst/>
            </a:prstGeom>
            <a:noFill/>
          </p:spPr>
          <p:txBody>
            <a:bodyPr wrap="none" rtlCol="0">
              <a:spAutoFit/>
            </a:bodyPr>
            <a:lstStyle/>
            <a:p>
              <a:pPr defTabSz="932559"/>
              <a:r>
                <a:rPr lang="en-US" sz="1428" dirty="0">
                  <a:solidFill>
                    <a:srgbClr val="000000">
                      <a:lumMod val="65000"/>
                      <a:lumOff val="35000"/>
                    </a:srgbClr>
                  </a:solidFill>
                </a:rPr>
                <a:t>SharePoint</a:t>
              </a:r>
            </a:p>
            <a:p>
              <a:pPr defTabSz="932559"/>
              <a:r>
                <a:rPr lang="en-US" sz="1428" dirty="0">
                  <a:solidFill>
                    <a:srgbClr val="000000">
                      <a:lumMod val="65000"/>
                      <a:lumOff val="35000"/>
                    </a:srgbClr>
                  </a:solidFill>
                </a:rPr>
                <a:t>Server 2016, SPO</a:t>
              </a:r>
            </a:p>
          </p:txBody>
        </p:sp>
        <p:sp>
          <p:nvSpPr>
            <p:cNvPr id="79" name="TextBox 78"/>
            <p:cNvSpPr txBox="1"/>
            <p:nvPr/>
          </p:nvSpPr>
          <p:spPr>
            <a:xfrm>
              <a:off x="9534817" y="4287914"/>
              <a:ext cx="2489582" cy="1960537"/>
            </a:xfrm>
            <a:prstGeom prst="rect">
              <a:avLst/>
            </a:prstGeom>
            <a:noFill/>
          </p:spPr>
          <p:txBody>
            <a:bodyPr wrap="square" lIns="182880" tIns="146304" rIns="182880" bIns="146304" rtlCol="0">
              <a:spAutoFit/>
            </a:bodyPr>
            <a:lstStyle/>
            <a:p>
              <a:pPr>
                <a:lnSpc>
                  <a:spcPct val="90000"/>
                </a:lnSpc>
                <a:spcAft>
                  <a:spcPts val="600"/>
                </a:spcAft>
              </a:pPr>
              <a:r>
                <a:rPr lang="en-US" sz="1400" dirty="0">
                  <a:gradFill>
                    <a:gsLst>
                      <a:gs pos="2917">
                        <a:schemeClr val="tx1"/>
                      </a:gs>
                      <a:gs pos="30000">
                        <a:schemeClr val="tx1"/>
                      </a:gs>
                    </a:gsLst>
                    <a:lin ang="5400000" scaled="0"/>
                  </a:gradFill>
                </a:rPr>
                <a:t>Hybrid</a:t>
              </a:r>
            </a:p>
            <a:p>
              <a:pPr>
                <a:lnSpc>
                  <a:spcPct val="90000"/>
                </a:lnSpc>
                <a:spcAft>
                  <a:spcPts val="600"/>
                </a:spcAft>
              </a:pPr>
              <a:r>
                <a:rPr lang="en-US" sz="1400" dirty="0">
                  <a:gradFill>
                    <a:gsLst>
                      <a:gs pos="2917">
                        <a:schemeClr val="tx1"/>
                      </a:gs>
                      <a:gs pos="30000">
                        <a:schemeClr val="tx1"/>
                      </a:gs>
                    </a:gsLst>
                    <a:lin ang="5400000" scaled="0"/>
                  </a:gradFill>
                </a:rPr>
                <a:t>Modern standalone cloud apps, e.g. Microsoft 365 Video, etc.</a:t>
              </a:r>
            </a:p>
            <a:p>
              <a:pPr>
                <a:lnSpc>
                  <a:spcPct val="90000"/>
                </a:lnSpc>
                <a:spcAft>
                  <a:spcPts val="600"/>
                </a:spcAft>
              </a:pPr>
              <a:r>
                <a:rPr lang="en-US" sz="1400" dirty="0">
                  <a:gradFill>
                    <a:gsLst>
                      <a:gs pos="2917">
                        <a:schemeClr val="tx1"/>
                      </a:gs>
                      <a:gs pos="30000">
                        <a:schemeClr val="tx1"/>
                      </a:gs>
                    </a:gsLst>
                    <a:lin ang="5400000" scaled="0"/>
                  </a:gradFill>
                </a:rPr>
                <a:t>…</a:t>
              </a:r>
            </a:p>
            <a:p>
              <a:pPr>
                <a:lnSpc>
                  <a:spcPct val="90000"/>
                </a:lnSpc>
                <a:spcAft>
                  <a:spcPts val="600"/>
                </a:spcAft>
              </a:pPr>
              <a:r>
                <a:rPr lang="en-US" sz="1400" dirty="0">
                  <a:gradFill>
                    <a:gsLst>
                      <a:gs pos="2917">
                        <a:schemeClr val="tx1"/>
                      </a:gs>
                      <a:gs pos="30000">
                        <a:schemeClr val="tx1"/>
                      </a:gs>
                    </a:gsLst>
                    <a:lin ang="5400000" scaled="0"/>
                  </a:gradFill>
                </a:rPr>
                <a:t>SPFx and Fluent UI</a:t>
              </a:r>
            </a:p>
            <a:p>
              <a:pPr>
                <a:lnSpc>
                  <a:spcPct val="90000"/>
                </a:lnSpc>
                <a:spcAft>
                  <a:spcPts val="600"/>
                </a:spcAft>
              </a:pPr>
              <a:r>
                <a:rPr lang="en-US" sz="1400" dirty="0">
                  <a:gradFill>
                    <a:gsLst>
                      <a:gs pos="2917">
                        <a:schemeClr val="tx1"/>
                      </a:gs>
                      <a:gs pos="30000">
                        <a:schemeClr val="tx1"/>
                      </a:gs>
                    </a:gsLst>
                    <a:lin ang="5400000" scaled="0"/>
                  </a:gradFill>
                </a:rPr>
                <a:t>Modern SharePoint pages</a:t>
              </a:r>
            </a:p>
          </p:txBody>
        </p:sp>
        <p:pic>
          <p:nvPicPr>
            <p:cNvPr id="60" name="Picture 59"/>
            <p:cNvPicPr>
              <a:picLocks noChangeAspect="1"/>
            </p:cNvPicPr>
            <p:nvPr/>
          </p:nvPicPr>
          <p:blipFill rotWithShape="1">
            <a:blip r:embed="rId6"/>
            <a:srcRect r="63118"/>
            <a:stretch/>
          </p:blipFill>
          <p:spPr>
            <a:xfrm>
              <a:off x="9534817" y="1446592"/>
              <a:ext cx="1048843" cy="1069821"/>
            </a:xfrm>
            <a:prstGeom prst="rect">
              <a:avLst/>
            </a:prstGeom>
          </p:spPr>
        </p:pic>
        <p:sp>
          <p:nvSpPr>
            <p:cNvPr id="67" name="Flowchart: Connector 66"/>
            <p:cNvSpPr/>
            <p:nvPr/>
          </p:nvSpPr>
          <p:spPr>
            <a:xfrm>
              <a:off x="9953693" y="3724373"/>
              <a:ext cx="396000" cy="396000"/>
            </a:xfrm>
            <a:prstGeom prst="flowChartConnector">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23" tIns="46611" rIns="93223" bIns="46611" numCol="1" spcCol="0" rtlCol="0" fromWordArt="0" anchor="ctr" anchorCtr="0" forceAA="0" compatLnSpc="1">
              <a:prstTxWarp prst="textNoShape">
                <a:avLst/>
              </a:prstTxWarp>
              <a:noAutofit/>
            </a:bodyPr>
            <a:lstStyle/>
            <a:p>
              <a:pPr algn="ctr" defTabSz="932559"/>
              <a:endParaRPr lang="en-US" sz="1835">
                <a:solidFill>
                  <a:srgbClr val="FFFFFF"/>
                </a:solidFill>
              </a:endParaRPr>
            </a:p>
          </p:txBody>
        </p:sp>
      </p:grpSp>
      <p:pic>
        <p:nvPicPr>
          <p:cNvPr id="4" name="Picture 3" descr="A close up of a sign&#10;&#10;Description automatically generated">
            <a:extLst>
              <a:ext uri="{FF2B5EF4-FFF2-40B4-BE49-F238E27FC236}">
                <a16:creationId xmlns:a16="http://schemas.microsoft.com/office/drawing/2014/main" id="{2F871157-DAB6-4157-A344-D796D14826E2}"/>
              </a:ext>
            </a:extLst>
          </p:cNvPr>
          <p:cNvPicPr>
            <a:picLocks noChangeAspect="1"/>
          </p:cNvPicPr>
          <p:nvPr/>
        </p:nvPicPr>
        <p:blipFill>
          <a:blip r:embed="rId7"/>
          <a:stretch>
            <a:fillRect/>
          </a:stretch>
        </p:blipFill>
        <p:spPr>
          <a:xfrm>
            <a:off x="11343347" y="1576204"/>
            <a:ext cx="820856" cy="820856"/>
          </a:xfrm>
          <a:prstGeom prst="rect">
            <a:avLst/>
          </a:prstGeom>
        </p:spPr>
      </p:pic>
    </p:spTree>
    <p:extLst>
      <p:ext uri="{BB962C8B-B14F-4D97-AF65-F5344CB8AC3E}">
        <p14:creationId xmlns:p14="http://schemas.microsoft.com/office/powerpoint/2010/main" val="2918682731"/>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bwMode="auto">
          <a:xfrm>
            <a:off x="8809037" y="2598056"/>
            <a:ext cx="2254737" cy="2254737"/>
          </a:xfrm>
          <a:prstGeom prst="ellipse">
            <a:avLst/>
          </a:prstGeom>
          <a:solidFill>
            <a:schemeClr val="tx1">
              <a:lumMod val="20000"/>
              <a:lumOff val="80000"/>
              <a:alpha val="7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0" name="Title 49"/>
          <p:cNvSpPr>
            <a:spLocks noGrp="1"/>
          </p:cNvSpPr>
          <p:nvPr>
            <p:ph type="title"/>
          </p:nvPr>
        </p:nvSpPr>
        <p:spPr>
          <a:xfrm>
            <a:off x="274639" y="295274"/>
            <a:ext cx="11889564" cy="692497"/>
          </a:xfrm>
        </p:spPr>
        <p:txBody>
          <a:bodyPr/>
          <a:lstStyle/>
          <a:p>
            <a:r>
              <a:rPr lang="en-US" sz="3200" dirty="0"/>
              <a:t>SharePoint Framework Extensibility Principles</a:t>
            </a:r>
            <a:br>
              <a:rPr lang="en-US" sz="1800" dirty="0"/>
            </a:br>
            <a:r>
              <a:rPr lang="en-US" sz="1800" spc="-50" dirty="0">
                <a:gradFill>
                  <a:gsLst>
                    <a:gs pos="21875">
                      <a:schemeClr val="tx2"/>
                    </a:gs>
                    <a:gs pos="61000">
                      <a:schemeClr val="tx2"/>
                    </a:gs>
                  </a:gsLst>
                  <a:lin ang="5400000" scaled="0"/>
                </a:gradFill>
              </a:rPr>
              <a:t>Build </a:t>
            </a:r>
            <a:r>
              <a:rPr lang="en-US" sz="1800" spc="-50" dirty="0">
                <a:gradFill>
                  <a:gsLst>
                    <a:gs pos="21875">
                      <a:schemeClr val="tx2"/>
                    </a:gs>
                    <a:gs pos="61000">
                      <a:schemeClr val="tx2"/>
                    </a:gs>
                  </a:gsLst>
                  <a:lin ang="5400000" scaled="0"/>
                </a:gradFill>
                <a:latin typeface="Segoe UI Semibold" panose="020B0702040204020203" pitchFamily="34" charset="0"/>
              </a:rPr>
              <a:t>long-term, value-added </a:t>
            </a:r>
            <a:r>
              <a:rPr lang="en-US" sz="1800" spc="-50" dirty="0">
                <a:gradFill>
                  <a:gsLst>
                    <a:gs pos="21875">
                      <a:schemeClr val="tx2"/>
                    </a:gs>
                    <a:gs pos="61000">
                      <a:schemeClr val="tx2"/>
                    </a:gs>
                  </a:gsLst>
                  <a:lin ang="5400000" scaled="0"/>
                </a:gradFill>
              </a:rPr>
              <a:t>services for enterprise mobility</a:t>
            </a:r>
            <a:endParaRPr lang="en-US" sz="1800" spc="-50" dirty="0"/>
          </a:p>
        </p:txBody>
      </p:sp>
      <p:sp>
        <p:nvSpPr>
          <p:cNvPr id="121" name="Rectangle 120"/>
          <p:cNvSpPr/>
          <p:nvPr/>
        </p:nvSpPr>
        <p:spPr bwMode="auto">
          <a:xfrm>
            <a:off x="849363" y="2603731"/>
            <a:ext cx="5445074" cy="2107245"/>
          </a:xfrm>
          <a:prstGeom prst="rect">
            <a:avLst/>
          </a:prstGeom>
          <a:noFill/>
          <a:ln w="10795" cap="flat" cmpd="sng" algn="ctr">
            <a:noFill/>
            <a:prstDash val="solid"/>
            <a:headEnd type="none" w="med" len="med"/>
            <a:tailEnd type="none" w="med" len="med"/>
          </a:ln>
          <a:effectLst/>
        </p:spPr>
        <p:txBody>
          <a:bodyPr vert="horz" wrap="square" lIns="89629" tIns="45713" rIns="89629" bIns="45713" numCol="1" rtlCol="0" anchor="t" anchorCtr="0" compatLnSpc="1">
            <a:prstTxWarp prst="textNoShape">
              <a:avLst/>
            </a:prstTxWarp>
          </a:bodyPr>
          <a:lstStyle/>
          <a:p>
            <a:pPr defTabSz="913926" fontAlgn="base">
              <a:spcBef>
                <a:spcPct val="0"/>
              </a:spcBef>
              <a:spcAft>
                <a:spcPts val="2353"/>
              </a:spcAft>
              <a:defRPr/>
            </a:pP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To provide an Application Development Framework that aligns 1</a:t>
            </a:r>
            <a:r>
              <a:rPr lang="en-US" sz="2000" kern="0" baseline="30000" dirty="0">
                <a:ln>
                  <a:solidFill>
                    <a:srgbClr val="FFFFFF">
                      <a:alpha val="0"/>
                    </a:srgbClr>
                  </a:solidFill>
                </a:ln>
                <a:solidFill>
                  <a:srgbClr val="505050"/>
                </a:solidFill>
                <a:latin typeface="Segoe UI" panose="020B0502040204020203" pitchFamily="34" charset="0"/>
                <a:cs typeface="Segoe UI" panose="020B0502040204020203" pitchFamily="34" charset="0"/>
              </a:rPr>
              <a:t>st</a:t>
            </a: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 and 3</a:t>
            </a:r>
            <a:r>
              <a:rPr lang="en-US" sz="2000" kern="0" baseline="30000" dirty="0">
                <a:ln>
                  <a:solidFill>
                    <a:srgbClr val="FFFFFF">
                      <a:alpha val="0"/>
                    </a:srgbClr>
                  </a:solidFill>
                </a:ln>
                <a:solidFill>
                  <a:srgbClr val="505050"/>
                </a:solidFill>
                <a:latin typeface="Segoe UI" panose="020B0502040204020203" pitchFamily="34" charset="0"/>
                <a:cs typeface="Segoe UI" panose="020B0502040204020203" pitchFamily="34" charset="0"/>
              </a:rPr>
              <a:t>rd</a:t>
            </a: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 parties</a:t>
            </a:r>
          </a:p>
          <a:p>
            <a:pPr defTabSz="913926" fontAlgn="base">
              <a:spcBef>
                <a:spcPct val="0"/>
              </a:spcBef>
              <a:spcAft>
                <a:spcPts val="2353"/>
              </a:spcAft>
              <a:defRPr/>
            </a:pP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To build industry leading client-side solutions On-Premises and in the Cloud</a:t>
            </a:r>
          </a:p>
          <a:p>
            <a:pPr defTabSz="913926" fontAlgn="base">
              <a:spcBef>
                <a:spcPct val="0"/>
              </a:spcBef>
              <a:spcAft>
                <a:spcPts val="2353"/>
              </a:spcAft>
              <a:defRPr/>
            </a:pP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Unlocking the potentials of SharePoint </a:t>
            </a:r>
            <a:b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b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and the Microsoft Graph on desktops </a:t>
            </a:r>
            <a:b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br>
            <a:r>
              <a:rPr lang="en-US" sz="2000" kern="0" dirty="0">
                <a:ln>
                  <a:solidFill>
                    <a:srgbClr val="FFFFFF">
                      <a:alpha val="0"/>
                    </a:srgbClr>
                  </a:solidFill>
                </a:ln>
                <a:solidFill>
                  <a:srgbClr val="505050"/>
                </a:solidFill>
                <a:latin typeface="Segoe UI" panose="020B0502040204020203" pitchFamily="34" charset="0"/>
                <a:cs typeface="Segoe UI" panose="020B0502040204020203" pitchFamily="34" charset="0"/>
              </a:rPr>
              <a:t>or any device</a:t>
            </a:r>
          </a:p>
        </p:txBody>
      </p:sp>
      <p:sp>
        <p:nvSpPr>
          <p:cNvPr id="122" name="Freeform 9"/>
          <p:cNvSpPr>
            <a:spLocks noEditPoints="1"/>
          </p:cNvSpPr>
          <p:nvPr/>
        </p:nvSpPr>
        <p:spPr bwMode="black">
          <a:xfrm>
            <a:off x="431434" y="2642331"/>
            <a:ext cx="364171" cy="365651"/>
          </a:xfrm>
          <a:custGeom>
            <a:avLst/>
            <a:gdLst>
              <a:gd name="T0" fmla="*/ 88 w 149"/>
              <a:gd name="T1" fmla="*/ 67 h 149"/>
              <a:gd name="T2" fmla="*/ 65 w 149"/>
              <a:gd name="T3" fmla="*/ 46 h 149"/>
              <a:gd name="T4" fmla="*/ 84 w 149"/>
              <a:gd name="T5" fmla="*/ 46 h 149"/>
              <a:gd name="T6" fmla="*/ 115 w 149"/>
              <a:gd name="T7" fmla="*/ 75 h 149"/>
              <a:gd name="T8" fmla="*/ 84 w 149"/>
              <a:gd name="T9" fmla="*/ 104 h 149"/>
              <a:gd name="T10" fmla="*/ 65 w 149"/>
              <a:gd name="T11" fmla="*/ 104 h 149"/>
              <a:gd name="T12" fmla="*/ 88 w 149"/>
              <a:gd name="T13" fmla="*/ 82 h 149"/>
              <a:gd name="T14" fmla="*/ 36 w 149"/>
              <a:gd name="T15" fmla="*/ 82 h 149"/>
              <a:gd name="T16" fmla="*/ 36 w 149"/>
              <a:gd name="T17" fmla="*/ 67 h 149"/>
              <a:gd name="T18" fmla="*/ 88 w 149"/>
              <a:gd name="T19" fmla="*/ 67 h 149"/>
              <a:gd name="T20" fmla="*/ 74 w 149"/>
              <a:gd name="T21" fmla="*/ 9 h 149"/>
              <a:gd name="T22" fmla="*/ 140 w 149"/>
              <a:gd name="T23" fmla="*/ 75 h 149"/>
              <a:gd name="T24" fmla="*/ 74 w 149"/>
              <a:gd name="T25" fmla="*/ 140 h 149"/>
              <a:gd name="T26" fmla="*/ 9 w 149"/>
              <a:gd name="T27" fmla="*/ 75 h 149"/>
              <a:gd name="T28" fmla="*/ 74 w 149"/>
              <a:gd name="T29" fmla="*/ 9 h 149"/>
              <a:gd name="T30" fmla="*/ 74 w 149"/>
              <a:gd name="T31" fmla="*/ 0 h 149"/>
              <a:gd name="T32" fmla="*/ 0 w 149"/>
              <a:gd name="T33" fmla="*/ 75 h 149"/>
              <a:gd name="T34" fmla="*/ 74 w 149"/>
              <a:gd name="T35" fmla="*/ 149 h 149"/>
              <a:gd name="T36" fmla="*/ 149 w 149"/>
              <a:gd name="T37" fmla="*/ 75 h 149"/>
              <a:gd name="T38" fmla="*/ 74 w 149"/>
              <a:gd name="T39"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149">
                <a:moveTo>
                  <a:pt x="88" y="67"/>
                </a:moveTo>
                <a:cubicBezTo>
                  <a:pt x="65" y="46"/>
                  <a:pt x="65" y="46"/>
                  <a:pt x="65" y="46"/>
                </a:cubicBezTo>
                <a:cubicBezTo>
                  <a:pt x="84" y="46"/>
                  <a:pt x="84" y="46"/>
                  <a:pt x="84" y="46"/>
                </a:cubicBezTo>
                <a:cubicBezTo>
                  <a:pt x="115" y="75"/>
                  <a:pt x="115" y="75"/>
                  <a:pt x="115" y="75"/>
                </a:cubicBezTo>
                <a:cubicBezTo>
                  <a:pt x="84" y="104"/>
                  <a:pt x="84" y="104"/>
                  <a:pt x="84" y="104"/>
                </a:cubicBezTo>
                <a:cubicBezTo>
                  <a:pt x="65" y="104"/>
                  <a:pt x="65" y="104"/>
                  <a:pt x="65" y="104"/>
                </a:cubicBezTo>
                <a:cubicBezTo>
                  <a:pt x="88" y="82"/>
                  <a:pt x="88" y="82"/>
                  <a:pt x="88" y="82"/>
                </a:cubicBezTo>
                <a:cubicBezTo>
                  <a:pt x="36" y="82"/>
                  <a:pt x="36" y="82"/>
                  <a:pt x="36" y="82"/>
                </a:cubicBezTo>
                <a:cubicBezTo>
                  <a:pt x="36" y="67"/>
                  <a:pt x="36" y="67"/>
                  <a:pt x="36" y="67"/>
                </a:cubicBezTo>
                <a:lnTo>
                  <a:pt x="88" y="67"/>
                </a:lnTo>
                <a:close/>
                <a:moveTo>
                  <a:pt x="74" y="9"/>
                </a:moveTo>
                <a:cubicBezTo>
                  <a:pt x="110" y="9"/>
                  <a:pt x="140" y="39"/>
                  <a:pt x="140" y="75"/>
                </a:cubicBezTo>
                <a:cubicBezTo>
                  <a:pt x="140" y="111"/>
                  <a:pt x="110" y="140"/>
                  <a:pt x="74" y="140"/>
                </a:cubicBezTo>
                <a:cubicBezTo>
                  <a:pt x="38" y="140"/>
                  <a:pt x="9" y="111"/>
                  <a:pt x="9" y="75"/>
                </a:cubicBezTo>
                <a:cubicBezTo>
                  <a:pt x="9" y="39"/>
                  <a:pt x="38" y="9"/>
                  <a:pt x="74" y="9"/>
                </a:cubicBezTo>
                <a:moveTo>
                  <a:pt x="74" y="0"/>
                </a:moveTo>
                <a:cubicBezTo>
                  <a:pt x="33" y="0"/>
                  <a:pt x="0" y="33"/>
                  <a:pt x="0" y="75"/>
                </a:cubicBezTo>
                <a:cubicBezTo>
                  <a:pt x="0" y="116"/>
                  <a:pt x="33" y="149"/>
                  <a:pt x="74" y="149"/>
                </a:cubicBezTo>
                <a:cubicBezTo>
                  <a:pt x="116" y="149"/>
                  <a:pt x="149" y="116"/>
                  <a:pt x="149" y="75"/>
                </a:cubicBezTo>
                <a:cubicBezTo>
                  <a:pt x="149" y="33"/>
                  <a:pt x="116" y="0"/>
                  <a:pt x="74" y="0"/>
                </a:cubicBezTo>
              </a:path>
            </a:pathLst>
          </a:custGeom>
          <a:solidFill>
            <a:schemeClr val="tx2"/>
          </a:solidFill>
          <a:ln>
            <a:noFill/>
          </a:ln>
        </p:spPr>
        <p:txBody>
          <a:bodyPr vert="horz" wrap="square" lIns="89629" tIns="44815" rIns="89629" bIns="44815" numCol="1" anchor="t" anchorCtr="0" compatLnSpc="1">
            <a:prstTxWarp prst="textNoShape">
              <a:avLst/>
            </a:prstTxWarp>
          </a:bodyPr>
          <a:lstStyle/>
          <a:p>
            <a:pPr defTabSz="914019">
              <a:defRPr/>
            </a:pPr>
            <a:endParaRPr lang="en-US" sz="1764" kern="0">
              <a:solidFill>
                <a:srgbClr val="505050"/>
              </a:solidFill>
            </a:endParaRPr>
          </a:p>
        </p:txBody>
      </p:sp>
      <p:sp>
        <p:nvSpPr>
          <p:cNvPr id="123" name="Freeform 9"/>
          <p:cNvSpPr>
            <a:spLocks noEditPoints="1"/>
          </p:cNvSpPr>
          <p:nvPr/>
        </p:nvSpPr>
        <p:spPr bwMode="black">
          <a:xfrm>
            <a:off x="435411" y="3551554"/>
            <a:ext cx="364171" cy="365651"/>
          </a:xfrm>
          <a:custGeom>
            <a:avLst/>
            <a:gdLst>
              <a:gd name="T0" fmla="*/ 88 w 149"/>
              <a:gd name="T1" fmla="*/ 67 h 149"/>
              <a:gd name="T2" fmla="*/ 65 w 149"/>
              <a:gd name="T3" fmla="*/ 46 h 149"/>
              <a:gd name="T4" fmla="*/ 84 w 149"/>
              <a:gd name="T5" fmla="*/ 46 h 149"/>
              <a:gd name="T6" fmla="*/ 115 w 149"/>
              <a:gd name="T7" fmla="*/ 75 h 149"/>
              <a:gd name="T8" fmla="*/ 84 w 149"/>
              <a:gd name="T9" fmla="*/ 104 h 149"/>
              <a:gd name="T10" fmla="*/ 65 w 149"/>
              <a:gd name="T11" fmla="*/ 104 h 149"/>
              <a:gd name="T12" fmla="*/ 88 w 149"/>
              <a:gd name="T13" fmla="*/ 82 h 149"/>
              <a:gd name="T14" fmla="*/ 36 w 149"/>
              <a:gd name="T15" fmla="*/ 82 h 149"/>
              <a:gd name="T16" fmla="*/ 36 w 149"/>
              <a:gd name="T17" fmla="*/ 67 h 149"/>
              <a:gd name="T18" fmla="*/ 88 w 149"/>
              <a:gd name="T19" fmla="*/ 67 h 149"/>
              <a:gd name="T20" fmla="*/ 74 w 149"/>
              <a:gd name="T21" fmla="*/ 9 h 149"/>
              <a:gd name="T22" fmla="*/ 140 w 149"/>
              <a:gd name="T23" fmla="*/ 75 h 149"/>
              <a:gd name="T24" fmla="*/ 74 w 149"/>
              <a:gd name="T25" fmla="*/ 140 h 149"/>
              <a:gd name="T26" fmla="*/ 9 w 149"/>
              <a:gd name="T27" fmla="*/ 75 h 149"/>
              <a:gd name="T28" fmla="*/ 74 w 149"/>
              <a:gd name="T29" fmla="*/ 9 h 149"/>
              <a:gd name="T30" fmla="*/ 74 w 149"/>
              <a:gd name="T31" fmla="*/ 0 h 149"/>
              <a:gd name="T32" fmla="*/ 0 w 149"/>
              <a:gd name="T33" fmla="*/ 75 h 149"/>
              <a:gd name="T34" fmla="*/ 74 w 149"/>
              <a:gd name="T35" fmla="*/ 149 h 149"/>
              <a:gd name="T36" fmla="*/ 149 w 149"/>
              <a:gd name="T37" fmla="*/ 75 h 149"/>
              <a:gd name="T38" fmla="*/ 74 w 149"/>
              <a:gd name="T39"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149">
                <a:moveTo>
                  <a:pt x="88" y="67"/>
                </a:moveTo>
                <a:cubicBezTo>
                  <a:pt x="65" y="46"/>
                  <a:pt x="65" y="46"/>
                  <a:pt x="65" y="46"/>
                </a:cubicBezTo>
                <a:cubicBezTo>
                  <a:pt x="84" y="46"/>
                  <a:pt x="84" y="46"/>
                  <a:pt x="84" y="46"/>
                </a:cubicBezTo>
                <a:cubicBezTo>
                  <a:pt x="115" y="75"/>
                  <a:pt x="115" y="75"/>
                  <a:pt x="115" y="75"/>
                </a:cubicBezTo>
                <a:cubicBezTo>
                  <a:pt x="84" y="104"/>
                  <a:pt x="84" y="104"/>
                  <a:pt x="84" y="104"/>
                </a:cubicBezTo>
                <a:cubicBezTo>
                  <a:pt x="65" y="104"/>
                  <a:pt x="65" y="104"/>
                  <a:pt x="65" y="104"/>
                </a:cubicBezTo>
                <a:cubicBezTo>
                  <a:pt x="88" y="82"/>
                  <a:pt x="88" y="82"/>
                  <a:pt x="88" y="82"/>
                </a:cubicBezTo>
                <a:cubicBezTo>
                  <a:pt x="36" y="82"/>
                  <a:pt x="36" y="82"/>
                  <a:pt x="36" y="82"/>
                </a:cubicBezTo>
                <a:cubicBezTo>
                  <a:pt x="36" y="67"/>
                  <a:pt x="36" y="67"/>
                  <a:pt x="36" y="67"/>
                </a:cubicBezTo>
                <a:lnTo>
                  <a:pt x="88" y="67"/>
                </a:lnTo>
                <a:close/>
                <a:moveTo>
                  <a:pt x="74" y="9"/>
                </a:moveTo>
                <a:cubicBezTo>
                  <a:pt x="110" y="9"/>
                  <a:pt x="140" y="39"/>
                  <a:pt x="140" y="75"/>
                </a:cubicBezTo>
                <a:cubicBezTo>
                  <a:pt x="140" y="111"/>
                  <a:pt x="110" y="140"/>
                  <a:pt x="74" y="140"/>
                </a:cubicBezTo>
                <a:cubicBezTo>
                  <a:pt x="38" y="140"/>
                  <a:pt x="9" y="111"/>
                  <a:pt x="9" y="75"/>
                </a:cubicBezTo>
                <a:cubicBezTo>
                  <a:pt x="9" y="39"/>
                  <a:pt x="38" y="9"/>
                  <a:pt x="74" y="9"/>
                </a:cubicBezTo>
                <a:moveTo>
                  <a:pt x="74" y="0"/>
                </a:moveTo>
                <a:cubicBezTo>
                  <a:pt x="33" y="0"/>
                  <a:pt x="0" y="33"/>
                  <a:pt x="0" y="75"/>
                </a:cubicBezTo>
                <a:cubicBezTo>
                  <a:pt x="0" y="116"/>
                  <a:pt x="33" y="149"/>
                  <a:pt x="74" y="149"/>
                </a:cubicBezTo>
                <a:cubicBezTo>
                  <a:pt x="116" y="149"/>
                  <a:pt x="149" y="116"/>
                  <a:pt x="149" y="75"/>
                </a:cubicBezTo>
                <a:cubicBezTo>
                  <a:pt x="149" y="33"/>
                  <a:pt x="116" y="0"/>
                  <a:pt x="74" y="0"/>
                </a:cubicBezTo>
              </a:path>
            </a:pathLst>
          </a:custGeom>
          <a:solidFill>
            <a:schemeClr val="tx2"/>
          </a:solidFill>
          <a:ln>
            <a:noFill/>
          </a:ln>
        </p:spPr>
        <p:txBody>
          <a:bodyPr vert="horz" wrap="square" lIns="89629" tIns="44815" rIns="89629" bIns="44815" numCol="1" anchor="t" anchorCtr="0" compatLnSpc="1">
            <a:prstTxWarp prst="textNoShape">
              <a:avLst/>
            </a:prstTxWarp>
          </a:bodyPr>
          <a:lstStyle/>
          <a:p>
            <a:pPr defTabSz="914019">
              <a:defRPr/>
            </a:pPr>
            <a:endParaRPr lang="en-US" sz="1764" kern="0">
              <a:solidFill>
                <a:srgbClr val="505050"/>
              </a:solidFill>
            </a:endParaRPr>
          </a:p>
        </p:txBody>
      </p:sp>
      <p:sp>
        <p:nvSpPr>
          <p:cNvPr id="124" name="Freeform 9"/>
          <p:cNvSpPr>
            <a:spLocks noEditPoints="1"/>
          </p:cNvSpPr>
          <p:nvPr/>
        </p:nvSpPr>
        <p:spPr bwMode="black">
          <a:xfrm>
            <a:off x="431434" y="4460777"/>
            <a:ext cx="364171" cy="365651"/>
          </a:xfrm>
          <a:custGeom>
            <a:avLst/>
            <a:gdLst>
              <a:gd name="T0" fmla="*/ 88 w 149"/>
              <a:gd name="T1" fmla="*/ 67 h 149"/>
              <a:gd name="T2" fmla="*/ 65 w 149"/>
              <a:gd name="T3" fmla="*/ 46 h 149"/>
              <a:gd name="T4" fmla="*/ 84 w 149"/>
              <a:gd name="T5" fmla="*/ 46 h 149"/>
              <a:gd name="T6" fmla="*/ 115 w 149"/>
              <a:gd name="T7" fmla="*/ 75 h 149"/>
              <a:gd name="T8" fmla="*/ 84 w 149"/>
              <a:gd name="T9" fmla="*/ 104 h 149"/>
              <a:gd name="T10" fmla="*/ 65 w 149"/>
              <a:gd name="T11" fmla="*/ 104 h 149"/>
              <a:gd name="T12" fmla="*/ 88 w 149"/>
              <a:gd name="T13" fmla="*/ 82 h 149"/>
              <a:gd name="T14" fmla="*/ 36 w 149"/>
              <a:gd name="T15" fmla="*/ 82 h 149"/>
              <a:gd name="T16" fmla="*/ 36 w 149"/>
              <a:gd name="T17" fmla="*/ 67 h 149"/>
              <a:gd name="T18" fmla="*/ 88 w 149"/>
              <a:gd name="T19" fmla="*/ 67 h 149"/>
              <a:gd name="T20" fmla="*/ 74 w 149"/>
              <a:gd name="T21" fmla="*/ 9 h 149"/>
              <a:gd name="T22" fmla="*/ 140 w 149"/>
              <a:gd name="T23" fmla="*/ 75 h 149"/>
              <a:gd name="T24" fmla="*/ 74 w 149"/>
              <a:gd name="T25" fmla="*/ 140 h 149"/>
              <a:gd name="T26" fmla="*/ 9 w 149"/>
              <a:gd name="T27" fmla="*/ 75 h 149"/>
              <a:gd name="T28" fmla="*/ 74 w 149"/>
              <a:gd name="T29" fmla="*/ 9 h 149"/>
              <a:gd name="T30" fmla="*/ 74 w 149"/>
              <a:gd name="T31" fmla="*/ 0 h 149"/>
              <a:gd name="T32" fmla="*/ 0 w 149"/>
              <a:gd name="T33" fmla="*/ 75 h 149"/>
              <a:gd name="T34" fmla="*/ 74 w 149"/>
              <a:gd name="T35" fmla="*/ 149 h 149"/>
              <a:gd name="T36" fmla="*/ 149 w 149"/>
              <a:gd name="T37" fmla="*/ 75 h 149"/>
              <a:gd name="T38" fmla="*/ 74 w 149"/>
              <a:gd name="T39"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149">
                <a:moveTo>
                  <a:pt x="88" y="67"/>
                </a:moveTo>
                <a:cubicBezTo>
                  <a:pt x="65" y="46"/>
                  <a:pt x="65" y="46"/>
                  <a:pt x="65" y="46"/>
                </a:cubicBezTo>
                <a:cubicBezTo>
                  <a:pt x="84" y="46"/>
                  <a:pt x="84" y="46"/>
                  <a:pt x="84" y="46"/>
                </a:cubicBezTo>
                <a:cubicBezTo>
                  <a:pt x="115" y="75"/>
                  <a:pt x="115" y="75"/>
                  <a:pt x="115" y="75"/>
                </a:cubicBezTo>
                <a:cubicBezTo>
                  <a:pt x="84" y="104"/>
                  <a:pt x="84" y="104"/>
                  <a:pt x="84" y="104"/>
                </a:cubicBezTo>
                <a:cubicBezTo>
                  <a:pt x="65" y="104"/>
                  <a:pt x="65" y="104"/>
                  <a:pt x="65" y="104"/>
                </a:cubicBezTo>
                <a:cubicBezTo>
                  <a:pt x="88" y="82"/>
                  <a:pt x="88" y="82"/>
                  <a:pt x="88" y="82"/>
                </a:cubicBezTo>
                <a:cubicBezTo>
                  <a:pt x="36" y="82"/>
                  <a:pt x="36" y="82"/>
                  <a:pt x="36" y="82"/>
                </a:cubicBezTo>
                <a:cubicBezTo>
                  <a:pt x="36" y="67"/>
                  <a:pt x="36" y="67"/>
                  <a:pt x="36" y="67"/>
                </a:cubicBezTo>
                <a:lnTo>
                  <a:pt x="88" y="67"/>
                </a:lnTo>
                <a:close/>
                <a:moveTo>
                  <a:pt x="74" y="9"/>
                </a:moveTo>
                <a:cubicBezTo>
                  <a:pt x="110" y="9"/>
                  <a:pt x="140" y="39"/>
                  <a:pt x="140" y="75"/>
                </a:cubicBezTo>
                <a:cubicBezTo>
                  <a:pt x="140" y="111"/>
                  <a:pt x="110" y="140"/>
                  <a:pt x="74" y="140"/>
                </a:cubicBezTo>
                <a:cubicBezTo>
                  <a:pt x="38" y="140"/>
                  <a:pt x="9" y="111"/>
                  <a:pt x="9" y="75"/>
                </a:cubicBezTo>
                <a:cubicBezTo>
                  <a:pt x="9" y="39"/>
                  <a:pt x="38" y="9"/>
                  <a:pt x="74" y="9"/>
                </a:cubicBezTo>
                <a:moveTo>
                  <a:pt x="74" y="0"/>
                </a:moveTo>
                <a:cubicBezTo>
                  <a:pt x="33" y="0"/>
                  <a:pt x="0" y="33"/>
                  <a:pt x="0" y="75"/>
                </a:cubicBezTo>
                <a:cubicBezTo>
                  <a:pt x="0" y="116"/>
                  <a:pt x="33" y="149"/>
                  <a:pt x="74" y="149"/>
                </a:cubicBezTo>
                <a:cubicBezTo>
                  <a:pt x="116" y="149"/>
                  <a:pt x="149" y="116"/>
                  <a:pt x="149" y="75"/>
                </a:cubicBezTo>
                <a:cubicBezTo>
                  <a:pt x="149" y="33"/>
                  <a:pt x="116" y="0"/>
                  <a:pt x="74" y="0"/>
                </a:cubicBezTo>
              </a:path>
            </a:pathLst>
          </a:custGeom>
          <a:solidFill>
            <a:schemeClr val="tx2"/>
          </a:solidFill>
          <a:ln>
            <a:noFill/>
          </a:ln>
        </p:spPr>
        <p:txBody>
          <a:bodyPr vert="horz" wrap="square" lIns="89629" tIns="44815" rIns="89629" bIns="44815" numCol="1" anchor="t" anchorCtr="0" compatLnSpc="1">
            <a:prstTxWarp prst="textNoShape">
              <a:avLst/>
            </a:prstTxWarp>
          </a:bodyPr>
          <a:lstStyle/>
          <a:p>
            <a:pPr defTabSz="914019">
              <a:defRPr/>
            </a:pPr>
            <a:endParaRPr lang="en-US" sz="1764" kern="0">
              <a:solidFill>
                <a:srgbClr val="505050"/>
              </a:solidFill>
            </a:endParaRPr>
          </a:p>
        </p:txBody>
      </p:sp>
      <p:sp>
        <p:nvSpPr>
          <p:cNvPr id="125" name="TextBox 124"/>
          <p:cNvSpPr txBox="1"/>
          <p:nvPr/>
        </p:nvSpPr>
        <p:spPr>
          <a:xfrm>
            <a:off x="431434" y="2041344"/>
            <a:ext cx="3325002" cy="442932"/>
          </a:xfrm>
          <a:prstGeom prst="rect">
            <a:avLst/>
          </a:prstGeom>
          <a:noFill/>
        </p:spPr>
        <p:txBody>
          <a:bodyPr wrap="square" lIns="0" tIns="0" rIns="0" bIns="0" rtlCol="0">
            <a:spAutoFit/>
          </a:bodyPr>
          <a:lstStyle/>
          <a:p>
            <a:pPr defTabSz="914019">
              <a:lnSpc>
                <a:spcPct val="90000"/>
              </a:lnSpc>
              <a:spcAft>
                <a:spcPts val="587"/>
              </a:spcAft>
            </a:pPr>
            <a:r>
              <a:rPr lang="en-US" sz="3136" dirty="0">
                <a:gradFill>
                  <a:gsLst>
                    <a:gs pos="97744">
                      <a:schemeClr val="tx2"/>
                    </a:gs>
                    <a:gs pos="82707">
                      <a:schemeClr val="tx2"/>
                    </a:gs>
                  </a:gsLst>
                  <a:lin ang="5400000" scaled="0"/>
                </a:gradFill>
                <a:latin typeface="Segoe UI Light"/>
              </a:rPr>
              <a:t>Principles</a:t>
            </a:r>
          </a:p>
        </p:txBody>
      </p:sp>
      <p:pic>
        <p:nvPicPr>
          <p:cNvPr id="57" name="Picture 56"/>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545491" y="3076103"/>
            <a:ext cx="752958" cy="1190000"/>
          </a:xfrm>
          <a:prstGeom prst="rect">
            <a:avLst/>
          </a:prstGeom>
        </p:spPr>
      </p:pic>
      <p:pic>
        <p:nvPicPr>
          <p:cNvPr id="58" name="Picture 57"/>
          <p:cNvPicPr>
            <a:picLocks noChangeAspect="1"/>
          </p:cNvPicPr>
          <p:nvPr/>
        </p:nvPicPr>
        <p:blipFill rotWithShape="1">
          <a:blip r:embed="rId4">
            <a:duotone>
              <a:schemeClr val="accent1">
                <a:shade val="45000"/>
                <a:satMod val="135000"/>
              </a:schemeClr>
              <a:prstClr val="white"/>
            </a:duotone>
          </a:blip>
          <a:srcRect r="52385"/>
          <a:stretch/>
        </p:blipFill>
        <p:spPr>
          <a:xfrm>
            <a:off x="7202344" y="2101348"/>
            <a:ext cx="1229244" cy="4004411"/>
          </a:xfrm>
          <a:prstGeom prst="rect">
            <a:avLst/>
          </a:prstGeom>
        </p:spPr>
      </p:pic>
      <p:pic>
        <p:nvPicPr>
          <p:cNvPr id="59" name="Picture 58"/>
          <p:cNvPicPr>
            <a:picLocks noChangeAspect="1"/>
          </p:cNvPicPr>
          <p:nvPr/>
        </p:nvPicPr>
        <p:blipFill rotWithShape="1">
          <a:blip r:embed="rId4">
            <a:duotone>
              <a:schemeClr val="accent1">
                <a:shade val="45000"/>
                <a:satMod val="135000"/>
              </a:schemeClr>
              <a:prstClr val="white"/>
            </a:duotone>
          </a:blip>
          <a:srcRect l="45908"/>
          <a:stretch/>
        </p:blipFill>
        <p:spPr>
          <a:xfrm>
            <a:off x="7662212" y="2925020"/>
            <a:ext cx="1396454" cy="4004411"/>
          </a:xfrm>
          <a:prstGeom prst="rect">
            <a:avLst/>
          </a:prstGeom>
        </p:spPr>
      </p:pic>
      <p:grpSp>
        <p:nvGrpSpPr>
          <p:cNvPr id="60" name="Group 59"/>
          <p:cNvGrpSpPr/>
          <p:nvPr/>
        </p:nvGrpSpPr>
        <p:grpSpPr>
          <a:xfrm>
            <a:off x="5773016" y="5333784"/>
            <a:ext cx="6906334" cy="2189345"/>
            <a:chOff x="-924524" y="5149390"/>
            <a:chExt cx="6771530" cy="2146612"/>
          </a:xfrm>
        </p:grpSpPr>
        <p:pic>
          <p:nvPicPr>
            <p:cNvPr id="61" name="Picture 60"/>
            <p:cNvPicPr>
              <a:picLocks noChangeAspect="1"/>
            </p:cNvPicPr>
            <p:nvPr/>
          </p:nvPicPr>
          <p:blipFill>
            <a:blip r:embed="rId5"/>
            <a:stretch>
              <a:fillRect/>
            </a:stretch>
          </p:blipFill>
          <p:spPr>
            <a:xfrm>
              <a:off x="2176557" y="5689480"/>
              <a:ext cx="3670449" cy="1521304"/>
            </a:xfrm>
            <a:prstGeom prst="rect">
              <a:avLst/>
            </a:prstGeom>
          </p:spPr>
        </p:pic>
        <p:grpSp>
          <p:nvGrpSpPr>
            <p:cNvPr id="62" name="Group 61"/>
            <p:cNvGrpSpPr/>
            <p:nvPr/>
          </p:nvGrpSpPr>
          <p:grpSpPr>
            <a:xfrm>
              <a:off x="-924524" y="5149390"/>
              <a:ext cx="6320686" cy="2146612"/>
              <a:chOff x="-924524" y="5263960"/>
              <a:chExt cx="6320686" cy="2146612"/>
            </a:xfrm>
          </p:grpSpPr>
          <p:pic>
            <p:nvPicPr>
              <p:cNvPr id="63" name="Picture 62"/>
              <p:cNvPicPr>
                <a:picLocks noChangeAspect="1"/>
              </p:cNvPicPr>
              <p:nvPr/>
            </p:nvPicPr>
            <p:blipFill>
              <a:blip r:embed="rId5"/>
              <a:stretch>
                <a:fillRect/>
              </a:stretch>
            </p:blipFill>
            <p:spPr>
              <a:xfrm>
                <a:off x="217032" y="5263960"/>
                <a:ext cx="5179130" cy="2146612"/>
              </a:xfrm>
              <a:prstGeom prst="rect">
                <a:avLst/>
              </a:prstGeom>
            </p:spPr>
          </p:pic>
          <p:pic>
            <p:nvPicPr>
              <p:cNvPr id="64" name="Picture 63"/>
              <p:cNvPicPr>
                <a:picLocks noChangeAspect="1"/>
              </p:cNvPicPr>
              <p:nvPr/>
            </p:nvPicPr>
            <p:blipFill>
              <a:blip r:embed="rId5">
                <a:grayscl/>
              </a:blip>
              <a:stretch>
                <a:fillRect/>
              </a:stretch>
            </p:blipFill>
            <p:spPr>
              <a:xfrm>
                <a:off x="-924524" y="5426598"/>
                <a:ext cx="3670449" cy="1521304"/>
              </a:xfrm>
              <a:prstGeom prst="rect">
                <a:avLst/>
              </a:prstGeom>
            </p:spPr>
          </p:pic>
        </p:grpSp>
      </p:grpSp>
    </p:spTree>
    <p:extLst>
      <p:ext uri="{BB962C8B-B14F-4D97-AF65-F5344CB8AC3E}">
        <p14:creationId xmlns:p14="http://schemas.microsoft.com/office/powerpoint/2010/main" val="302366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SharePoint Framework</a:t>
            </a:r>
          </a:p>
        </p:txBody>
      </p:sp>
      <p:grpSp>
        <p:nvGrpSpPr>
          <p:cNvPr id="6" name="Group 5"/>
          <p:cNvGrpSpPr/>
          <p:nvPr/>
        </p:nvGrpSpPr>
        <p:grpSpPr>
          <a:xfrm>
            <a:off x="6440484" y="1536545"/>
            <a:ext cx="5530765" cy="4702753"/>
            <a:chOff x="6440608" y="1425577"/>
            <a:chExt cx="5533905" cy="4705423"/>
          </a:xfrm>
        </p:grpSpPr>
        <p:pic>
          <p:nvPicPr>
            <p:cNvPr id="18" name="Picture 1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63958" y="1425577"/>
              <a:ext cx="1334644" cy="2732280"/>
            </a:xfrm>
            <a:prstGeom prst="rect">
              <a:avLst/>
            </a:prstGeom>
          </p:spPr>
        </p:pic>
        <p:sp>
          <p:nvSpPr>
            <p:cNvPr id="19" name="Left-Right Arrow 18"/>
            <p:cNvSpPr/>
            <p:nvPr/>
          </p:nvSpPr>
          <p:spPr bwMode="auto">
            <a:xfrm>
              <a:off x="6440608" y="4370583"/>
              <a:ext cx="5533905" cy="244914"/>
            </a:xfrm>
            <a:prstGeom prst="leftRightArrow">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15" tIns="149133" rIns="186415" bIns="149133" numCol="1" spcCol="0" rtlCol="0" fromWordArt="0" anchor="t" anchorCtr="0" forceAA="0" compatLnSpc="1">
              <a:prstTxWarp prst="textNoShape">
                <a:avLst/>
              </a:prstTxWarp>
              <a:noAutofit/>
            </a:bodyPr>
            <a:lstStyle/>
            <a:p>
              <a:pPr marL="0" marR="0" lvl="0" indent="0" algn="ctr" defTabSz="950299"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solidFill>
                  <a:schemeClr val="tx1"/>
                </a:solidFill>
                <a:effectLst/>
                <a:uLnTx/>
                <a:uFillTx/>
                <a:ea typeface="Segoe UI" pitchFamily="34" charset="0"/>
                <a:cs typeface="Segoe UI" pitchFamily="34" charset="0"/>
              </a:endParaRPr>
            </a:p>
          </p:txBody>
        </p:sp>
        <p:sp>
          <p:nvSpPr>
            <p:cNvPr id="20" name="TextBox 19"/>
            <p:cNvSpPr txBox="1"/>
            <p:nvPr/>
          </p:nvSpPr>
          <p:spPr>
            <a:xfrm>
              <a:off x="7467031" y="4551680"/>
              <a:ext cx="3500700" cy="647314"/>
            </a:xfrm>
            <a:prstGeom prst="rect">
              <a:avLst/>
            </a:prstGeom>
            <a:noFill/>
          </p:spPr>
          <p:txBody>
            <a:bodyPr wrap="none" lIns="186415" tIns="149133" rIns="186415" bIns="149133" rtlCol="0">
              <a:spAutoFit/>
            </a:bodyPr>
            <a:lstStyle/>
            <a:p>
              <a:pPr marL="0" marR="0" lvl="0" indent="0" defTabSz="932060" eaLnBrk="1" fontAlgn="auto" latinLnBrk="0" hangingPunct="1">
                <a:lnSpc>
                  <a:spcPct val="90000"/>
                </a:lnSpc>
                <a:spcBef>
                  <a:spcPts val="0"/>
                </a:spcBef>
                <a:spcAft>
                  <a:spcPts val="612"/>
                </a:spcAft>
                <a:buClrTx/>
                <a:buSzTx/>
                <a:buFontTx/>
                <a:buNone/>
                <a:tabLst/>
                <a:defRPr/>
              </a:pPr>
              <a:r>
                <a:rPr kumimoji="0" lang="en-US" sz="2448" b="0" i="0" u="none" strike="noStrike" kern="0" cap="none" spc="0" normalizeH="0" baseline="0" noProof="0" dirty="0">
                  <a:ln>
                    <a:noFill/>
                  </a:ln>
                  <a:gradFill>
                    <a:gsLst>
                      <a:gs pos="5660">
                        <a:schemeClr val="tx2"/>
                      </a:gs>
                      <a:gs pos="38000">
                        <a:schemeClr val="tx2"/>
                      </a:gs>
                    </a:gsLst>
                    <a:lin ang="5400000" scaled="0"/>
                  </a:gradFill>
                  <a:effectLst/>
                  <a:uLnTx/>
                  <a:uFillTx/>
                </a:rPr>
                <a:t>SharePoint Framework</a:t>
              </a:r>
            </a:p>
          </p:txBody>
        </p:sp>
        <p:sp>
          <p:nvSpPr>
            <p:cNvPr id="21" name="Rectangle 20"/>
            <p:cNvSpPr/>
            <p:nvPr/>
          </p:nvSpPr>
          <p:spPr bwMode="auto">
            <a:xfrm>
              <a:off x="9148012" y="5390465"/>
              <a:ext cx="2826501" cy="740535"/>
            </a:xfrm>
            <a:prstGeom prst="rect">
              <a:avLst/>
            </a:prstGeom>
            <a:noFill/>
            <a:ln w="28575">
              <a:solidFill>
                <a:schemeClr val="tx1"/>
              </a:solidFill>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6604" rIns="0" bIns="46604" numCol="1" spcCol="0" rtlCol="0" fromWordArt="0" anchor="ctr" anchorCtr="0" forceAA="0" compatLnSpc="1">
              <a:prstTxWarp prst="textNoShape">
                <a:avLst/>
              </a:prstTxWarp>
              <a:noAutofit/>
            </a:bodyPr>
            <a:lstStyle/>
            <a:p>
              <a:pPr marL="0" marR="0" lvl="0" indent="0" algn="ctr" defTabSz="931577" eaLnBrk="1" fontAlgn="base" latinLnBrk="0" hangingPunct="1">
                <a:lnSpc>
                  <a:spcPct val="100000"/>
                </a:lnSpc>
                <a:spcBef>
                  <a:spcPct val="0"/>
                </a:spcBef>
                <a:spcAft>
                  <a:spcPct val="0"/>
                </a:spcAft>
                <a:buClrTx/>
                <a:buSzTx/>
                <a:buFontTx/>
                <a:buNone/>
                <a:tabLst/>
                <a:defRPr/>
              </a:pPr>
              <a:r>
                <a:rPr kumimoji="0" lang="en-US" sz="1428" b="0" i="0" u="none" strike="noStrike" kern="0" cap="none" spc="0" normalizeH="0" baseline="0" noProof="0" dirty="0">
                  <a:ln>
                    <a:noFill/>
                  </a:ln>
                  <a:gradFill>
                    <a:gsLst>
                      <a:gs pos="73585">
                        <a:schemeClr val="tx1"/>
                      </a:gs>
                      <a:gs pos="53000">
                        <a:schemeClr val="tx1"/>
                      </a:gs>
                    </a:gsLst>
                    <a:lin ang="5400000" scaled="0"/>
                  </a:gradFill>
                  <a:effectLst/>
                  <a:uLnTx/>
                  <a:uFillTx/>
                  <a:latin typeface="Segoe UI Semilight"/>
                </a:rPr>
                <a:t>LOB Systems and Cloud Services</a:t>
              </a:r>
            </a:p>
          </p:txBody>
        </p:sp>
        <p:sp>
          <p:nvSpPr>
            <p:cNvPr id="17" name="Rectangle 16"/>
            <p:cNvSpPr/>
            <p:nvPr/>
          </p:nvSpPr>
          <p:spPr bwMode="auto">
            <a:xfrm>
              <a:off x="10448741" y="5179981"/>
              <a:ext cx="233012" cy="42096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15" tIns="149133" rIns="186415" bIns="149133" numCol="1" spcCol="0" rtlCol="0" fromWordArt="0" anchor="t" anchorCtr="0" forceAA="0" compatLnSpc="1">
              <a:prstTxWarp prst="textNoShape">
                <a:avLst/>
              </a:prstTxWarp>
              <a:noAutofit/>
            </a:bodyPr>
            <a:lstStyle/>
            <a:p>
              <a:pPr marL="0" marR="0" lvl="0" indent="0" algn="ctr" defTabSz="950299"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2" name="Rectangle 21"/>
            <p:cNvSpPr/>
            <p:nvPr/>
          </p:nvSpPr>
          <p:spPr bwMode="auto">
            <a:xfrm>
              <a:off x="6440609" y="5390465"/>
              <a:ext cx="2533707" cy="740535"/>
            </a:xfrm>
            <a:prstGeom prst="rect">
              <a:avLst/>
            </a:prstGeom>
            <a:noFill/>
            <a:ln w="28575">
              <a:solidFill>
                <a:schemeClr val="tx1"/>
              </a:solidFill>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6604" rIns="0" bIns="46604" numCol="1" spcCol="0" rtlCol="0" fromWordArt="0" anchor="ctr" anchorCtr="0" forceAA="0" compatLnSpc="1">
              <a:prstTxWarp prst="textNoShape">
                <a:avLst/>
              </a:prstTxWarp>
              <a:noAutofit/>
            </a:bodyPr>
            <a:lstStyle/>
            <a:p>
              <a:pPr marL="0" marR="0" lvl="0" indent="0" algn="ctr" defTabSz="931577" eaLnBrk="1" fontAlgn="base" latinLnBrk="0" hangingPunct="1">
                <a:lnSpc>
                  <a:spcPct val="100000"/>
                </a:lnSpc>
                <a:spcBef>
                  <a:spcPct val="0"/>
                </a:spcBef>
                <a:spcAft>
                  <a:spcPct val="0"/>
                </a:spcAft>
                <a:buClrTx/>
                <a:buSzTx/>
                <a:buFontTx/>
                <a:buNone/>
                <a:tabLst/>
                <a:defRPr/>
              </a:pPr>
              <a:r>
                <a:rPr kumimoji="0" lang="en-US" sz="1428" b="0" i="0" u="none" strike="noStrike" kern="0" cap="none" spc="0" normalizeH="0" baseline="0" noProof="0" dirty="0">
                  <a:ln>
                    <a:noFill/>
                  </a:ln>
                  <a:gradFill>
                    <a:gsLst>
                      <a:gs pos="73585">
                        <a:schemeClr val="tx1"/>
                      </a:gs>
                      <a:gs pos="53000">
                        <a:schemeClr val="tx1"/>
                      </a:gs>
                    </a:gsLst>
                    <a:lin ang="5400000" scaled="0"/>
                  </a:gradFill>
                  <a:effectLst/>
                  <a:uLnTx/>
                  <a:uFillTx/>
                  <a:latin typeface="Segoe UI Semilight"/>
                </a:rPr>
                <a:t>Microsoft Graph</a:t>
              </a:r>
            </a:p>
          </p:txBody>
        </p:sp>
        <p:sp>
          <p:nvSpPr>
            <p:cNvPr id="3" name="Rectangle 2"/>
            <p:cNvSpPr/>
            <p:nvPr/>
          </p:nvSpPr>
          <p:spPr bwMode="auto">
            <a:xfrm>
              <a:off x="7590956" y="5159125"/>
              <a:ext cx="233012" cy="42096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15" tIns="149133" rIns="186415" bIns="149133" numCol="1" spcCol="0" rtlCol="0" fromWordArt="0" anchor="t" anchorCtr="0" forceAA="0" compatLnSpc="1">
              <a:prstTxWarp prst="textNoShape">
                <a:avLst/>
              </a:prstTxWarp>
              <a:noAutofit/>
            </a:bodyPr>
            <a:lstStyle/>
            <a:p>
              <a:pPr marL="0" marR="0" lvl="0" indent="0" algn="ctr" defTabSz="950299"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4" name="Up-Down Arrow 23"/>
            <p:cNvSpPr/>
            <p:nvPr/>
          </p:nvSpPr>
          <p:spPr bwMode="auto">
            <a:xfrm>
              <a:off x="7629745" y="5216542"/>
              <a:ext cx="155434" cy="339050"/>
            </a:xfrm>
            <a:prstGeom prst="upDown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15" tIns="149133" rIns="186415" bIns="149133" numCol="1" spcCol="0" rtlCol="0" fromWordArt="0" anchor="t" anchorCtr="0" forceAA="0" compatLnSpc="1">
              <a:prstTxWarp prst="textNoShape">
                <a:avLst/>
              </a:prstTxWarp>
              <a:noAutofit/>
            </a:bodyPr>
            <a:lstStyle/>
            <a:p>
              <a:pPr marL="0" marR="0" lvl="0" indent="0" algn="ctr" defTabSz="950299"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solidFill>
                  <a:schemeClr val="tx1"/>
                </a:solidFill>
                <a:effectLst/>
                <a:uLnTx/>
                <a:uFillTx/>
                <a:ea typeface="Segoe UI" pitchFamily="34" charset="0"/>
                <a:cs typeface="Segoe UI" pitchFamily="34" charset="0"/>
              </a:endParaRPr>
            </a:p>
          </p:txBody>
        </p:sp>
        <p:sp>
          <p:nvSpPr>
            <p:cNvPr id="26" name="Up-Down Arrow 25"/>
            <p:cNvSpPr/>
            <p:nvPr/>
          </p:nvSpPr>
          <p:spPr bwMode="auto">
            <a:xfrm>
              <a:off x="10483544" y="5216542"/>
              <a:ext cx="155434" cy="339050"/>
            </a:xfrm>
            <a:prstGeom prst="upDownArrow">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15" tIns="149133" rIns="186415" bIns="149133" numCol="1" spcCol="0" rtlCol="0" fromWordArt="0" anchor="t" anchorCtr="0" forceAA="0" compatLnSpc="1">
              <a:prstTxWarp prst="textNoShape">
                <a:avLst/>
              </a:prstTxWarp>
              <a:noAutofit/>
            </a:bodyPr>
            <a:lstStyle/>
            <a:p>
              <a:pPr marL="0" marR="0" lvl="0" indent="0" algn="ctr" defTabSz="950299"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solidFill>
                  <a:schemeClr val="tx1"/>
                </a:solidFill>
                <a:effectLst/>
                <a:uLnTx/>
                <a:uFillTx/>
                <a:ea typeface="Segoe UI" pitchFamily="34" charset="0"/>
                <a:cs typeface="Segoe UI" pitchFamily="34" charset="0"/>
              </a:endParaRPr>
            </a:p>
          </p:txBody>
        </p:sp>
        <p:pic>
          <p:nvPicPr>
            <p:cNvPr id="13" name="Picture 12"/>
            <p:cNvPicPr>
              <a:picLocks noChangeAspect="1"/>
            </p:cNvPicPr>
            <p:nvPr/>
          </p:nvPicPr>
          <p:blipFill rotWithShape="1">
            <a:blip r:embed="rId4"/>
            <a:srcRect l="869" t="1438" r="865" b="979"/>
            <a:stretch/>
          </p:blipFill>
          <p:spPr>
            <a:xfrm>
              <a:off x="8048221" y="1425577"/>
              <a:ext cx="3926292" cy="2732280"/>
            </a:xfrm>
            <a:prstGeom prst="rect">
              <a:avLst/>
            </a:prstGeom>
            <a:solidFill>
              <a:schemeClr val="tx1"/>
            </a:solidFill>
            <a:ln>
              <a:solidFill>
                <a:schemeClr val="bg2"/>
              </a:solidFill>
            </a:ln>
          </p:spPr>
        </p:pic>
        <p:sp>
          <p:nvSpPr>
            <p:cNvPr id="27" name="WP Emphasis 2"/>
            <p:cNvSpPr/>
            <p:nvPr/>
          </p:nvSpPr>
          <p:spPr bwMode="auto">
            <a:xfrm>
              <a:off x="9324056" y="2156218"/>
              <a:ext cx="1347505" cy="1687885"/>
            </a:xfrm>
            <a:prstGeom prst="rect">
              <a:avLst/>
            </a:prstGeom>
            <a:noFill/>
            <a:ln w="28575">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376" tIns="45688" rIns="45688" bIns="91376" numCol="1" spcCol="0" rtlCol="0" fromWordArt="0" anchor="b" anchorCtr="0" forceAA="0" compatLnSpc="1">
              <a:prstTxWarp prst="textNoShape">
                <a:avLst/>
              </a:prstTxWarp>
              <a:noAutofit/>
            </a:bodyPr>
            <a:lstStyle/>
            <a:p>
              <a:pPr marL="0" marR="0" lvl="0" indent="0" algn="ctr" defTabSz="913222" eaLnBrk="1" fontAlgn="base" latinLnBrk="0" hangingPunct="1">
                <a:lnSpc>
                  <a:spcPct val="100000"/>
                </a:lnSpc>
                <a:spcBef>
                  <a:spcPct val="0"/>
                </a:spcBef>
                <a:spcAft>
                  <a:spcPct val="0"/>
                </a:spcAft>
                <a:buClrTx/>
                <a:buSzTx/>
                <a:buFontTx/>
                <a:buNone/>
                <a:tabLst/>
                <a:defRPr/>
              </a:pPr>
              <a:endParaRPr kumimoji="0" lang="en-US" sz="1800" b="0" i="0" u="none" strike="noStrike" kern="0" cap="none" spc="-50" normalizeH="0" baseline="0" noProof="0" dirty="0">
                <a:ln>
                  <a:noFill/>
                </a:ln>
                <a:gradFill>
                  <a:gsLst>
                    <a:gs pos="0">
                      <a:srgbClr val="FFFFFF"/>
                    </a:gs>
                    <a:gs pos="100000">
                      <a:srgbClr val="FFFFFF"/>
                    </a:gs>
                  </a:gsLst>
                  <a:lin ang="5400000" scaled="0"/>
                </a:gradFill>
                <a:effectLst/>
                <a:uLnTx/>
                <a:uFillTx/>
                <a:latin typeface="Segoe UI" pitchFamily="34" charset="0"/>
                <a:ea typeface="Segoe UI" pitchFamily="34" charset="0"/>
                <a:cs typeface="Segoe UI" pitchFamily="34" charset="0"/>
              </a:endParaRPr>
            </a:p>
          </p:txBody>
        </p:sp>
      </p:grpSp>
      <p:grpSp>
        <p:nvGrpSpPr>
          <p:cNvPr id="8" name="Group 7"/>
          <p:cNvGrpSpPr/>
          <p:nvPr/>
        </p:nvGrpSpPr>
        <p:grpSpPr>
          <a:xfrm>
            <a:off x="343886" y="1536545"/>
            <a:ext cx="5482380" cy="3653731"/>
            <a:chOff x="271722" y="2416520"/>
            <a:chExt cx="5376132" cy="3582922"/>
          </a:xfrm>
        </p:grpSpPr>
        <p:sp>
          <p:nvSpPr>
            <p:cNvPr id="10" name="Text Placeholder 1"/>
            <p:cNvSpPr txBox="1">
              <a:spLocks/>
            </p:cNvSpPr>
            <p:nvPr/>
          </p:nvSpPr>
          <p:spPr>
            <a:xfrm>
              <a:off x="271722" y="2416520"/>
              <a:ext cx="5376132" cy="3582922"/>
            </a:xfrm>
            <a:prstGeom prst="rect">
              <a:avLst/>
            </a:prstGeom>
          </p:spPr>
          <p:txBody>
            <a:bodyPr vert="horz" wrap="square" lIns="182776" tIns="93207" rIns="149133" bIns="93207"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Modern client-side development</a:t>
              </a: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endPar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endParaRP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Lightweight web and mobile</a:t>
              </a: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endPar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endParaRP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Powers our own experiences</a:t>
              </a: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endPar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endParaRP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Backward compatible </a:t>
              </a:r>
            </a:p>
            <a:p>
              <a:pPr marL="0" marR="0" lvl="0" indent="0" algn="l" defTabSz="931614" rtl="0" eaLnBrk="1" fontAlgn="auto" latinLnBrk="0" hangingPunct="1">
                <a:lnSpc>
                  <a:spcPct val="90000"/>
                </a:lnSpc>
                <a:spcBef>
                  <a:spcPts val="0"/>
                </a:spcBef>
                <a:spcAft>
                  <a:spcPts val="0"/>
                </a:spcAft>
                <a:buClrTx/>
                <a:buSzPct val="90000"/>
                <a:buFont typeface="Arial" pitchFamily="34" charset="0"/>
                <a:buNone/>
                <a:tabLst/>
                <a:defRPr/>
              </a:pPr>
              <a:endPar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endParaRPr>
            </a:p>
            <a:p>
              <a:pPr marL="0" marR="0" lvl="0" indent="0" algn="l" defTabSz="931614" rtl="0" eaLnBrk="1" fontAlgn="auto" latinLnBrk="0" hangingPunct="1">
                <a:lnSpc>
                  <a:spcPct val="100000"/>
                </a:lnSpc>
                <a:spcBef>
                  <a:spcPts val="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Supports open-source tools </a:t>
              </a:r>
              <a:b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br>
              <a:r>
                <a:rPr kumimoji="0" lang="en-US" sz="2400" b="0" i="0" u="none" strike="noStrike" kern="1200" cap="none" spc="0" normalizeH="0" baseline="0" noProof="0" dirty="0">
                  <a:ln>
                    <a:noFill/>
                  </a:ln>
                  <a:gradFill>
                    <a:gsLst>
                      <a:gs pos="9623">
                        <a:schemeClr val="tx1"/>
                      </a:gs>
                      <a:gs pos="29000">
                        <a:schemeClr val="tx1"/>
                      </a:gs>
                    </a:gsLst>
                    <a:lin ang="5400000" scaled="1"/>
                  </a:gradFill>
                  <a:effectLst/>
                  <a:uLnTx/>
                  <a:uFillTx/>
                  <a:latin typeface="Segoe UI Semilight" panose="020B0402040204020203" pitchFamily="34" charset="0"/>
                  <a:ea typeface="+mn-ea"/>
                  <a:cs typeface="Segoe UI Semilight" panose="020B0402040204020203" pitchFamily="34" charset="0"/>
                </a:rPr>
                <a:t>&amp; JavaScript web frameworks</a:t>
              </a:r>
            </a:p>
          </p:txBody>
        </p:sp>
        <p:grpSp>
          <p:nvGrpSpPr>
            <p:cNvPr id="4" name="Group 3"/>
            <p:cNvGrpSpPr/>
            <p:nvPr/>
          </p:nvGrpSpPr>
          <p:grpSpPr>
            <a:xfrm>
              <a:off x="437924" y="3021931"/>
              <a:ext cx="5209930" cy="1909214"/>
              <a:chOff x="437924" y="3021931"/>
              <a:chExt cx="5209930" cy="1909214"/>
            </a:xfrm>
          </p:grpSpPr>
          <p:cxnSp>
            <p:nvCxnSpPr>
              <p:cNvPr id="11" name="Straight Connector 10"/>
              <p:cNvCxnSpPr/>
              <p:nvPr/>
            </p:nvCxnSpPr>
            <p:spPr>
              <a:xfrm>
                <a:off x="437924" y="3021931"/>
                <a:ext cx="520993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37924" y="4296607"/>
                <a:ext cx="520993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37924" y="3659269"/>
                <a:ext cx="520993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37924" y="4931145"/>
                <a:ext cx="520993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18156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6.38244E-7 -0.07784 L -6.38244E-7 4.70268E-6 " pathEditMode="relative" rAng="0" ptsTypes="AA">
                                      <p:cBhvr>
                                        <p:cTn id="9" dur="500" fill="hold"/>
                                        <p:tgtEl>
                                          <p:spTgt spid="2"/>
                                        </p:tgtEl>
                                        <p:attrNameLst>
                                          <p:attrName>ppt_x</p:attrName>
                                          <p:attrName>ppt_y</p:attrName>
                                        </p:attrNameLst>
                                      </p:cBhvr>
                                      <p:rCtr x="0" y="3813"/>
                                    </p:animMotion>
                                  </p:childTnLst>
                                </p:cTn>
                              </p:par>
                              <p:par>
                                <p:cTn id="10" presetID="2" presetClass="entr" presetSubtype="2" decel="10000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1000" fill="hold"/>
                                        <p:tgtEl>
                                          <p:spTgt spid="6"/>
                                        </p:tgtEl>
                                        <p:attrNameLst>
                                          <p:attrName>ppt_x</p:attrName>
                                        </p:attrNameLst>
                                      </p:cBhvr>
                                      <p:tavLst>
                                        <p:tav tm="0">
                                          <p:val>
                                            <p:strVal val="1+#ppt_w/2"/>
                                          </p:val>
                                        </p:tav>
                                        <p:tav tm="100000">
                                          <p:val>
                                            <p:strVal val="#ppt_x"/>
                                          </p:val>
                                        </p:tav>
                                      </p:tavLst>
                                    </p:anim>
                                    <p:anim calcmode="lin" valueType="num">
                                      <p:cBhvr additive="base">
                                        <p:cTn id="13" dur="1000" fill="hold"/>
                                        <p:tgtEl>
                                          <p:spTgt spid="6"/>
                                        </p:tgtEl>
                                        <p:attrNameLst>
                                          <p:attrName>ppt_y</p:attrName>
                                        </p:attrNameLst>
                                      </p:cBhvr>
                                      <p:tavLst>
                                        <p:tav tm="0">
                                          <p:val>
                                            <p:strVal val="#ppt_y"/>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What’s a modern</a:t>
            </a:r>
            <a:r>
              <a:rPr lang="en-US" dirty="0"/>
              <a:t> </a:t>
            </a:r>
            <a:r>
              <a:rPr lang="en-US"/>
              <a:t>page?</a:t>
            </a:r>
            <a:endParaRPr lang="en-US" dirty="0"/>
          </a:p>
        </p:txBody>
      </p:sp>
      <p:pic>
        <p:nvPicPr>
          <p:cNvPr id="8" name="Picture Placeholder 7" descr="A person standing in front of a mirror posing for the camera&#10;&#10;Description automatically generated">
            <a:extLst>
              <a:ext uri="{FF2B5EF4-FFF2-40B4-BE49-F238E27FC236}">
                <a16:creationId xmlns:a16="http://schemas.microsoft.com/office/drawing/2014/main" id="{ACD89AD0-BB7E-4055-AD80-B159747E1585}"/>
              </a:ext>
            </a:extLst>
          </p:cNvPr>
          <p:cNvPicPr>
            <a:picLocks noGrp="1" noChangeAspect="1"/>
          </p:cNvPicPr>
          <p:nvPr>
            <p:ph type="pic" sz="quarter" idx="10"/>
          </p:nvPr>
        </p:nvPicPr>
        <p:blipFill>
          <a:blip r:embed="rId3"/>
          <a:srcRect l="20367" r="20367"/>
          <a:stretch>
            <a:fillRect/>
          </a:stretch>
        </p:blipFill>
        <p:spPr/>
      </p:pic>
      <p:sp>
        <p:nvSpPr>
          <p:cNvPr id="4" name="TextBox 3"/>
          <p:cNvSpPr txBox="1"/>
          <p:nvPr/>
        </p:nvSpPr>
        <p:spPr>
          <a:xfrm>
            <a:off x="274639" y="2963862"/>
            <a:ext cx="5714998" cy="2674578"/>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Client-side rendered</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Natively responsive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Client-side web parts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Client-side and persisted caches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Mobile optimized</a:t>
            </a:r>
          </a:p>
          <a:p>
            <a:pPr>
              <a:lnSpc>
                <a:spcPct val="90000"/>
              </a:lnSpc>
              <a:spcAft>
                <a:spcPts val="600"/>
              </a:spcAft>
            </a:pP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4608708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en-US" dirty="0"/>
              <a:t>Easily create powerful, beautiful looking pages</a:t>
            </a:r>
          </a:p>
          <a:p>
            <a:pPr lvl="1"/>
            <a:r>
              <a:rPr lang="en-US" dirty="0"/>
              <a:t>Communicate ideas and information using our new authoring canvas and gallery of web parts.</a:t>
            </a:r>
          </a:p>
          <a:p>
            <a:endParaRPr lang="en-US" dirty="0"/>
          </a:p>
          <a:p>
            <a:r>
              <a:rPr lang="en-US" dirty="0"/>
              <a:t>Modern building blocks</a:t>
            </a:r>
          </a:p>
          <a:p>
            <a:pPr lvl="1"/>
            <a:r>
              <a:rPr lang="en-US" dirty="0"/>
              <a:t>Authoring canvas and web parts are built using client-side HTML and JavaScript. Pages are reusable in custom applications</a:t>
            </a:r>
          </a:p>
          <a:p>
            <a:endParaRPr lang="en-US" dirty="0"/>
          </a:p>
          <a:p>
            <a:r>
              <a:rPr lang="en-US" dirty="0"/>
              <a:t>Mobile support is built in from the start</a:t>
            </a:r>
          </a:p>
          <a:p>
            <a:pPr lvl="1"/>
            <a:r>
              <a:rPr lang="en-US" dirty="0"/>
              <a:t>Content reflows across device sizes and pages are fast and fluid.</a:t>
            </a:r>
          </a:p>
          <a:p>
            <a:endParaRPr lang="en-US" dirty="0"/>
          </a:p>
          <a:p>
            <a:r>
              <a:rPr lang="en-US" dirty="0"/>
              <a:t>Pages get better with the Microsoft Graph</a:t>
            </a:r>
          </a:p>
          <a:p>
            <a:pPr lvl="1"/>
            <a:r>
              <a:rPr lang="en-US" dirty="0"/>
              <a:t>Authors can leverage Microsoft Graph to surface relevant pages to the people that need to read them. </a:t>
            </a:r>
          </a:p>
        </p:txBody>
      </p:sp>
      <p:sp>
        <p:nvSpPr>
          <p:cNvPr id="17" name="Title 16"/>
          <p:cNvSpPr>
            <a:spLocks noGrp="1"/>
          </p:cNvSpPr>
          <p:nvPr>
            <p:ph type="title"/>
          </p:nvPr>
        </p:nvSpPr>
        <p:spPr/>
        <p:txBody>
          <a:bodyPr/>
          <a:lstStyle/>
          <a:p>
            <a:r>
              <a:rPr lang="en-US" dirty="0"/>
              <a:t>Modern Site Pages</a:t>
            </a:r>
          </a:p>
        </p:txBody>
      </p:sp>
    </p:spTree>
    <p:extLst>
      <p:ext uri="{BB962C8B-B14F-4D97-AF65-F5344CB8AC3E}">
        <p14:creationId xmlns:p14="http://schemas.microsoft.com/office/powerpoint/2010/main" val="2344081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1000"/>
                                        <p:tgtEl>
                                          <p:spTgt spid="6">
                                            <p:txEl>
                                              <p:pRg st="3" end="3"/>
                                            </p:txEl>
                                          </p:spTgt>
                                        </p:tgtEl>
                                      </p:cBhvr>
                                    </p:animEffect>
                                    <p:anim calcmode="lin" valueType="num">
                                      <p:cBhvr>
                                        <p:cTn id="20"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1000"/>
                                        <p:tgtEl>
                                          <p:spTgt spid="6">
                                            <p:txEl>
                                              <p:pRg st="4" end="4"/>
                                            </p:txEl>
                                          </p:spTgt>
                                        </p:tgtEl>
                                      </p:cBhvr>
                                    </p:animEffect>
                                    <p:anim calcmode="lin" valueType="num">
                                      <p:cBhvr>
                                        <p:cTn id="2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fade">
                                      <p:cBhvr>
                                        <p:cTn id="31" dur="1000"/>
                                        <p:tgtEl>
                                          <p:spTgt spid="6">
                                            <p:txEl>
                                              <p:pRg st="6" end="6"/>
                                            </p:txEl>
                                          </p:spTgt>
                                        </p:tgtEl>
                                      </p:cBhvr>
                                    </p:animEffect>
                                    <p:anim calcmode="lin" valueType="num">
                                      <p:cBhvr>
                                        <p:cTn id="3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1000"/>
                                        <p:tgtEl>
                                          <p:spTgt spid="6">
                                            <p:txEl>
                                              <p:pRg st="7" end="7"/>
                                            </p:txEl>
                                          </p:spTgt>
                                        </p:tgtEl>
                                      </p:cBhvr>
                                    </p:animEffect>
                                    <p:anim calcmode="lin" valueType="num">
                                      <p:cBhvr>
                                        <p:cTn id="3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animEffect transition="in" filter="fade">
                                      <p:cBhvr>
                                        <p:cTn id="43" dur="1000"/>
                                        <p:tgtEl>
                                          <p:spTgt spid="6">
                                            <p:txEl>
                                              <p:pRg st="9" end="9"/>
                                            </p:txEl>
                                          </p:spTgt>
                                        </p:tgtEl>
                                      </p:cBhvr>
                                    </p:animEffect>
                                    <p:anim calcmode="lin" valueType="num">
                                      <p:cBhvr>
                                        <p:cTn id="44"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9" end="9"/>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6">
                                            <p:txEl>
                                              <p:pRg st="10" end="10"/>
                                            </p:txEl>
                                          </p:spTgt>
                                        </p:tgtEl>
                                        <p:attrNameLst>
                                          <p:attrName>style.visibility</p:attrName>
                                        </p:attrNameLst>
                                      </p:cBhvr>
                                      <p:to>
                                        <p:strVal val="visible"/>
                                      </p:to>
                                    </p:set>
                                    <p:animEffect transition="in" filter="fade">
                                      <p:cBhvr>
                                        <p:cTn id="48" dur="1000"/>
                                        <p:tgtEl>
                                          <p:spTgt spid="6">
                                            <p:txEl>
                                              <p:pRg st="10" end="10"/>
                                            </p:txEl>
                                          </p:spTgt>
                                        </p:tgtEl>
                                      </p:cBhvr>
                                    </p:animEffect>
                                    <p:anim calcmode="lin" valueType="num">
                                      <p:cBhvr>
                                        <p:cTn id="49"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4400" y="633600"/>
            <a:ext cx="11574000" cy="387798"/>
          </a:xfrm>
        </p:spPr>
        <p:txBody>
          <a:bodyPr/>
          <a:lstStyle/>
          <a:p>
            <a:r>
              <a:rPr lang="en-US" dirty="0"/>
              <a:t>Is all SharePoint Online development in JavaScript? </a:t>
            </a:r>
            <a:endParaRPr lang="fi-FI" dirty="0"/>
          </a:p>
        </p:txBody>
      </p:sp>
      <p:sp>
        <p:nvSpPr>
          <p:cNvPr id="4" name="Rectangle 3">
            <a:extLst>
              <a:ext uri="{FF2B5EF4-FFF2-40B4-BE49-F238E27FC236}">
                <a16:creationId xmlns:a16="http://schemas.microsoft.com/office/drawing/2014/main" id="{32AC4456-3070-4EA1-8801-B6250D17D15D}"/>
              </a:ext>
            </a:extLst>
          </p:cNvPr>
          <p:cNvSpPr/>
          <p:nvPr/>
        </p:nvSpPr>
        <p:spPr>
          <a:xfrm>
            <a:off x="464400" y="2389723"/>
            <a:ext cx="2888932" cy="2646878"/>
          </a:xfrm>
          <a:prstGeom prst="rect">
            <a:avLst/>
          </a:prstGeom>
        </p:spPr>
        <p:txBody>
          <a:bodyPr wrap="none">
            <a:spAutoFit/>
          </a:bodyPr>
          <a:lstStyle/>
          <a:p>
            <a:r>
              <a:rPr lang="en-US" sz="16600" dirty="0">
                <a:solidFill>
                  <a:schemeClr val="tx2"/>
                </a:solidFill>
                <a:latin typeface="+mj-lt"/>
              </a:rPr>
              <a:t>No</a:t>
            </a:r>
          </a:p>
        </p:txBody>
      </p:sp>
      <p:grpSp>
        <p:nvGrpSpPr>
          <p:cNvPr id="5" name="Group 4">
            <a:extLst>
              <a:ext uri="{FF2B5EF4-FFF2-40B4-BE49-F238E27FC236}">
                <a16:creationId xmlns:a16="http://schemas.microsoft.com/office/drawing/2014/main" id="{5AB9F5DE-BCD7-4B56-9BF8-F58502CC17B7}"/>
              </a:ext>
            </a:extLst>
          </p:cNvPr>
          <p:cNvGrpSpPr/>
          <p:nvPr/>
        </p:nvGrpSpPr>
        <p:grpSpPr>
          <a:xfrm>
            <a:off x="3905473" y="1597138"/>
            <a:ext cx="7325428" cy="1387362"/>
            <a:chOff x="822700" y="1409030"/>
            <a:chExt cx="2998699" cy="648072"/>
          </a:xfrm>
        </p:grpSpPr>
        <p:sp>
          <p:nvSpPr>
            <p:cNvPr id="6" name="Rectangle 5">
              <a:extLst>
                <a:ext uri="{FF2B5EF4-FFF2-40B4-BE49-F238E27FC236}">
                  <a16:creationId xmlns:a16="http://schemas.microsoft.com/office/drawing/2014/main" id="{CDA7CAC5-FB4D-46EA-B0B8-B577614BFD8E}"/>
                </a:ext>
              </a:extLst>
            </p:cNvPr>
            <p:cNvSpPr/>
            <p:nvPr/>
          </p:nvSpPr>
          <p:spPr bwMode="auto">
            <a:xfrm>
              <a:off x="822700" y="1409030"/>
              <a:ext cx="45719" cy="648072"/>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 name="Rectangle 6">
              <a:extLst>
                <a:ext uri="{FF2B5EF4-FFF2-40B4-BE49-F238E27FC236}">
                  <a16:creationId xmlns:a16="http://schemas.microsoft.com/office/drawing/2014/main" id="{E8BB6357-ADD8-4AC2-AF6F-B7BADD528DDE}"/>
                </a:ext>
              </a:extLst>
            </p:cNvPr>
            <p:cNvSpPr/>
            <p:nvPr/>
          </p:nvSpPr>
          <p:spPr bwMode="auto">
            <a:xfrm>
              <a:off x="872875" y="1409030"/>
              <a:ext cx="2948524" cy="648072"/>
            </a:xfrm>
            <a:prstGeom prst="rect">
              <a:avLst/>
            </a:prstGeom>
            <a:solidFill>
              <a:schemeClr val="bg1">
                <a:lumMod val="95000"/>
              </a:schemeClr>
            </a:solidFill>
            <a:ln>
              <a:solidFill>
                <a:schemeClr val="bg1">
                  <a:lumMod val="8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08000" tIns="46637" rIns="0" bIns="46637" numCol="1" rtlCol="0" anchor="ctr" anchorCtr="0" compatLnSpc="1">
              <a:prstTxWarp prst="textNoShape">
                <a:avLst/>
              </a:prstTxWarp>
            </a:bodyPr>
            <a:lstStyle/>
            <a:p>
              <a:pPr defTabSz="932472" fontAlgn="base">
                <a:spcBef>
                  <a:spcPct val="0"/>
                </a:spcBef>
                <a:spcAft>
                  <a:spcPct val="0"/>
                </a:spcAft>
              </a:pPr>
              <a:r>
                <a:rPr lang="en-US" sz="2400" dirty="0">
                  <a:solidFill>
                    <a:schemeClr val="tx1"/>
                  </a:solidFill>
                  <a:latin typeface="+mj-lt"/>
                </a:rPr>
                <a:t>In similar ways as with SharePoint Add-in model, server-side development is needed for back-end services</a:t>
              </a:r>
            </a:p>
          </p:txBody>
        </p:sp>
      </p:grpSp>
      <p:grpSp>
        <p:nvGrpSpPr>
          <p:cNvPr id="8" name="Group 7">
            <a:extLst>
              <a:ext uri="{FF2B5EF4-FFF2-40B4-BE49-F238E27FC236}">
                <a16:creationId xmlns:a16="http://schemas.microsoft.com/office/drawing/2014/main" id="{AD74524B-4973-4DB2-B83C-B24534141449}"/>
              </a:ext>
            </a:extLst>
          </p:cNvPr>
          <p:cNvGrpSpPr/>
          <p:nvPr/>
        </p:nvGrpSpPr>
        <p:grpSpPr>
          <a:xfrm>
            <a:off x="3905473" y="3097988"/>
            <a:ext cx="7325428" cy="1387362"/>
            <a:chOff x="822700" y="1409030"/>
            <a:chExt cx="2998699" cy="648072"/>
          </a:xfrm>
        </p:grpSpPr>
        <p:sp>
          <p:nvSpPr>
            <p:cNvPr id="9" name="Rectangle 8">
              <a:extLst>
                <a:ext uri="{FF2B5EF4-FFF2-40B4-BE49-F238E27FC236}">
                  <a16:creationId xmlns:a16="http://schemas.microsoft.com/office/drawing/2014/main" id="{6FA6742E-A5D0-4D28-8F5B-692092654B70}"/>
                </a:ext>
              </a:extLst>
            </p:cNvPr>
            <p:cNvSpPr/>
            <p:nvPr/>
          </p:nvSpPr>
          <p:spPr bwMode="auto">
            <a:xfrm>
              <a:off x="822700" y="1409030"/>
              <a:ext cx="45719" cy="648072"/>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0" name="Rectangle 9">
              <a:extLst>
                <a:ext uri="{FF2B5EF4-FFF2-40B4-BE49-F238E27FC236}">
                  <a16:creationId xmlns:a16="http://schemas.microsoft.com/office/drawing/2014/main" id="{7045B3B9-ED8B-4B9A-9CA4-C66AC4BA627D}"/>
                </a:ext>
              </a:extLst>
            </p:cNvPr>
            <p:cNvSpPr/>
            <p:nvPr/>
          </p:nvSpPr>
          <p:spPr bwMode="auto">
            <a:xfrm>
              <a:off x="872875" y="1409030"/>
              <a:ext cx="2948524" cy="648072"/>
            </a:xfrm>
            <a:prstGeom prst="rect">
              <a:avLst/>
            </a:prstGeom>
            <a:solidFill>
              <a:schemeClr val="bg1">
                <a:lumMod val="95000"/>
              </a:schemeClr>
            </a:solidFill>
            <a:ln>
              <a:solidFill>
                <a:schemeClr val="bg1">
                  <a:lumMod val="8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08000" tIns="46637" rIns="0" bIns="46637" numCol="1" rtlCol="0" anchor="ctr" anchorCtr="0" compatLnSpc="1">
              <a:prstTxWarp prst="textNoShape">
                <a:avLst/>
              </a:prstTxWarp>
            </a:bodyPr>
            <a:lstStyle/>
            <a:p>
              <a:pPr defTabSz="932472" fontAlgn="base">
                <a:spcBef>
                  <a:spcPct val="0"/>
                </a:spcBef>
                <a:spcAft>
                  <a:spcPct val="0"/>
                </a:spcAft>
              </a:pPr>
              <a:r>
                <a:rPr lang="en-US" sz="2400" dirty="0">
                  <a:solidFill>
                    <a:schemeClr val="tx1"/>
                  </a:solidFill>
                  <a:latin typeface="+mj-lt"/>
                </a:rPr>
                <a:t>SharePoint Framework concentrates on user interface, not on fundamentals around the API usage</a:t>
              </a:r>
            </a:p>
          </p:txBody>
        </p:sp>
      </p:grpSp>
      <p:grpSp>
        <p:nvGrpSpPr>
          <p:cNvPr id="11" name="Group 10">
            <a:extLst>
              <a:ext uri="{FF2B5EF4-FFF2-40B4-BE49-F238E27FC236}">
                <a16:creationId xmlns:a16="http://schemas.microsoft.com/office/drawing/2014/main" id="{EAEF269E-4014-4D4E-81F3-6C8A80887669}"/>
              </a:ext>
            </a:extLst>
          </p:cNvPr>
          <p:cNvGrpSpPr/>
          <p:nvPr/>
        </p:nvGrpSpPr>
        <p:grpSpPr>
          <a:xfrm>
            <a:off x="3905473" y="4598838"/>
            <a:ext cx="7325428" cy="1387362"/>
            <a:chOff x="822700" y="1409030"/>
            <a:chExt cx="2998699" cy="648072"/>
          </a:xfrm>
        </p:grpSpPr>
        <p:sp>
          <p:nvSpPr>
            <p:cNvPr id="12" name="Rectangle 11">
              <a:extLst>
                <a:ext uri="{FF2B5EF4-FFF2-40B4-BE49-F238E27FC236}">
                  <a16:creationId xmlns:a16="http://schemas.microsoft.com/office/drawing/2014/main" id="{E88411FA-35F9-42A9-A4FE-1CA072657ECD}"/>
                </a:ext>
              </a:extLst>
            </p:cNvPr>
            <p:cNvSpPr/>
            <p:nvPr/>
          </p:nvSpPr>
          <p:spPr bwMode="auto">
            <a:xfrm>
              <a:off x="822700" y="1409030"/>
              <a:ext cx="45719" cy="648072"/>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Rectangle 12">
              <a:extLst>
                <a:ext uri="{FF2B5EF4-FFF2-40B4-BE49-F238E27FC236}">
                  <a16:creationId xmlns:a16="http://schemas.microsoft.com/office/drawing/2014/main" id="{B0A0A717-D663-4911-87A6-A010E7BECFD7}"/>
                </a:ext>
              </a:extLst>
            </p:cNvPr>
            <p:cNvSpPr/>
            <p:nvPr/>
          </p:nvSpPr>
          <p:spPr bwMode="auto">
            <a:xfrm>
              <a:off x="872875" y="1409030"/>
              <a:ext cx="2948524" cy="648072"/>
            </a:xfrm>
            <a:prstGeom prst="rect">
              <a:avLst/>
            </a:prstGeom>
            <a:solidFill>
              <a:schemeClr val="bg1">
                <a:lumMod val="95000"/>
              </a:schemeClr>
            </a:solidFill>
            <a:ln>
              <a:solidFill>
                <a:schemeClr val="bg1">
                  <a:lumMod val="85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08000" tIns="46637" rIns="0" bIns="46637" numCol="1" rtlCol="0" anchor="ctr" anchorCtr="0" compatLnSpc="1">
              <a:prstTxWarp prst="textNoShape">
                <a:avLst/>
              </a:prstTxWarp>
            </a:bodyPr>
            <a:lstStyle/>
            <a:p>
              <a:pPr defTabSz="932472" fontAlgn="base">
                <a:spcBef>
                  <a:spcPct val="0"/>
                </a:spcBef>
                <a:spcAft>
                  <a:spcPct val="0"/>
                </a:spcAft>
              </a:pPr>
              <a:r>
                <a:rPr lang="en-US" sz="2400" dirty="0">
                  <a:solidFill>
                    <a:schemeClr val="tx1"/>
                  </a:solidFill>
                  <a:latin typeface="+mj-lt"/>
                </a:rPr>
                <a:t>You should be considering hosting your business logic and long running tasks in Azure, for example using Azure Functions or custom web APIs</a:t>
              </a:r>
            </a:p>
          </p:txBody>
        </p:sp>
      </p:grpSp>
    </p:spTree>
    <p:extLst>
      <p:ext uri="{BB962C8B-B14F-4D97-AF65-F5344CB8AC3E}">
        <p14:creationId xmlns:p14="http://schemas.microsoft.com/office/powerpoint/2010/main" val="3567163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10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5BC334-E983-C34C-841A-F33A28B1440F}"/>
              </a:ext>
            </a:extLst>
          </p:cNvPr>
          <p:cNvSpPr>
            <a:spLocks noGrp="1"/>
          </p:cNvSpPr>
          <p:nvPr>
            <p:ph type="body" sz="quarter" idx="10"/>
          </p:nvPr>
        </p:nvSpPr>
        <p:spPr>
          <a:xfrm>
            <a:off x="464400" y="1212850"/>
            <a:ext cx="11574000" cy="1735860"/>
          </a:xfrm>
        </p:spPr>
        <p:txBody>
          <a:bodyPr/>
          <a:lstStyle/>
          <a:p>
            <a:r>
              <a:rPr lang="en-US" dirty="0"/>
              <a:t>Sign up for a Microsoft 365 Developer Tenant</a:t>
            </a:r>
          </a:p>
          <a:p>
            <a:r>
              <a:rPr lang="en-US" dirty="0"/>
              <a:t>Create app catalog site</a:t>
            </a:r>
          </a:p>
          <a:p>
            <a:r>
              <a:rPr lang="en-US" dirty="0"/>
              <a:t>Create a new site collection for testing or development</a:t>
            </a:r>
          </a:p>
          <a:p>
            <a:r>
              <a:rPr lang="en-US" dirty="0"/>
              <a:t>Use online workbench to test your code</a:t>
            </a:r>
          </a:p>
        </p:txBody>
      </p:sp>
      <p:sp>
        <p:nvSpPr>
          <p:cNvPr id="3" name="Title 2"/>
          <p:cNvSpPr>
            <a:spLocks noGrp="1"/>
          </p:cNvSpPr>
          <p:nvPr>
            <p:ph type="title"/>
          </p:nvPr>
        </p:nvSpPr>
        <p:spPr>
          <a:xfrm>
            <a:off x="464400" y="633600"/>
            <a:ext cx="11574000" cy="387798"/>
          </a:xfrm>
        </p:spPr>
        <p:txBody>
          <a:bodyPr/>
          <a:lstStyle/>
          <a:p>
            <a:r>
              <a:rPr lang="en-US" dirty="0"/>
              <a:t>Microsoft 365 Developer Tenant Setup Steps</a:t>
            </a:r>
          </a:p>
        </p:txBody>
      </p:sp>
      <p:sp>
        <p:nvSpPr>
          <p:cNvPr id="6" name="Rectangle 5">
            <a:extLst>
              <a:ext uri="{FF2B5EF4-FFF2-40B4-BE49-F238E27FC236}">
                <a16:creationId xmlns:a16="http://schemas.microsoft.com/office/drawing/2014/main" id="{6CBE7B71-BCB9-4CB1-AAEB-2C1A801999EC}"/>
              </a:ext>
            </a:extLst>
          </p:cNvPr>
          <p:cNvSpPr/>
          <p:nvPr/>
        </p:nvSpPr>
        <p:spPr>
          <a:xfrm rot="155487">
            <a:off x="6893184" y="3959884"/>
            <a:ext cx="5330305" cy="2646878"/>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txBody>
          <a:bodyPr wrap="none" lIns="91440" tIns="45720" rIns="91440" bIns="45720">
            <a:spAutoFit/>
          </a:bodyPr>
          <a:lstStyle/>
          <a:p>
            <a:pPr algn="ctr"/>
            <a:r>
              <a:rPr lang="en-US" sz="16600" dirty="0">
                <a:ln w="0"/>
                <a:solidFill>
                  <a:schemeClr val="accent1"/>
                </a:solidFill>
                <a:effectLst>
                  <a:outerShdw blurRad="38100" dist="25400" dir="5400000" algn="ctr" rotWithShape="0">
                    <a:srgbClr val="6E747A">
                      <a:alpha val="43000"/>
                    </a:srgbClr>
                  </a:outerShdw>
                </a:effectLst>
              </a:rPr>
              <a:t>1-2-3</a:t>
            </a:r>
          </a:p>
        </p:txBody>
      </p:sp>
    </p:spTree>
    <p:extLst>
      <p:ext uri="{BB962C8B-B14F-4D97-AF65-F5344CB8AC3E}">
        <p14:creationId xmlns:p14="http://schemas.microsoft.com/office/powerpoint/2010/main" val="100958372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249D62-1C6B-A48E-5D9A-ABDA5C03EB85}"/>
              </a:ext>
            </a:extLst>
          </p:cNvPr>
          <p:cNvPicPr>
            <a:picLocks noChangeAspect="1"/>
          </p:cNvPicPr>
          <p:nvPr/>
        </p:nvPicPr>
        <p:blipFill>
          <a:blip r:embed="rId3"/>
          <a:stretch>
            <a:fillRect/>
          </a:stretch>
        </p:blipFill>
        <p:spPr>
          <a:xfrm>
            <a:off x="1894509" y="2327632"/>
            <a:ext cx="8647456" cy="4266926"/>
          </a:xfrm>
          <a:prstGeom prst="rect">
            <a:avLst/>
          </a:prstGeom>
        </p:spPr>
      </p:pic>
      <p:sp>
        <p:nvSpPr>
          <p:cNvPr id="4" name="Text Placeholder 3">
            <a:extLst>
              <a:ext uri="{FF2B5EF4-FFF2-40B4-BE49-F238E27FC236}">
                <a16:creationId xmlns:a16="http://schemas.microsoft.com/office/drawing/2014/main" id="{0A4C166F-D888-944E-92F3-7DC0E729F088}"/>
              </a:ext>
            </a:extLst>
          </p:cNvPr>
          <p:cNvSpPr>
            <a:spLocks noGrp="1"/>
          </p:cNvSpPr>
          <p:nvPr>
            <p:ph type="body" sz="quarter" idx="10"/>
          </p:nvPr>
        </p:nvSpPr>
        <p:spPr>
          <a:xfrm>
            <a:off x="464400" y="1212850"/>
            <a:ext cx="11574000" cy="923330"/>
          </a:xfrm>
        </p:spPr>
        <p:txBody>
          <a:bodyPr/>
          <a:lstStyle/>
          <a:p>
            <a:r>
              <a:rPr lang="en-US" dirty="0"/>
              <a:t>Sign up for the Microsoft Developer Program</a:t>
            </a:r>
            <a:r>
              <a:rPr lang="en-US" dirty="0">
                <a:cs typeface="Segoe UI" panose="020B0502040204020203" pitchFamily="34" charset="0"/>
              </a:rPr>
              <a:t> - </a:t>
            </a:r>
            <a:r>
              <a:rPr lang="en-US" u="sng" dirty="0">
                <a:hlinkClick r:id="rId4"/>
              </a:rPr>
              <a:t>https://aka.ms/offdp</a:t>
            </a:r>
            <a:endParaRPr lang="en-US" dirty="0"/>
          </a:p>
          <a:p>
            <a:r>
              <a:rPr lang="en-US" dirty="0"/>
              <a:t>You will receive welcome mail with link to sign up for Microsoft 365 tenant</a:t>
            </a:r>
          </a:p>
        </p:txBody>
      </p:sp>
      <p:sp>
        <p:nvSpPr>
          <p:cNvPr id="3" name="Title 2"/>
          <p:cNvSpPr>
            <a:spLocks noGrp="1"/>
          </p:cNvSpPr>
          <p:nvPr>
            <p:ph type="title"/>
          </p:nvPr>
        </p:nvSpPr>
        <p:spPr>
          <a:xfrm>
            <a:off x="464400" y="633600"/>
            <a:ext cx="11574000" cy="387798"/>
          </a:xfrm>
        </p:spPr>
        <p:txBody>
          <a:bodyPr/>
          <a:lstStyle/>
          <a:p>
            <a:r>
              <a:rPr lang="en-US" dirty="0"/>
              <a:t>Sign up for a Microsoft 365 Developer Tenant</a:t>
            </a:r>
          </a:p>
        </p:txBody>
      </p:sp>
    </p:spTree>
    <p:extLst>
      <p:ext uri="{BB962C8B-B14F-4D97-AF65-F5344CB8AC3E}">
        <p14:creationId xmlns:p14="http://schemas.microsoft.com/office/powerpoint/2010/main" val="454690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64400" y="1212850"/>
            <a:ext cx="11574000" cy="1661993"/>
          </a:xfrm>
        </p:spPr>
        <p:txBody>
          <a:bodyPr/>
          <a:lstStyle/>
          <a:p>
            <a:r>
              <a:rPr lang="en-US" dirty="0">
                <a:hlinkClick r:id="rId3"/>
              </a:rPr>
              <a:t>https://[tenant]-admin.sharepoint.com</a:t>
            </a:r>
            <a:endParaRPr lang="en-US" dirty="0"/>
          </a:p>
          <a:p>
            <a:endParaRPr lang="en-US" dirty="0"/>
          </a:p>
          <a:p>
            <a:r>
              <a:rPr lang="en-US" dirty="0"/>
              <a:t>SharePoint Framework solutions are deployed to an app catalog when they are ready for distribution </a:t>
            </a:r>
          </a:p>
        </p:txBody>
      </p:sp>
      <p:sp>
        <p:nvSpPr>
          <p:cNvPr id="3" name="Title 2"/>
          <p:cNvSpPr>
            <a:spLocks noGrp="1"/>
          </p:cNvSpPr>
          <p:nvPr>
            <p:ph type="title"/>
          </p:nvPr>
        </p:nvSpPr>
        <p:spPr/>
        <p:txBody>
          <a:bodyPr/>
          <a:lstStyle/>
          <a:p>
            <a:r>
              <a:rPr lang="en-US" dirty="0"/>
              <a:t>Create App Catalog Site</a:t>
            </a:r>
          </a:p>
        </p:txBody>
      </p:sp>
      <p:pic>
        <p:nvPicPr>
          <p:cNvPr id="4" name="Picture 3">
            <a:extLst>
              <a:ext uri="{FF2B5EF4-FFF2-40B4-BE49-F238E27FC236}">
                <a16:creationId xmlns:a16="http://schemas.microsoft.com/office/drawing/2014/main" id="{A01AFFE5-1980-FB75-4676-CC6443EE3C43}"/>
              </a:ext>
            </a:extLst>
          </p:cNvPr>
          <p:cNvPicPr>
            <a:picLocks noChangeAspect="1"/>
          </p:cNvPicPr>
          <p:nvPr/>
        </p:nvPicPr>
        <p:blipFill>
          <a:blip r:embed="rId4"/>
          <a:stretch>
            <a:fillRect/>
          </a:stretch>
        </p:blipFill>
        <p:spPr>
          <a:xfrm>
            <a:off x="2662237" y="2874843"/>
            <a:ext cx="7112000" cy="3770395"/>
          </a:xfrm>
          <a:prstGeom prst="rect">
            <a:avLst/>
          </a:prstGeom>
        </p:spPr>
      </p:pic>
    </p:spTree>
    <p:extLst>
      <p:ext uri="{BB962C8B-B14F-4D97-AF65-F5344CB8AC3E}">
        <p14:creationId xmlns:p14="http://schemas.microsoft.com/office/powerpoint/2010/main" val="50611401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application, website&#10;&#10;Description automatically generated">
            <a:extLst>
              <a:ext uri="{FF2B5EF4-FFF2-40B4-BE49-F238E27FC236}">
                <a16:creationId xmlns:a16="http://schemas.microsoft.com/office/drawing/2014/main" id="{3262D0DA-4914-4265-87DC-6EFA764538AE}"/>
              </a:ext>
            </a:extLst>
          </p:cNvPr>
          <p:cNvPicPr>
            <a:picLocks noChangeAspect="1"/>
          </p:cNvPicPr>
          <p:nvPr/>
        </p:nvPicPr>
        <p:blipFill>
          <a:blip r:embed="rId3"/>
          <a:stretch>
            <a:fillRect/>
          </a:stretch>
        </p:blipFill>
        <p:spPr>
          <a:xfrm>
            <a:off x="464399" y="2796799"/>
            <a:ext cx="5047399" cy="3987446"/>
          </a:xfrm>
          <a:prstGeom prst="rect">
            <a:avLst/>
          </a:prstGeom>
        </p:spPr>
      </p:pic>
      <p:sp>
        <p:nvSpPr>
          <p:cNvPr id="2" name="Text Placeholder 1"/>
          <p:cNvSpPr>
            <a:spLocks noGrp="1"/>
          </p:cNvSpPr>
          <p:nvPr>
            <p:ph type="body" sz="quarter" idx="10"/>
          </p:nvPr>
        </p:nvSpPr>
        <p:spPr>
          <a:xfrm>
            <a:off x="464400" y="1212850"/>
            <a:ext cx="11574000" cy="1735860"/>
          </a:xfrm>
        </p:spPr>
        <p:txBody>
          <a:bodyPr/>
          <a:lstStyle/>
          <a:p>
            <a:r>
              <a:rPr lang="en-US" dirty="0">
                <a:hlinkClick r:id="rId4"/>
              </a:rPr>
              <a:t>https://[tenant]-admin.sharepoint.com</a:t>
            </a:r>
            <a:r>
              <a:rPr lang="en-US" dirty="0"/>
              <a:t>  </a:t>
            </a:r>
          </a:p>
          <a:p>
            <a:endParaRPr lang="en-US" dirty="0"/>
          </a:p>
          <a:p>
            <a:r>
              <a:rPr lang="en-US" dirty="0"/>
              <a:t>Use this site collection to test web parts and extensions</a:t>
            </a:r>
          </a:p>
          <a:p>
            <a:endParaRPr lang="en-US" dirty="0"/>
          </a:p>
        </p:txBody>
      </p:sp>
      <p:sp>
        <p:nvSpPr>
          <p:cNvPr id="3" name="Title 2"/>
          <p:cNvSpPr>
            <a:spLocks noGrp="1"/>
          </p:cNvSpPr>
          <p:nvPr>
            <p:ph type="title"/>
          </p:nvPr>
        </p:nvSpPr>
        <p:spPr>
          <a:xfrm>
            <a:off x="464400" y="633600"/>
            <a:ext cx="11574000" cy="387798"/>
          </a:xfrm>
        </p:spPr>
        <p:txBody>
          <a:bodyPr/>
          <a:lstStyle/>
          <a:p>
            <a:r>
              <a:rPr lang="en-US" dirty="0"/>
              <a:t>Create a new Development Site collection</a:t>
            </a:r>
          </a:p>
        </p:txBody>
      </p:sp>
      <p:pic>
        <p:nvPicPr>
          <p:cNvPr id="8" name="Picture 7" descr="Graphical user interface, application, website&#10;&#10;Description automatically generated">
            <a:extLst>
              <a:ext uri="{FF2B5EF4-FFF2-40B4-BE49-F238E27FC236}">
                <a16:creationId xmlns:a16="http://schemas.microsoft.com/office/drawing/2014/main" id="{A4F1B724-7047-482C-9BB6-F353B9C04AF1}"/>
              </a:ext>
            </a:extLst>
          </p:cNvPr>
          <p:cNvPicPr>
            <a:picLocks noChangeAspect="1"/>
          </p:cNvPicPr>
          <p:nvPr/>
        </p:nvPicPr>
        <p:blipFill>
          <a:blip r:embed="rId5"/>
          <a:stretch>
            <a:fillRect/>
          </a:stretch>
        </p:blipFill>
        <p:spPr>
          <a:xfrm>
            <a:off x="5914518" y="2796799"/>
            <a:ext cx="5047399" cy="3949590"/>
          </a:xfrm>
          <a:prstGeom prst="rect">
            <a:avLst/>
          </a:prstGeom>
        </p:spPr>
      </p:pic>
    </p:spTree>
    <p:extLst>
      <p:ext uri="{BB962C8B-B14F-4D97-AF65-F5344CB8AC3E}">
        <p14:creationId xmlns:p14="http://schemas.microsoft.com/office/powerpoint/2010/main" val="5718425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Configuring Your Microsoft 365 Environment</a:t>
            </a:r>
            <a:endParaRPr lang="en-US" dirty="0"/>
          </a:p>
        </p:txBody>
      </p:sp>
    </p:spTree>
    <p:extLst>
      <p:ext uri="{BB962C8B-B14F-4D97-AF65-F5344CB8AC3E}">
        <p14:creationId xmlns:p14="http://schemas.microsoft.com/office/powerpoint/2010/main" val="57976457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1569660"/>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What is the SharePoint Framework?</a:t>
            </a:r>
          </a:p>
          <a:p>
            <a:pPr lvl="0">
              <a:lnSpc>
                <a:spcPct val="90000"/>
              </a:lnSpc>
              <a:spcBef>
                <a:spcPts val="1800"/>
              </a:spcBef>
            </a:pPr>
            <a:r>
              <a:rPr lang="en-US" sz="1600" b="0" dirty="0">
                <a:solidFill>
                  <a:srgbClr val="2F2F2F"/>
                </a:solidFill>
                <a:latin typeface="Segoe UI Semibold"/>
              </a:rPr>
              <a:t>Where is the SharePoint Framework supported?</a:t>
            </a:r>
          </a:p>
          <a:p>
            <a:pPr lvl="0">
              <a:lnSpc>
                <a:spcPct val="90000"/>
              </a:lnSpc>
              <a:spcBef>
                <a:spcPts val="1800"/>
              </a:spcBef>
            </a:pPr>
            <a:r>
              <a:rPr lang="en-US" sz="1600" b="0" dirty="0">
                <a:solidFill>
                  <a:srgbClr val="2F2F2F"/>
                </a:solidFill>
                <a:latin typeface="Segoe UI Semibold"/>
              </a:rPr>
              <a:t>Configuring your Microsoft 365 developer tenant for SPFx development</a:t>
            </a:r>
          </a:p>
        </p:txBody>
      </p:sp>
    </p:spTree>
    <p:extLst>
      <p:ext uri="{BB962C8B-B14F-4D97-AF65-F5344CB8AC3E}">
        <p14:creationId xmlns:p14="http://schemas.microsoft.com/office/powerpoint/2010/main" val="250924232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19804"/>
            <a:ext cx="11533187" cy="4001095"/>
          </a:xfrm>
        </p:spPr>
        <p:txBody>
          <a:bodyPr/>
          <a:lstStyle/>
          <a:p>
            <a:pPr lvl="0"/>
            <a:r>
              <a:rPr lang="en-US" dirty="0"/>
              <a:t>SharePoint Framework</a:t>
            </a:r>
          </a:p>
          <a:p>
            <a:pPr lvl="0"/>
            <a:r>
              <a:rPr lang="en-US" dirty="0">
                <a:hlinkClick r:id="rId3"/>
              </a:rPr>
              <a:t>http://aka.ms/spfx</a:t>
            </a:r>
            <a:r>
              <a:rPr lang="en-US" dirty="0"/>
              <a:t> </a:t>
            </a:r>
          </a:p>
          <a:p>
            <a:pPr lvl="0"/>
            <a:endParaRPr lang="en-US" dirty="0"/>
          </a:p>
          <a:p>
            <a:pPr lvl="0"/>
            <a:r>
              <a:rPr lang="en-US" dirty="0"/>
              <a:t>Set up your Microsoft 365 Tenant</a:t>
            </a:r>
          </a:p>
          <a:p>
            <a:r>
              <a:rPr lang="en-US" dirty="0">
                <a:hlinkClick r:id="rId4"/>
              </a:rPr>
              <a:t>https://learn.microsoft.com/en-us/sharepoint/dev/spfx/set-up-your-developer-tenant</a:t>
            </a:r>
            <a:endParaRPr lang="en-US" dirty="0"/>
          </a:p>
          <a:p>
            <a:endParaRPr lang="en-US" dirty="0"/>
          </a:p>
          <a:p>
            <a:pPr lvl="0"/>
            <a:r>
              <a:rPr lang="en-US" dirty="0"/>
              <a:t>Microsoft 365 Developer Program</a:t>
            </a:r>
          </a:p>
          <a:p>
            <a:r>
              <a:rPr lang="en-US" u="sng" dirty="0">
                <a:hlinkClick r:id="rId5"/>
              </a:rPr>
              <a:t>https://aka.ms/offdp</a:t>
            </a:r>
            <a:endParaRPr lang="en-US" dirty="0"/>
          </a:p>
          <a:p>
            <a:pPr lvl="0"/>
            <a:endParaRPr lang="en-US" dirty="0"/>
          </a:p>
          <a:p>
            <a:pPr lvl="0"/>
            <a:r>
              <a:rPr lang="en-US" dirty="0"/>
              <a:t>Microsoft 365 Platform Community (PnP)</a:t>
            </a:r>
          </a:p>
          <a:p>
            <a:pPr lvl="0"/>
            <a:r>
              <a:rPr lang="en-US" dirty="0">
                <a:hlinkClick r:id="rId6"/>
              </a:rPr>
              <a:t>https://aka.ms/sppnp</a:t>
            </a:r>
            <a:r>
              <a:rPr lang="en-US" dirty="0"/>
              <a:t> </a:t>
            </a:r>
          </a:p>
        </p:txBody>
      </p:sp>
    </p:spTree>
    <p:extLst>
      <p:ext uri="{BB962C8B-B14F-4D97-AF65-F5344CB8AC3E}">
        <p14:creationId xmlns:p14="http://schemas.microsoft.com/office/powerpoint/2010/main" val="14358644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72401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47957"/>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2483</Words>
  <Application>Microsoft Macintosh PowerPoint</Application>
  <PresentationFormat>Custom</PresentationFormat>
  <Paragraphs>210</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Consolas</vt:lpstr>
      <vt:lpstr>Segoe UI</vt:lpstr>
      <vt:lpstr>Segoe UI Light</vt:lpstr>
      <vt:lpstr>Segoe UI Semibold</vt:lpstr>
      <vt:lpstr>Segoe UI Semilight</vt:lpstr>
      <vt:lpstr>Wingdings</vt:lpstr>
      <vt:lpstr>Office 365 PPT Template - 2017</vt:lpstr>
      <vt:lpstr>Getting Started with the SharePoint Framework</vt:lpstr>
      <vt:lpstr>Introducing the  SharePoint Framework (SPFx)</vt:lpstr>
      <vt:lpstr>SharePoint UX – Evolving cross versions</vt:lpstr>
      <vt:lpstr>SharePoint Framework Extensibility Principles Build long-term, value-added services for enterprise mobility</vt:lpstr>
      <vt:lpstr>SharePoint Framework</vt:lpstr>
      <vt:lpstr>What’s a modern page?</vt:lpstr>
      <vt:lpstr>Modern Site Pages</vt:lpstr>
      <vt:lpstr>Is all SharePoint Online development in JavaScript? </vt:lpstr>
      <vt:lpstr>Microsoft 365 Developer Tenant Setup Steps</vt:lpstr>
      <vt:lpstr>Sign up for a Microsoft 365 Developer Tenant</vt:lpstr>
      <vt:lpstr>Create App Catalog Site</vt:lpstr>
      <vt:lpstr>Create a new Development Site collection</vt:lpstr>
      <vt:lpstr>Demo Configuring Your Microsoft 365 Environment</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2026-05-24T13:53:13Z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