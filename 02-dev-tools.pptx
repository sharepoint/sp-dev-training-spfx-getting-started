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2"/>
  </p:sldMasterIdLst>
  <p:notesMasterIdLst>
    <p:notesMasterId r:id="rId17"/>
  </p:notesMasterIdLst>
  <p:handoutMasterIdLst>
    <p:handoutMasterId r:id="rId18"/>
  </p:handoutMasterIdLst>
  <p:sldIdLst>
    <p:sldId id="1562" r:id="rId3"/>
    <p:sldId id="1563" r:id="rId4"/>
    <p:sldId id="1564" r:id="rId5"/>
    <p:sldId id="1565" r:id="rId6"/>
    <p:sldId id="1566" r:id="rId7"/>
    <p:sldId id="1567" r:id="rId8"/>
    <p:sldId id="1568" r:id="rId9"/>
    <p:sldId id="1569" r:id="rId10"/>
    <p:sldId id="1570" r:id="rId11"/>
    <p:sldId id="1571" r:id="rId12"/>
    <p:sldId id="1572" r:id="rId13"/>
    <p:sldId id="1573" r:id="rId14"/>
    <p:sldId id="1574" r:id="rId15"/>
    <p:sldId id="1575" r:id="rId16"/>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1FBED56-7E21-C94D-8049-451270E8C32A}">
          <p14:sldIdLst>
            <p14:sldId id="1562"/>
            <p14:sldId id="1563"/>
          </p14:sldIdLst>
        </p14:section>
        <p14:section name="dev-environment" id="{3D9C80B2-EAAE-E24F-83D7-5970E147313E}">
          <p14:sldIdLst>
            <p14:sldId id="1564"/>
            <p14:sldId id="1565"/>
            <p14:sldId id="1566"/>
            <p14:sldId id="1567"/>
            <p14:sldId id="1568"/>
            <p14:sldId id="1569"/>
            <p14:sldId id="1570"/>
            <p14:sldId id="1571"/>
          </p14:sldIdLst>
        </p14:section>
        <p14:section name="outro" id="{E93196B6-EFE2-3242-B776-C77C0FCFFEF1}">
          <p14:sldIdLst>
            <p14:sldId id="1572"/>
            <p14:sldId id="1573"/>
            <p14:sldId id="1574"/>
            <p14:sldId id="1575"/>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D30"/>
    <a:srgbClr val="2F2F2F"/>
    <a:srgbClr val="787878"/>
    <a:srgbClr val="595959"/>
    <a:srgbClr val="A6A6A6"/>
    <a:srgbClr val="7F7F7F"/>
    <a:srgbClr val="00BCF2"/>
    <a:srgbClr val="FFFFFF"/>
    <a:srgbClr val="000A18"/>
    <a:srgbClr val="BCEEFC"/>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1505" autoAdjust="0"/>
    <p:restoredTop sz="68904" autoAdjust="0"/>
  </p:normalViewPr>
  <p:slideViewPr>
    <p:cSldViewPr snapToGrid="0">
      <p:cViewPr>
        <p:scale>
          <a:sx n="80" d="100"/>
          <a:sy n="80" d="100"/>
        </p:scale>
        <p:origin x="1912" y="264"/>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p:scale>
          <a:sx n="66" d="100"/>
          <a:sy n="66" d="100"/>
        </p:scale>
        <p:origin x="4290" y="6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r>
              <a:rPr lang="en-US" dirty="0">
                <a:latin typeface="Segoe UI" pitchFamily="34" charset="0"/>
              </a:rPr>
              <a:t>SharePoint Framework</a:t>
            </a: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5/24/26 9:53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a:t>SharePoint Framework</a:t>
            </a:r>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5/24/26 9:40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909857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In this unit, you'll learn what you need to install on your development environment to start creating SharePoint Framework components.</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897042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Microsoft has adopted the open-source tooling for the foundation of SharePoint Framework development. Three categories to explore when it comes to open-source tooling &amp; libraries related to the SharePoint Framework are as follows: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 build process &amp; tooling</a:t>
            </a:r>
          </a:p>
          <a:p>
            <a:r>
              <a:rPr lang="en-US" sz="900" b="0" kern="1200" dirty="0">
                <a:solidFill>
                  <a:schemeClr val="tx1"/>
                </a:solidFill>
                <a:effectLst/>
                <a:latin typeface="Segoe UI Light" pitchFamily="34" charset="0"/>
                <a:ea typeface="+mn-ea"/>
                <a:cs typeface="+mn-cs"/>
              </a:rPr>
              <a:t>- web frameworks</a:t>
            </a:r>
          </a:p>
          <a:p>
            <a:r>
              <a:rPr lang="en-US" sz="900" b="0" kern="1200" dirty="0">
                <a:solidFill>
                  <a:schemeClr val="tx1"/>
                </a:solidFill>
                <a:effectLst/>
                <a:latin typeface="Segoe UI Light" pitchFamily="34" charset="0"/>
                <a:ea typeface="+mn-ea"/>
                <a:cs typeface="+mn-cs"/>
              </a:rPr>
              <a:t>- code editors</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r>
              <a:rPr lang="en-US" sz="900" b="0" kern="1200" dirty="0">
                <a:solidFill>
                  <a:schemeClr val="tx1"/>
                </a:solidFill>
                <a:effectLst/>
                <a:latin typeface="Segoe UI Light" pitchFamily="34" charset="0"/>
                <a:ea typeface="+mn-ea"/>
                <a:cs typeface="+mn-cs"/>
              </a:rPr>
              <a:t>Let's look at the build process and tooling first. Yeoman is used to replace the new project experience that traditional server-side SharePoint developers are familiar with in Visual Studio.</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Gulp is a task runner that replaces the tool </a:t>
            </a:r>
            <a:r>
              <a:rPr lang="en-US" sz="900" b="0" kern="1200" dirty="0" err="1">
                <a:solidFill>
                  <a:schemeClr val="tx1"/>
                </a:solidFill>
                <a:effectLst/>
                <a:latin typeface="Segoe UI Light" pitchFamily="34" charset="0"/>
                <a:ea typeface="+mn-ea"/>
                <a:cs typeface="+mn-cs"/>
              </a:rPr>
              <a:t>MSBuild</a:t>
            </a:r>
            <a:r>
              <a:rPr lang="en-US" sz="900" b="0" kern="1200" dirty="0">
                <a:solidFill>
                  <a:schemeClr val="tx1"/>
                </a:solidFill>
                <a:effectLst/>
                <a:latin typeface="Segoe UI Light" pitchFamily="34" charset="0"/>
                <a:ea typeface="+mn-ea"/>
                <a:cs typeface="+mn-cs"/>
              </a:rPr>
              <a:t> used in .NET solutions. This is used to run various tasks, like </a:t>
            </a:r>
            <a:r>
              <a:rPr lang="en-US" sz="900" b="0" kern="1200" dirty="0" err="1">
                <a:solidFill>
                  <a:schemeClr val="tx1"/>
                </a:solidFill>
                <a:effectLst/>
                <a:latin typeface="Segoe UI Light" pitchFamily="34" charset="0"/>
                <a:ea typeface="+mn-ea"/>
                <a:cs typeface="+mn-cs"/>
              </a:rPr>
              <a:t>transpiling</a:t>
            </a:r>
            <a:r>
              <a:rPr lang="en-US" sz="900" b="0" kern="1200" dirty="0">
                <a:solidFill>
                  <a:schemeClr val="tx1"/>
                </a:solidFill>
                <a:effectLst/>
                <a:latin typeface="Segoe UI Light" pitchFamily="34" charset="0"/>
                <a:ea typeface="+mn-ea"/>
                <a:cs typeface="+mn-cs"/>
              </a:rPr>
              <a:t> TypeScript to JavaScript, creating JavaScript bundles and SharePoint packages.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Node.js is the underlying runtime used by all applications. The tools we're covering in this section are all built on top of Node.js. Node.js is required to run them, just like the .NET Framework is required to run .NET apps.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NPM is used as the package manager and you'll use it to install global tools and reusable code in your projects.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Webpack is used to combine all the JavaScript and CSS files in your project into a single JavaScript bundle. Bundles are the recommended way to deploy client-side applications for performance reasons.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These are tools that are not built and provided by Microsoft, rather they're maintained by the community and are all open-source tools. One benefit of using these tools is that they are cross platform, so the same tools can be used regardless if your development environment is Windows, MacOS, or Linux.</a:t>
            </a:r>
          </a:p>
          <a:p>
            <a:br>
              <a:rPr lang="en-US" sz="900" b="0" kern="1200" dirty="0">
                <a:solidFill>
                  <a:schemeClr val="tx1"/>
                </a:solidFill>
                <a:effectLst/>
                <a:latin typeface="Segoe UI Light" pitchFamily="34" charset="0"/>
                <a:ea typeface="+mn-ea"/>
                <a:cs typeface="+mn-cs"/>
              </a:rPr>
            </a:br>
            <a:r>
              <a:rPr lang="en-US" sz="900" b="1" kern="1200" dirty="0">
                <a:solidFill>
                  <a:schemeClr val="tx1"/>
                </a:solidFill>
                <a:effectLst/>
                <a:latin typeface="Segoe UI Light" pitchFamily="34" charset="0"/>
                <a:ea typeface="+mn-ea"/>
                <a:cs typeface="+mn-cs"/>
              </a:rPr>
              <a:t>### Web frameworks</a:t>
            </a:r>
            <a:endParaRPr lang="en-US" sz="900" b="0" kern="1200" dirty="0">
              <a:solidFill>
                <a:schemeClr val="tx1"/>
              </a:solidFill>
              <a:effectLst/>
              <a:latin typeface="Segoe UI Light" pitchFamily="34" charset="0"/>
              <a:ea typeface="+mn-ea"/>
              <a:cs typeface="+mn-cs"/>
            </a:endParaRP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When building client-side applications, developers commonly use web frameworks. The SharePoint Framework doesn't limit you to any specific framework. You can use any of the popular web frameworks in your projects including React, Angular, Knockout, or </a:t>
            </a:r>
            <a:r>
              <a:rPr lang="en-US" sz="900" b="0" kern="1200" dirty="0" err="1">
                <a:solidFill>
                  <a:schemeClr val="tx1"/>
                </a:solidFill>
                <a:effectLst/>
                <a:latin typeface="Segoe UI Light" pitchFamily="34" charset="0"/>
                <a:ea typeface="+mn-ea"/>
                <a:cs typeface="+mn-cs"/>
              </a:rPr>
              <a:t>Vue.js</a:t>
            </a:r>
            <a:r>
              <a:rPr lang="en-US" sz="900" b="0" kern="1200" dirty="0">
                <a:solidFill>
                  <a:schemeClr val="tx1"/>
                </a:solidFill>
                <a:effectLst/>
                <a:latin typeface="Segoe UI Light" pitchFamily="34" charset="0"/>
                <a:ea typeface="+mn-ea"/>
                <a:cs typeface="+mn-cs"/>
              </a:rPr>
              <a:t>. You can even use the popular jQuery library in your custom apps.</a:t>
            </a:r>
          </a:p>
          <a:p>
            <a:br>
              <a:rPr lang="en-US" sz="900" b="0" kern="1200" dirty="0">
                <a:solidFill>
                  <a:schemeClr val="tx1"/>
                </a:solidFill>
                <a:effectLst/>
                <a:latin typeface="Segoe UI Light" pitchFamily="34" charset="0"/>
                <a:ea typeface="+mn-ea"/>
                <a:cs typeface="+mn-cs"/>
              </a:rPr>
            </a:br>
            <a:r>
              <a:rPr lang="en-US" sz="900" b="1" kern="1200" dirty="0">
                <a:solidFill>
                  <a:schemeClr val="tx1"/>
                </a:solidFill>
                <a:effectLst/>
                <a:latin typeface="Segoe UI Light" pitchFamily="34" charset="0"/>
                <a:ea typeface="+mn-ea"/>
                <a:cs typeface="+mn-cs"/>
              </a:rPr>
              <a:t>### Code editors</a:t>
            </a:r>
            <a:endParaRPr lang="en-US" sz="900" b="0" kern="1200" dirty="0">
              <a:solidFill>
                <a:schemeClr val="tx1"/>
              </a:solidFill>
              <a:effectLst/>
              <a:latin typeface="Segoe UI Light" pitchFamily="34" charset="0"/>
              <a:ea typeface="+mn-ea"/>
              <a:cs typeface="+mn-cs"/>
            </a:endParaRP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You'll also want to get a code editor to develop your project. Most developers are use Visual Studio Code by Microsoft. It's a lightweight version of Visual Studio and is just a text editor that understands TypeScript and can be customized using extensions.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However, you aren't limited to Visual Studio Code. You can choose a different editor if you wanted to. Something as simple as notepad, Atom, Sublime, or WebStorm will work as well. It doesn't matter what you use as all development is done though text editors.</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184580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The SharePoint Framework development toolchain is a significant change from the traditional server-side SharePoint development experience. Let's look at the two development toolchains to see how they're compare and contrast</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The top row is the server-side tool comparison, starting with the Microsoft IIS web server. This includes the .NET Framework, NuGet used for package management, </a:t>
            </a:r>
            <a:r>
              <a:rPr lang="en-US" sz="900" b="0" kern="1200" dirty="0" err="1">
                <a:solidFill>
                  <a:schemeClr val="tx1"/>
                </a:solidFill>
                <a:effectLst/>
                <a:latin typeface="Segoe UI Light" pitchFamily="34" charset="0"/>
                <a:ea typeface="+mn-ea"/>
                <a:cs typeface="+mn-cs"/>
              </a:rPr>
              <a:t>MSBuild</a:t>
            </a:r>
            <a:r>
              <a:rPr lang="en-US" sz="900" b="0" kern="1200" dirty="0">
                <a:solidFill>
                  <a:schemeClr val="tx1"/>
                </a:solidFill>
                <a:effectLst/>
                <a:latin typeface="Segoe UI Light" pitchFamily="34" charset="0"/>
                <a:ea typeface="+mn-ea"/>
                <a:cs typeface="+mn-cs"/>
              </a:rPr>
              <a:t> used for running build and packaging tasks, C# as the development language and Visual Studio for the development experience.</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The bottom row represents the SharePoint Framework tools. Notice the lines drawn between the tools so you can see how the two compare.</a:t>
            </a:r>
          </a:p>
          <a:p>
            <a:endParaRPr lang="en-US" sz="900" b="0" kern="1200" dirty="0">
              <a:solidFill>
                <a:schemeClr val="tx1"/>
              </a:solidFill>
              <a:effectLst/>
              <a:latin typeface="Segoe UI Light" pitchFamily="34" charset="0"/>
              <a:ea typeface="+mn-ea"/>
              <a:cs typeface="+mn-cs"/>
            </a:endParaRPr>
          </a:p>
          <a:p>
            <a:r>
              <a:rPr lang="en-US" sz="900" b="0" kern="1200" dirty="0">
                <a:solidFill>
                  <a:schemeClr val="tx1"/>
                </a:solidFill>
                <a:effectLst/>
                <a:latin typeface="Segoe UI Light" pitchFamily="34" charset="0"/>
                <a:ea typeface="+mn-ea"/>
                <a:cs typeface="+mn-cs"/>
              </a:rPr>
              <a:t>Let's look at each of the tools used in the SharePoint Framework development and build toolchain.</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9:55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0209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Node.js is a JavaScript runtime for running JavaScript on devices outside of the browser. Its a wrapper to the V8 JavaScript engine from the Chromium open-source browser project with some extra APIs that allow the V8 engine to run outside of the browser. This enables JavaScript to run on desktops, laptops, servers, and other devices.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&gt; [!NOTE]</a:t>
            </a:r>
          </a:p>
          <a:p>
            <a:r>
              <a:rPr lang="en-US" sz="900" b="0" kern="1200" dirty="0">
                <a:solidFill>
                  <a:schemeClr val="tx1"/>
                </a:solidFill>
                <a:effectLst/>
                <a:latin typeface="Segoe UI Light" pitchFamily="34" charset="0"/>
                <a:ea typeface="+mn-ea"/>
                <a:cs typeface="+mn-cs"/>
              </a:rPr>
              <a:t>&gt; Chromium is the project that Google Chrome and Microsoft Edge are based on.</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In the context of the SharePoint Framework, Node.js is needed as its the runtime for the development and build tools previously covered. The SharePoint Framework doesn't require you to become a Node.js developer, but you need to install it so the apps in the development and build toolchain will run.</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When compared to the server-side toolchain, Node.js serves the same role as the .NET Framework.</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2124016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err="1">
                <a:solidFill>
                  <a:schemeClr val="tx1"/>
                </a:solidFill>
                <a:effectLst/>
                <a:latin typeface="Segoe UI Light" pitchFamily="34" charset="0"/>
                <a:ea typeface="+mn-ea"/>
                <a:cs typeface="+mn-cs"/>
              </a:rPr>
              <a:t>npm</a:t>
            </a:r>
            <a:r>
              <a:rPr lang="en-US" sz="900" b="0" kern="1200" dirty="0">
                <a:solidFill>
                  <a:schemeClr val="tx1"/>
                </a:solidFill>
                <a:effectLst/>
                <a:latin typeface="Segoe UI Light" pitchFamily="34" charset="0"/>
                <a:ea typeface="+mn-ea"/>
                <a:cs typeface="+mn-cs"/>
              </a:rPr>
              <a:t> is a package manager for Node.js-based projects and is included with the Node.js installation. Its one of many package managers that can download and install packages from the </a:t>
            </a:r>
            <a:r>
              <a:rPr lang="en-US" sz="900" b="0" kern="1200" dirty="0" err="1">
                <a:solidFill>
                  <a:schemeClr val="tx1"/>
                </a:solidFill>
                <a:effectLst/>
                <a:latin typeface="Segoe UI Light" pitchFamily="34" charset="0"/>
                <a:ea typeface="+mn-ea"/>
                <a:cs typeface="+mn-cs"/>
              </a:rPr>
              <a:t>npmjs.org</a:t>
            </a:r>
            <a:r>
              <a:rPr lang="en-US" sz="900" b="0" kern="1200" dirty="0">
                <a:solidFill>
                  <a:schemeClr val="tx1"/>
                </a:solidFill>
                <a:effectLst/>
                <a:latin typeface="Segoe UI Light" pitchFamily="34" charset="0"/>
                <a:ea typeface="+mn-ea"/>
                <a:cs typeface="+mn-cs"/>
              </a:rPr>
              <a:t> registry.</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When compared to the server-side toolchain, </a:t>
            </a:r>
            <a:r>
              <a:rPr lang="en-US" sz="900" b="0" kern="1200" dirty="0" err="1">
                <a:solidFill>
                  <a:schemeClr val="tx1"/>
                </a:solidFill>
                <a:effectLst/>
                <a:latin typeface="Segoe UI Light" pitchFamily="34" charset="0"/>
                <a:ea typeface="+mn-ea"/>
                <a:cs typeface="+mn-cs"/>
              </a:rPr>
              <a:t>npm</a:t>
            </a:r>
            <a:r>
              <a:rPr lang="en-US" sz="900" b="0" kern="1200" dirty="0">
                <a:solidFill>
                  <a:schemeClr val="tx1"/>
                </a:solidFill>
                <a:effectLst/>
                <a:latin typeface="Segoe UI Light" pitchFamily="34" charset="0"/>
                <a:ea typeface="+mn-ea"/>
                <a:cs typeface="+mn-cs"/>
              </a:rPr>
              <a:t> serves the same role as NuGet.</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1049986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When building server-side SharePoint components using the Add-in model or as features or solutions, developers used Visual Studio to create and develop the project. The first step in these models is to create a project using the </a:t>
            </a:r>
            <a:r>
              <a:rPr lang="en-US" sz="900" b="0" i="1" kern="1200" dirty="0">
                <a:solidFill>
                  <a:schemeClr val="tx1"/>
                </a:solidFill>
                <a:effectLst/>
                <a:latin typeface="Segoe UI Light" pitchFamily="34" charset="0"/>
                <a:ea typeface="+mn-ea"/>
                <a:cs typeface="+mn-cs"/>
              </a:rPr>
              <a:t>*New Project*</a:t>
            </a:r>
            <a:r>
              <a:rPr lang="en-US" sz="900" b="0" kern="1200" dirty="0">
                <a:solidFill>
                  <a:schemeClr val="tx1"/>
                </a:solidFill>
                <a:effectLst/>
                <a:latin typeface="Segoe UI Light" pitchFamily="34" charset="0"/>
                <a:ea typeface="+mn-ea"/>
                <a:cs typeface="+mn-cs"/>
              </a:rPr>
              <a:t> wizard experience. This wizard collects information about the project and then scaffolds the project by creating folders, files, and customizing the files based on the responses to the questions.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Visual Studio Code doesn't have this </a:t>
            </a:r>
            <a:r>
              <a:rPr lang="en-US" sz="900" b="0" i="1" kern="1200" dirty="0">
                <a:solidFill>
                  <a:schemeClr val="tx1"/>
                </a:solidFill>
                <a:effectLst/>
                <a:latin typeface="Segoe UI Light" pitchFamily="34" charset="0"/>
                <a:ea typeface="+mn-ea"/>
                <a:cs typeface="+mn-cs"/>
              </a:rPr>
              <a:t>*New Project*</a:t>
            </a:r>
            <a:r>
              <a:rPr lang="en-US" sz="900" b="0" kern="1200" dirty="0">
                <a:solidFill>
                  <a:schemeClr val="tx1"/>
                </a:solidFill>
                <a:effectLst/>
                <a:latin typeface="Segoe UI Light" pitchFamily="34" charset="0"/>
                <a:ea typeface="+mn-ea"/>
                <a:cs typeface="+mn-cs"/>
              </a:rPr>
              <a:t> wizard experience. To simplify project creation, Yeoman is used to create the project.</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Yeoman is a scaffolding engine that runs generators. A generator defines the set of questions and understands how to scaffold a new project or modify existing projects.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Microsoft provides a generator to scaffold SharePoint Framework projects, both new projects and to add components to existing projects.</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3300424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Heft is the task runner we use to do different tasks in our development and build process. Heft executes tasks that are written in JavaScript. You'll use Heft to do things like building your project and </a:t>
            </a:r>
            <a:r>
              <a:rPr lang="en-US" sz="900" b="0" kern="1200" dirty="0" err="1">
                <a:solidFill>
                  <a:schemeClr val="tx1"/>
                </a:solidFill>
                <a:effectLst/>
                <a:latin typeface="Segoe UI Light" pitchFamily="34" charset="0"/>
                <a:ea typeface="+mn-ea"/>
                <a:cs typeface="+mn-cs"/>
              </a:rPr>
              <a:t>transpiling</a:t>
            </a:r>
            <a:r>
              <a:rPr lang="en-US" sz="900" b="0" kern="1200" dirty="0">
                <a:solidFill>
                  <a:schemeClr val="tx1"/>
                </a:solidFill>
                <a:effectLst/>
                <a:latin typeface="Segoe UI Light" pitchFamily="34" charset="0"/>
                <a:ea typeface="+mn-ea"/>
                <a:cs typeface="+mn-cs"/>
              </a:rPr>
              <a:t> the SAAS files to CSS and TypeScript to JavaScript. You'll use other tasks to combine the resulting files into bundles &amp; package the resulting files into a SharePoint package file used for deployment.</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When compared to the server-side toolchain, Heft serves the same role as </a:t>
            </a:r>
            <a:r>
              <a:rPr lang="en-US" sz="900" b="0" kern="1200" dirty="0" err="1">
                <a:solidFill>
                  <a:schemeClr val="tx1"/>
                </a:solidFill>
                <a:effectLst/>
                <a:latin typeface="Segoe UI Light" pitchFamily="34" charset="0"/>
                <a:ea typeface="+mn-ea"/>
                <a:cs typeface="+mn-cs"/>
              </a:rPr>
              <a:t>MSBuild</a:t>
            </a:r>
            <a:r>
              <a:rPr lang="en-US" sz="900" b="0" kern="1200" dirty="0">
                <a:solidFill>
                  <a:schemeClr val="tx1"/>
                </a:solidFill>
                <a:effectLst/>
                <a:latin typeface="Segoe UI Light" pitchFamily="34" charset="0"/>
                <a:ea typeface="+mn-ea"/>
                <a:cs typeface="+mn-cs"/>
              </a:rPr>
              <a:t>.</a:t>
            </a:r>
          </a:p>
          <a:p>
            <a:endParaRPr lang="en-US" sz="900" b="0" kern="1200" dirty="0">
              <a:solidFill>
                <a:schemeClr val="tx1"/>
              </a:solidFill>
              <a:effectLst/>
              <a:latin typeface="Segoe UI Light" pitchFamily="34" charset="0"/>
              <a:ea typeface="+mn-ea"/>
              <a:cs typeface="+mn-cs"/>
            </a:endParaRPr>
          </a:p>
          <a:p>
            <a:r>
              <a:rPr lang="en-US" sz="900" b="0" kern="1200" dirty="0">
                <a:solidFill>
                  <a:schemeClr val="tx1"/>
                </a:solidFill>
                <a:effectLst/>
                <a:latin typeface="Segoe UI Light" pitchFamily="34" charset="0"/>
                <a:ea typeface="+mn-ea"/>
                <a:cs typeface="+mn-cs"/>
              </a:rPr>
              <a:t>NOTE: Originally the SPFx used Gulp as the task runner, but Heft replaced Gulp in the SPFx v1.21 release.</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1247082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TypeScript is the language that you're going to write your SharePoint Framework projects with. Its super set of JavaScript with extra capabilities it to make JavaScript development easier to manage.</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If you aren't familiar with JavaScript or you're not familiar with TypeScript, think of it as like a C# flavor to JavaScript. TypeScript's most popular features are type checking, the ability to use classes, and future features coming to JavaScript but not yet implemented or available except in preview.</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Similar to C# based projects, you don't deploy TypeScript to production. Rather its used to create intermediate files. The output of TypeScript is JavaScript, similar to how the output of C# is intermediate language (IL).</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When compared to the server-side toolchain, TypeScript serves the same role as C#.</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2079837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129607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1205198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2510823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16855196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10.jpeg"/><Relationship Id="rId4" Type="http://schemas.openxmlformats.org/officeDocument/2006/relationships/image" Target="../media/image9.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pic>
        <p:nvPicPr>
          <p:cNvPr id="3" name="Picture 2" descr="A person standing in front of a computer&#10;&#10;Description generated with very high confidence">
            <a:extLst>
              <a:ext uri="{FF2B5EF4-FFF2-40B4-BE49-F238E27FC236}">
                <a16:creationId xmlns:a16="http://schemas.microsoft.com/office/drawing/2014/main" id="{070E6202-7CD5-4BB1-8AE7-46D9B3803A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42064" y="-1"/>
            <a:ext cx="10494411" cy="6994525"/>
          </a:xfrm>
          <a:prstGeom prst="rect">
            <a:avLst/>
          </a:prstGeom>
        </p:spPr>
      </p:pic>
      <p:sp>
        <p:nvSpPr>
          <p:cNvPr id="6" name="Rectangle 5">
            <a:extLst>
              <a:ext uri="{FF2B5EF4-FFF2-40B4-BE49-F238E27FC236}">
                <a16:creationId xmlns:a16="http://schemas.microsoft.com/office/drawing/2014/main" id="{31AE396F-8D3A-450C-ACA2-DBB858270594}"/>
              </a:ext>
            </a:extLst>
          </p:cNvPr>
          <p:cNvSpPr/>
          <p:nvPr userDrawn="1"/>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trike="noStrike"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546528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bg2"/>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bg2"/>
                </a:solidFill>
                <a:latin typeface="+mn-lt"/>
              </a:defRPr>
            </a:lvl1pPr>
          </a:lstStyle>
          <a:p>
            <a:pPr lvl="0"/>
            <a:r>
              <a:rPr lang="en-US" dirty="0"/>
              <a:t>Author Name</a:t>
            </a:r>
          </a:p>
          <a:p>
            <a:pPr lvl="0"/>
            <a:r>
              <a:rPr lang="en-US" dirty="0"/>
              <a:t>Date</a:t>
            </a:r>
          </a:p>
        </p:txBody>
      </p:sp>
      <p:grpSp>
        <p:nvGrpSpPr>
          <p:cNvPr id="7" name="Group 6"/>
          <p:cNvGrpSpPr/>
          <p:nvPr userDrawn="1"/>
        </p:nvGrpSpPr>
        <p:grpSpPr>
          <a:xfrm>
            <a:off x="465139" y="449264"/>
            <a:ext cx="933131" cy="200341"/>
            <a:chOff x="465139" y="449264"/>
            <a:chExt cx="933131" cy="200341"/>
          </a:xfrm>
        </p:grpSpPr>
        <p:pic>
          <p:nvPicPr>
            <p:cNvPr id="97" name="Picture 96"/>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4"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Tree>
    <p:extLst>
      <p:ext uri="{BB962C8B-B14F-4D97-AF65-F5344CB8AC3E}">
        <p14:creationId xmlns:p14="http://schemas.microsoft.com/office/powerpoint/2010/main" val="70824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60F36A-EBDF-4D9D-8F13-E094035DB7F8}"/>
              </a:ext>
            </a:extLst>
          </p:cNvPr>
          <p:cNvSpPr/>
          <p:nvPr userDrawn="1"/>
        </p:nvSpPr>
        <p:spPr bwMode="auto">
          <a:xfrm>
            <a:off x="-1" y="-1"/>
            <a:ext cx="7801338" cy="6994525"/>
          </a:xfrm>
          <a:prstGeom prst="rect">
            <a:avLst/>
          </a:prstGeom>
          <a:gradFill flip="none" rotWithShape="1">
            <a:gsLst>
              <a:gs pos="41000">
                <a:schemeClr val="bg2">
                  <a:alpha val="52000"/>
                </a:schemeClr>
              </a:gs>
              <a:gs pos="100000">
                <a:schemeClr val="bg2">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2089010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960438"/>
            <a:ext cx="3690937" cy="917575"/>
          </a:xfrm>
        </p:spPr>
        <p:txBody>
          <a:bodyPr lIns="0" tIns="0" rIns="0" bIns="0"/>
          <a:lstStyle>
            <a:lvl1pPr>
              <a:defRPr sz="1800" spc="-50" baseline="0">
                <a:solidFill>
                  <a:schemeClr val="tx1"/>
                </a:solidFill>
              </a:defRPr>
            </a:lvl1pPr>
          </a:lstStyle>
          <a:p>
            <a:r>
              <a:rPr lang="en-US" dirty="0"/>
              <a:t>Contents</a:t>
            </a:r>
          </a:p>
        </p:txBody>
      </p:sp>
      <p:sp>
        <p:nvSpPr>
          <p:cNvPr id="4" name="Text Placeholder 3"/>
          <p:cNvSpPr>
            <a:spLocks noGrp="1"/>
          </p:cNvSpPr>
          <p:nvPr>
            <p:ph type="body" sz="quarter" idx="10" hasCustomPrompt="1"/>
          </p:nvPr>
        </p:nvSpPr>
        <p:spPr>
          <a:xfrm>
            <a:off x="6354764" y="960438"/>
            <a:ext cx="3914774" cy="3862387"/>
          </a:xfrm>
        </p:spPr>
        <p:txBody>
          <a:bodyPr wrap="square" lIns="0" tIns="0" rIns="0" bIns="0">
            <a:noAutofit/>
          </a:bodyPr>
          <a:lstStyle>
            <a:lvl1pPr marL="0" indent="0" defTabSz="517525">
              <a:buNone/>
              <a:defRPr sz="1800" spc="-50" baseline="0">
                <a:solidFill>
                  <a:schemeClr val="accent1"/>
                </a:solidFill>
              </a:defRPr>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dirty="0"/>
              <a:t>##	Section Title</a:t>
            </a:r>
          </a:p>
        </p:txBody>
      </p:sp>
    </p:spTree>
    <p:extLst>
      <p:ext uri="{BB962C8B-B14F-4D97-AF65-F5344CB8AC3E}">
        <p14:creationId xmlns:p14="http://schemas.microsoft.com/office/powerpoint/2010/main" val="153133736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65138" y="1919804"/>
            <a:ext cx="11533187" cy="307777"/>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Large: subhead Segoe UI Regular 20/24</a:t>
            </a:r>
          </a:p>
        </p:txBody>
      </p:sp>
      <p:sp>
        <p:nvSpPr>
          <p:cNvPr id="5" name="Text Placeholder 4"/>
          <p:cNvSpPr>
            <a:spLocks noGrp="1"/>
          </p:cNvSpPr>
          <p:nvPr>
            <p:ph type="body" sz="quarter" idx="11" hasCustomPrompt="1"/>
          </p:nvPr>
        </p:nvSpPr>
        <p:spPr>
          <a:xfrm>
            <a:off x="465138" y="3214124"/>
            <a:ext cx="11533187" cy="461665"/>
          </a:xfrm>
        </p:spPr>
        <p:txBody>
          <a:bodyPr lIns="0" tIns="0" rIns="0" bIns="0"/>
          <a:lstStyle>
            <a:lvl1pPr marL="0" indent="0">
              <a:lnSpc>
                <a:spcPts val="1800"/>
              </a:lnSpc>
              <a:spcBef>
                <a:spcPts val="0"/>
              </a:spcBef>
              <a:buNone/>
              <a:defRPr sz="1400" b="1">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Medium: paragraph title Segoe UI bold 14/18</a:t>
            </a:r>
          </a:p>
          <a:p>
            <a:pPr lvl="1"/>
            <a:r>
              <a:rPr lang="en-US" dirty="0"/>
              <a:t>Body copy Segoe UI Regular 14/18</a:t>
            </a:r>
          </a:p>
        </p:txBody>
      </p:sp>
      <p:sp>
        <p:nvSpPr>
          <p:cNvPr id="7" name="Text Placeholder 6"/>
          <p:cNvSpPr>
            <a:spLocks noGrp="1"/>
          </p:cNvSpPr>
          <p:nvPr>
            <p:ph type="body" sz="quarter" idx="12" hasCustomPrompt="1"/>
          </p:nvPr>
        </p:nvSpPr>
        <p:spPr>
          <a:xfrm>
            <a:off x="465138" y="4477703"/>
            <a:ext cx="11533187" cy="307777"/>
          </a:xfrm>
        </p:spPr>
        <p:txBody>
          <a:bodyPr lIns="0" tIns="0" rIns="0" bIns="0"/>
          <a:lstStyle>
            <a:lvl1pPr marL="0" indent="0">
              <a:lnSpc>
                <a:spcPts val="1200"/>
              </a:lnSpc>
              <a:spcBef>
                <a:spcPts val="0"/>
              </a:spcBef>
              <a:buNone/>
              <a:defRPr sz="1000">
                <a:solidFill>
                  <a:schemeClr val="tx1"/>
                </a:solidFill>
              </a:defRPr>
            </a:lvl1pPr>
            <a:lvl2pPr marL="0" indent="0">
              <a:lnSpc>
                <a:spcPts val="1200"/>
              </a:lnSpc>
              <a:spcBef>
                <a:spcPts val="0"/>
              </a:spcBef>
              <a:buNone/>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Small: caption title Segoe </a:t>
            </a:r>
            <a:r>
              <a:rPr lang="en-US" dirty="0" err="1"/>
              <a:t>Semibold</a:t>
            </a:r>
            <a:r>
              <a:rPr lang="en-US" dirty="0"/>
              <a:t> 10/12</a:t>
            </a:r>
          </a:p>
          <a:p>
            <a:pPr lvl="1"/>
            <a:r>
              <a:rPr lang="en-US" dirty="0"/>
              <a:t>Caption Segoe Regular 10/12</a:t>
            </a:r>
          </a:p>
        </p:txBody>
      </p:sp>
    </p:spTree>
    <p:extLst>
      <p:ext uri="{BB962C8B-B14F-4D97-AF65-F5344CB8AC3E}">
        <p14:creationId xmlns:p14="http://schemas.microsoft.com/office/powerpoint/2010/main" val="166014162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65138" y="1919804"/>
            <a:ext cx="7604125" cy="923330"/>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65138" y="3214124"/>
            <a:ext cx="3690937" cy="2731517"/>
          </a:xfrm>
        </p:spPr>
        <p:txBody>
          <a:bodyPr lIns="0" tIns="0" rIns="0" bIns="0"/>
          <a:lstStyle>
            <a:lvl1pPr marL="0" indent="0">
              <a:lnSpc>
                <a:spcPts val="1800"/>
              </a:lnSpc>
              <a:spcBef>
                <a:spcPts val="900"/>
              </a:spcBef>
              <a:buNone/>
              <a:defRPr sz="1400" b="1">
                <a:solidFill>
                  <a:schemeClr val="accent1"/>
                </a:solidFill>
                <a:latin typeface="+mn-lt"/>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6" name="Text Placeholder 4"/>
          <p:cNvSpPr>
            <a:spLocks noGrp="1"/>
          </p:cNvSpPr>
          <p:nvPr>
            <p:ph type="body" sz="quarter" idx="12" hasCustomPrompt="1"/>
          </p:nvPr>
        </p:nvSpPr>
        <p:spPr>
          <a:xfrm>
            <a:off x="4399597" y="3223704"/>
            <a:ext cx="3669666" cy="2731517"/>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8" name="Text Placeholder 4"/>
          <p:cNvSpPr>
            <a:spLocks noGrp="1"/>
          </p:cNvSpPr>
          <p:nvPr>
            <p:ph type="body" sz="quarter" idx="13" hasCustomPrompt="1"/>
          </p:nvPr>
        </p:nvSpPr>
        <p:spPr>
          <a:xfrm>
            <a:off x="8303577" y="3214124"/>
            <a:ext cx="3694748" cy="2731517"/>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Tree>
    <p:extLst>
      <p:ext uri="{BB962C8B-B14F-4D97-AF65-F5344CB8AC3E}">
        <p14:creationId xmlns:p14="http://schemas.microsoft.com/office/powerpoint/2010/main" val="408693891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2: two columns copy heavy</a:t>
            </a:r>
          </a:p>
        </p:txBody>
      </p:sp>
      <p:sp>
        <p:nvSpPr>
          <p:cNvPr id="5" name="Text Placeholder 4"/>
          <p:cNvSpPr>
            <a:spLocks noGrp="1"/>
          </p:cNvSpPr>
          <p:nvPr>
            <p:ph type="body" sz="quarter" idx="11" hasCustomPrompt="1"/>
          </p:nvPr>
        </p:nvSpPr>
        <p:spPr>
          <a:xfrm>
            <a:off x="465138" y="200545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
        <p:nvSpPr>
          <p:cNvPr id="7" name="Text Placeholder 4"/>
          <p:cNvSpPr>
            <a:spLocks noGrp="1"/>
          </p:cNvSpPr>
          <p:nvPr>
            <p:ph type="body" sz="quarter" idx="12" hasCustomPrompt="1"/>
          </p:nvPr>
        </p:nvSpPr>
        <p:spPr>
          <a:xfrm>
            <a:off x="6354763" y="199529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Tree>
    <p:extLst>
      <p:ext uri="{BB962C8B-B14F-4D97-AF65-F5344CB8AC3E}">
        <p14:creationId xmlns:p14="http://schemas.microsoft.com/office/powerpoint/2010/main" val="330174681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3" name="Rectangle 2"/>
          <p:cNvSpPr/>
          <p:nvPr userDrawn="1"/>
        </p:nvSpPr>
        <p:spPr bwMode="auto">
          <a:xfrm>
            <a:off x="465135"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 name="Content Placeholder 15"/>
          <p:cNvSpPr>
            <a:spLocks noGrp="1"/>
          </p:cNvSpPr>
          <p:nvPr>
            <p:ph sz="quarter" idx="17" hasCustomPrompt="1"/>
          </p:nvPr>
        </p:nvSpPr>
        <p:spPr>
          <a:xfrm>
            <a:off x="933450" y="1997075"/>
            <a:ext cx="2752725" cy="2459482"/>
          </a:xfrm>
        </p:spPr>
        <p:txBody>
          <a:bodyPr>
            <a:noAutofit/>
          </a:bodyPr>
          <a:lstStyle>
            <a:lvl1pPr marL="0" indent="0">
              <a:buNone/>
              <a:defRPr sz="2000"/>
            </a:lvl1pPr>
          </a:lstStyle>
          <a:p>
            <a:pPr lvl="0"/>
            <a:r>
              <a:rPr lang="en-US" dirty="0"/>
              <a:t>Picture</a:t>
            </a:r>
          </a:p>
        </p:txBody>
      </p:sp>
      <p:sp>
        <p:nvSpPr>
          <p:cNvPr id="6" name="Rectangle 5"/>
          <p:cNvSpPr/>
          <p:nvPr userDrawn="1"/>
        </p:nvSpPr>
        <p:spPr bwMode="auto">
          <a:xfrm>
            <a:off x="4389438"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p:cNvSpPr/>
          <p:nvPr userDrawn="1"/>
        </p:nvSpPr>
        <p:spPr bwMode="auto">
          <a:xfrm>
            <a:off x="8307386"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7" name="Content Placeholder 15"/>
          <p:cNvSpPr>
            <a:spLocks noGrp="1"/>
          </p:cNvSpPr>
          <p:nvPr>
            <p:ph sz="quarter" idx="18" hasCustomPrompt="1"/>
          </p:nvPr>
        </p:nvSpPr>
        <p:spPr>
          <a:xfrm>
            <a:off x="4855368" y="1997075"/>
            <a:ext cx="2752725" cy="2459482"/>
          </a:xfrm>
        </p:spPr>
        <p:txBody>
          <a:bodyPr>
            <a:noAutofit/>
          </a:bodyPr>
          <a:lstStyle>
            <a:lvl1pPr marL="0" indent="0">
              <a:buNone/>
              <a:defRPr sz="2000"/>
            </a:lvl1pPr>
          </a:lstStyle>
          <a:p>
            <a:pPr lvl="0"/>
            <a:r>
              <a:rPr lang="en-US" dirty="0"/>
              <a:t>Picture</a:t>
            </a:r>
          </a:p>
        </p:txBody>
      </p:sp>
      <p:sp>
        <p:nvSpPr>
          <p:cNvPr id="18" name="Content Placeholder 15"/>
          <p:cNvSpPr>
            <a:spLocks noGrp="1"/>
          </p:cNvSpPr>
          <p:nvPr>
            <p:ph sz="quarter" idx="19" hasCustomPrompt="1"/>
          </p:nvPr>
        </p:nvSpPr>
        <p:spPr>
          <a:xfrm>
            <a:off x="8777286" y="1997075"/>
            <a:ext cx="2752725" cy="2459482"/>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78519937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65139" y="2178680"/>
            <a:ext cx="1727200" cy="1042035"/>
          </a:xfrm>
        </p:spPr>
        <p:txBody>
          <a:bodyPr>
            <a:noAutofit/>
          </a:bodyPr>
          <a:lstStyle>
            <a:lvl1pPr marL="0" indent="0">
              <a:buNone/>
              <a:defRPr sz="2000"/>
            </a:lvl1pPr>
          </a:lstStyle>
          <a:p>
            <a:pPr lvl="0"/>
            <a:r>
              <a:rPr lang="en-US" dirty="0"/>
              <a:t>Picture</a:t>
            </a: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65139" y="3230880"/>
            <a:ext cx="1727200" cy="2834109"/>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426019" y="3230880"/>
            <a:ext cx="1727200" cy="281705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8689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34777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30865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269538"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426019" y="2178680"/>
            <a:ext cx="1727200" cy="1042035"/>
          </a:xfrm>
        </p:spPr>
        <p:txBody>
          <a:bodyPr>
            <a:noAutofit/>
          </a:bodyPr>
          <a:lstStyle>
            <a:lvl1pPr marL="0" indent="0">
              <a:buNone/>
              <a:defRPr sz="2000"/>
            </a:lvl1pPr>
          </a:lstStyle>
          <a:p>
            <a:pPr lvl="0"/>
            <a:r>
              <a:rPr lang="en-US" dirty="0"/>
              <a:t>Picture</a:t>
            </a:r>
          </a:p>
        </p:txBody>
      </p:sp>
      <p:sp>
        <p:nvSpPr>
          <p:cNvPr id="26" name="Content Placeholder 15"/>
          <p:cNvSpPr>
            <a:spLocks noGrp="1"/>
          </p:cNvSpPr>
          <p:nvPr>
            <p:ph sz="quarter" idx="27" hasCustomPrompt="1"/>
          </p:nvPr>
        </p:nvSpPr>
        <p:spPr>
          <a:xfrm>
            <a:off x="4386899" y="2178680"/>
            <a:ext cx="1727200" cy="1042035"/>
          </a:xfrm>
        </p:spPr>
        <p:txBody>
          <a:bodyPr>
            <a:noAutofit/>
          </a:bodyPr>
          <a:lstStyle>
            <a:lvl1pPr marL="0" indent="0">
              <a:buNone/>
              <a:defRPr sz="2000"/>
            </a:lvl1pPr>
          </a:lstStyle>
          <a:p>
            <a:pPr lvl="0"/>
            <a:r>
              <a:rPr lang="en-US" dirty="0"/>
              <a:t>Picture</a:t>
            </a:r>
          </a:p>
        </p:txBody>
      </p:sp>
      <p:sp>
        <p:nvSpPr>
          <p:cNvPr id="27" name="Content Placeholder 15"/>
          <p:cNvSpPr>
            <a:spLocks noGrp="1"/>
          </p:cNvSpPr>
          <p:nvPr>
            <p:ph sz="quarter" idx="28" hasCustomPrompt="1"/>
          </p:nvPr>
        </p:nvSpPr>
        <p:spPr>
          <a:xfrm>
            <a:off x="6347779" y="2178680"/>
            <a:ext cx="1727200" cy="1042035"/>
          </a:xfrm>
        </p:spPr>
        <p:txBody>
          <a:bodyPr>
            <a:noAutofit/>
          </a:bodyPr>
          <a:lstStyle>
            <a:lvl1pPr marL="0" indent="0">
              <a:buNone/>
              <a:defRPr sz="2000"/>
            </a:lvl1pPr>
          </a:lstStyle>
          <a:p>
            <a:pPr lvl="0"/>
            <a:r>
              <a:rPr lang="en-US" dirty="0"/>
              <a:t>Picture</a:t>
            </a:r>
          </a:p>
        </p:txBody>
      </p:sp>
      <p:sp>
        <p:nvSpPr>
          <p:cNvPr id="28" name="Content Placeholder 15"/>
          <p:cNvSpPr>
            <a:spLocks noGrp="1"/>
          </p:cNvSpPr>
          <p:nvPr>
            <p:ph sz="quarter" idx="29" hasCustomPrompt="1"/>
          </p:nvPr>
        </p:nvSpPr>
        <p:spPr>
          <a:xfrm>
            <a:off x="8308659" y="2178680"/>
            <a:ext cx="1727200" cy="1042035"/>
          </a:xfrm>
        </p:spPr>
        <p:txBody>
          <a:bodyPr>
            <a:noAutofit/>
          </a:bodyPr>
          <a:lstStyle>
            <a:lvl1pPr marL="0" indent="0">
              <a:buNone/>
              <a:defRPr sz="2000"/>
            </a:lvl1pPr>
          </a:lstStyle>
          <a:p>
            <a:pPr lvl="0"/>
            <a:r>
              <a:rPr lang="en-US" dirty="0"/>
              <a:t>Picture</a:t>
            </a:r>
          </a:p>
        </p:txBody>
      </p:sp>
      <p:sp>
        <p:nvSpPr>
          <p:cNvPr id="29" name="Content Placeholder 15"/>
          <p:cNvSpPr>
            <a:spLocks noGrp="1"/>
          </p:cNvSpPr>
          <p:nvPr>
            <p:ph sz="quarter" idx="30" hasCustomPrompt="1"/>
          </p:nvPr>
        </p:nvSpPr>
        <p:spPr>
          <a:xfrm>
            <a:off x="10269538" y="2178680"/>
            <a:ext cx="1727200" cy="1042035"/>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369927273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strike="noStrike">
                <a:solidFill>
                  <a:srgbClr val="2F2F2F"/>
                </a:solidFill>
              </a:defRPr>
            </a:lvl1pPr>
          </a:lstStyle>
          <a:p>
            <a:r>
              <a:rPr lang="en-US" dirty="0"/>
              <a:t>Title</a:t>
            </a:r>
          </a:p>
        </p:txBody>
      </p:sp>
    </p:spTree>
    <p:extLst>
      <p:ext uri="{BB962C8B-B14F-4D97-AF65-F5344CB8AC3E}">
        <p14:creationId xmlns:p14="http://schemas.microsoft.com/office/powerpoint/2010/main" val="383256386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2"/>
        </a:solidFill>
        <a:effectLst/>
      </p:bgPr>
    </p:bg>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bg1"/>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1689345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42443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371503752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photo">
    <p:spTree>
      <p:nvGrpSpPr>
        <p:cNvPr id="1" name=""/>
        <p:cNvGrpSpPr/>
        <p:nvPr/>
      </p:nvGrpSpPr>
      <p:grpSpPr>
        <a:xfrm>
          <a:off x="0" y="0"/>
          <a:ext cx="0" cy="0"/>
          <a:chOff x="0" y="0"/>
          <a:chExt cx="0" cy="0"/>
        </a:xfrm>
      </p:grpSpPr>
      <p:pic>
        <p:nvPicPr>
          <p:cNvPr id="8" name="Picture 7" descr="A picture containing indoor, wall, person, table&#10;&#10;Description generated with very high confidence">
            <a:extLst>
              <a:ext uri="{FF2B5EF4-FFF2-40B4-BE49-F238E27FC236}">
                <a16:creationId xmlns:a16="http://schemas.microsoft.com/office/drawing/2014/main" id="{B8A2D951-EDA6-4EFB-9752-5BDDC09A6E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1942064" y="0"/>
            <a:ext cx="10494411" cy="6994525"/>
          </a:xfrm>
          <a:prstGeom prst="rect">
            <a:avLst/>
          </a:prstGeom>
        </p:spPr>
      </p:pic>
      <p:sp>
        <p:nvSpPr>
          <p:cNvPr id="4" name="Rectangle 3">
            <a:extLst>
              <a:ext uri="{FF2B5EF4-FFF2-40B4-BE49-F238E27FC236}">
                <a16:creationId xmlns:a16="http://schemas.microsoft.com/office/drawing/2014/main" id="{3C67E965-287F-42B7-813C-42EF173BF65D}"/>
              </a:ext>
            </a:extLst>
          </p:cNvPr>
          <p:cNvSpPr/>
          <p:nvPr userDrawn="1"/>
        </p:nvSpPr>
        <p:spPr bwMode="auto">
          <a:xfrm>
            <a:off x="0" y="-1"/>
            <a:ext cx="7940040" cy="6994525"/>
          </a:xfrm>
          <a:prstGeom prst="rect">
            <a:avLst/>
          </a:prstGeom>
          <a:gradFill>
            <a:gsLst>
              <a:gs pos="35000">
                <a:schemeClr val="tx2"/>
              </a:gs>
              <a:gs pos="100000">
                <a:schemeClr val="tx2">
                  <a:alpha val="0"/>
                </a:scheme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899478"/>
            <a:ext cx="7604125" cy="2701925"/>
          </a:xfrm>
          <a:noFill/>
        </p:spPr>
        <p:txBody>
          <a:bodyPr wrap="square" lIns="0" tIns="0" rIns="0" bIns="0" anchor="t" anchorCtr="0">
            <a:noAutofit/>
          </a:bodyPr>
          <a:lstStyle>
            <a:lvl1pPr>
              <a:lnSpc>
                <a:spcPts val="5600"/>
              </a:lnSpc>
              <a:defRPr sz="5400" spc="-150" baseline="0">
                <a:solidFill>
                  <a:schemeClr val="bg2"/>
                </a:solidFill>
              </a:defRPr>
            </a:lvl1pPr>
          </a:lstStyle>
          <a:p>
            <a:r>
              <a:rPr lang="en-US" dirty="0"/>
              <a:t>Section title</a:t>
            </a:r>
          </a:p>
        </p:txBody>
      </p:sp>
    </p:spTree>
    <p:extLst>
      <p:ext uri="{BB962C8B-B14F-4D97-AF65-F5344CB8AC3E}">
        <p14:creationId xmlns:p14="http://schemas.microsoft.com/office/powerpoint/2010/main" val="272884901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1</a:t>
            </a:r>
          </a:p>
        </p:txBody>
      </p:sp>
      <p:sp>
        <p:nvSpPr>
          <p:cNvPr id="4" name="Picture Placeholder 3"/>
          <p:cNvSpPr>
            <a:spLocks noGrp="1"/>
          </p:cNvSpPr>
          <p:nvPr>
            <p:ph type="pic" sz="quarter" idx="10"/>
          </p:nvPr>
        </p:nvSpPr>
        <p:spPr>
          <a:xfrm>
            <a:off x="6354763" y="0"/>
            <a:ext cx="6081712" cy="6994525"/>
          </a:xfrm>
          <a:blipFill dpi="0" rotWithShape="1">
            <a:blip r:embed="rId2" cstate="screen">
              <a:extLst>
                <a:ext uri="{28A0092B-C50C-407E-A947-70E740481C1C}">
                  <a14:useLocalDpi xmlns:a14="http://schemas.microsoft.com/office/drawing/2010/main"/>
                </a:ext>
              </a:extLst>
            </a:blip>
            <a:srcRect/>
            <a:tile tx="-1530350" ty="0" sx="66000" sy="66000" flip="none" algn="tl"/>
          </a:blipFill>
        </p:spPr>
        <p:txBody>
          <a:bodyPr anchor="ctr">
            <a:noAutofit/>
          </a:bodyPr>
          <a:lstStyle>
            <a:lvl1pPr marL="0" indent="0" algn="ctr">
              <a:buNone/>
              <a:defRPr>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24490109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4" name="Picture Placeholder 3" title="Drag photo"/>
          <p:cNvSpPr>
            <a:spLocks noGrp="1"/>
          </p:cNvSpPr>
          <p:nvPr>
            <p:ph type="pic" sz="quarter" idx="10" hasCustomPrompt="1"/>
          </p:nvPr>
        </p:nvSpPr>
        <p:spPr>
          <a:xfrm>
            <a:off x="465138" y="2168525"/>
            <a:ext cx="2734056" cy="4371975"/>
          </a:xfrm>
          <a:blipFill dpi="0" rotWithShape="1">
            <a:blip r:embed="rId2"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5" name="Picture Placeholder 3"/>
          <p:cNvSpPr>
            <a:spLocks noGrp="1"/>
          </p:cNvSpPr>
          <p:nvPr>
            <p:ph type="pic" sz="quarter" idx="11" hasCustomPrompt="1"/>
          </p:nvPr>
        </p:nvSpPr>
        <p:spPr>
          <a:xfrm>
            <a:off x="3397922" y="2168524"/>
            <a:ext cx="2734056" cy="4371975"/>
          </a:xfrm>
          <a:blipFill dpi="0" rotWithShape="1">
            <a:blip r:embed="rId3"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6" name="Picture Placeholder 3"/>
          <p:cNvSpPr>
            <a:spLocks noGrp="1"/>
          </p:cNvSpPr>
          <p:nvPr>
            <p:ph type="pic" sz="quarter" idx="12" hasCustomPrompt="1"/>
          </p:nvPr>
        </p:nvSpPr>
        <p:spPr>
          <a:xfrm>
            <a:off x="9263490" y="2168524"/>
            <a:ext cx="2734056" cy="4371975"/>
          </a:xfrm>
          <a:blipFill dpi="0" rotWithShape="1">
            <a:blip r:embed="rId4"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7" name="Picture Placeholder 3"/>
          <p:cNvSpPr>
            <a:spLocks noGrp="1"/>
          </p:cNvSpPr>
          <p:nvPr>
            <p:ph type="pic" sz="quarter" idx="13" hasCustomPrompt="1"/>
          </p:nvPr>
        </p:nvSpPr>
        <p:spPr>
          <a:xfrm>
            <a:off x="6330706" y="2168524"/>
            <a:ext cx="2734056" cy="4371975"/>
          </a:xfrm>
          <a:blipFill dpi="0" rotWithShape="1">
            <a:blip r:embed="rId5"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2</a:t>
            </a:r>
          </a:p>
        </p:txBody>
      </p:sp>
      <p:sp>
        <p:nvSpPr>
          <p:cNvPr id="17" name="Text Placeholder 16"/>
          <p:cNvSpPr>
            <a:spLocks noGrp="1"/>
          </p:cNvSpPr>
          <p:nvPr>
            <p:ph type="body" sz="quarter" idx="14" hasCustomPrompt="1"/>
          </p:nvPr>
        </p:nvSpPr>
        <p:spPr>
          <a:xfrm>
            <a:off x="465138"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8" name="Text Placeholder 16"/>
          <p:cNvSpPr>
            <a:spLocks noGrp="1"/>
          </p:cNvSpPr>
          <p:nvPr>
            <p:ph type="body" sz="quarter" idx="15" hasCustomPrompt="1"/>
          </p:nvPr>
        </p:nvSpPr>
        <p:spPr>
          <a:xfrm>
            <a:off x="3397922"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9" name="Text Placeholder 16"/>
          <p:cNvSpPr>
            <a:spLocks noGrp="1"/>
          </p:cNvSpPr>
          <p:nvPr>
            <p:ph type="body" sz="quarter" idx="16" hasCustomPrompt="1"/>
          </p:nvPr>
        </p:nvSpPr>
        <p:spPr>
          <a:xfrm>
            <a:off x="6330706"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20" name="Text Placeholder 16"/>
          <p:cNvSpPr>
            <a:spLocks noGrp="1"/>
          </p:cNvSpPr>
          <p:nvPr>
            <p:ph type="body" sz="quarter" idx="17" hasCustomPrompt="1"/>
          </p:nvPr>
        </p:nvSpPr>
        <p:spPr>
          <a:xfrm>
            <a:off x="9263490"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Tree>
    <p:extLst>
      <p:ext uri="{BB962C8B-B14F-4D97-AF65-F5344CB8AC3E}">
        <p14:creationId xmlns:p14="http://schemas.microsoft.com/office/powerpoint/2010/main" val="403992619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3">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465138" y="2168525"/>
            <a:ext cx="3690937" cy="2654300"/>
          </a:xfr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2" name="Picture Placeholder 10"/>
          <p:cNvSpPr>
            <a:spLocks noGrp="1"/>
          </p:cNvSpPr>
          <p:nvPr>
            <p:ph type="pic" sz="quarter" idx="15"/>
          </p:nvPr>
        </p:nvSpPr>
        <p:spPr>
          <a:xfrm>
            <a:off x="4389437" y="2168525"/>
            <a:ext cx="3679825" cy="2654300"/>
          </a:xfrm>
          <a:blipFill>
            <a:blip r:embed="rId3"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3" name="Picture Placeholder 10"/>
          <p:cNvSpPr>
            <a:spLocks noGrp="1"/>
          </p:cNvSpPr>
          <p:nvPr>
            <p:ph type="pic" sz="quarter" idx="16"/>
          </p:nvPr>
        </p:nvSpPr>
        <p:spPr>
          <a:xfrm>
            <a:off x="8302625" y="2168525"/>
            <a:ext cx="3695700" cy="2654300"/>
          </a:xfrm>
          <a:blipFill>
            <a:blip r:embed="rId4"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Photo layout 3</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152275358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65138" y="1919804"/>
            <a:ext cx="4853623" cy="615553"/>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pt-BR" dirty="0"/>
              <a:t>Subhead Segoe UI Regular 20/24. Em volor resequaectur.</a:t>
            </a:r>
            <a:endParaRPr lang="en-US" dirty="0"/>
          </a:p>
        </p:txBody>
      </p:sp>
      <p:sp>
        <p:nvSpPr>
          <p:cNvPr id="5" name="Text Placeholder 4"/>
          <p:cNvSpPr>
            <a:spLocks noGrp="1"/>
          </p:cNvSpPr>
          <p:nvPr>
            <p:ph type="body" sz="quarter" idx="11" hasCustomPrompt="1"/>
          </p:nvPr>
        </p:nvSpPr>
        <p:spPr>
          <a:xfrm>
            <a:off x="465139" y="2761498"/>
            <a:ext cx="4853622" cy="2818376"/>
          </a:xfrm>
        </p:spPr>
        <p:txBody>
          <a:bodyPr lIns="0" tIns="0" rIns="0" bIns="0"/>
          <a:lstStyle>
            <a:lvl1pPr marL="285750" indent="-285750">
              <a:lnSpc>
                <a:spcPts val="1800"/>
              </a:lnSpc>
              <a:spcBef>
                <a:spcPts val="0"/>
              </a:spcBef>
              <a:buFont typeface="Arial" panose="020B0604020202020204" pitchFamily="34" charset="0"/>
              <a:buChar char="•"/>
              <a:defRPr sz="1400" b="0" i="0">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276878009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2: two columns</a:t>
            </a:r>
          </a:p>
        </p:txBody>
      </p:sp>
      <p:sp>
        <p:nvSpPr>
          <p:cNvPr id="6" name="Text Placeholder 4"/>
          <p:cNvSpPr>
            <a:spLocks noGrp="1"/>
          </p:cNvSpPr>
          <p:nvPr>
            <p:ph type="body" sz="quarter" idx="11" hasCustomPrompt="1"/>
          </p:nvPr>
        </p:nvSpPr>
        <p:spPr>
          <a:xfrm>
            <a:off x="465139" y="1996440"/>
            <a:ext cx="1727200" cy="2817053"/>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7" name="Text Placeholder 4"/>
          <p:cNvSpPr>
            <a:spLocks noGrp="1"/>
          </p:cNvSpPr>
          <p:nvPr>
            <p:ph type="body" sz="quarter" idx="15" hasCustomPrompt="1"/>
          </p:nvPr>
        </p:nvSpPr>
        <p:spPr>
          <a:xfrm>
            <a:off x="2426019" y="1996440"/>
            <a:ext cx="1727200" cy="2817053"/>
          </a:xfrm>
        </p:spPr>
        <p:txBody>
          <a:bodyPr lIns="0" tIns="0" rIns="0" bIns="0"/>
          <a:lstStyle>
            <a:lvl1pPr marL="0" indent="0">
              <a:lnSpc>
                <a:spcPts val="1800"/>
              </a:lnSpc>
              <a:spcBef>
                <a:spcPts val="900"/>
              </a:spcBef>
              <a:buNone/>
              <a:defRPr lang="en-US" sz="1400" b="1" kern="1200" spc="0" baseline="0" dirty="0" smtClean="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Tree>
    <p:extLst>
      <p:ext uri="{BB962C8B-B14F-4D97-AF65-F5344CB8AC3E}">
        <p14:creationId xmlns:p14="http://schemas.microsoft.com/office/powerpoint/2010/main" val="299440277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3</a:t>
            </a:r>
          </a:p>
        </p:txBody>
      </p:sp>
    </p:spTree>
    <p:extLst>
      <p:ext uri="{BB962C8B-B14F-4D97-AF65-F5344CB8AC3E}">
        <p14:creationId xmlns:p14="http://schemas.microsoft.com/office/powerpoint/2010/main" val="358910059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65139" y="2168525"/>
            <a:ext cx="3690933" cy="3605213"/>
          </a:xfrm>
        </p:spPr>
        <p:txBody>
          <a:bodyPr anchor="ctr">
            <a:noAutofit/>
          </a:bodyPr>
          <a:lstStyle>
            <a:lvl1pPr marL="0" indent="0" algn="ctr">
              <a:buNone/>
              <a:defRPr sz="2400"/>
            </a:lvl1pPr>
          </a:lstStyle>
          <a:p>
            <a:r>
              <a:rPr lang="en-US"/>
              <a:t>Click icon to add chart</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Chart examples</a:t>
            </a:r>
          </a:p>
        </p:txBody>
      </p:sp>
      <p:sp>
        <p:nvSpPr>
          <p:cNvPr id="5" name="Text Placeholder 4"/>
          <p:cNvSpPr>
            <a:spLocks noGrp="1"/>
          </p:cNvSpPr>
          <p:nvPr>
            <p:ph type="body" sz="quarter" idx="11" hasCustomPrompt="1"/>
          </p:nvPr>
        </p:nvSpPr>
        <p:spPr>
          <a:xfrm>
            <a:off x="465138" y="5773736"/>
            <a:ext cx="3690937"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9" name="Text Placeholder 4"/>
          <p:cNvSpPr>
            <a:spLocks noGrp="1"/>
          </p:cNvSpPr>
          <p:nvPr>
            <p:ph type="body" sz="quarter" idx="12" hasCustomPrompt="1"/>
          </p:nvPr>
        </p:nvSpPr>
        <p:spPr>
          <a:xfrm>
            <a:off x="465135" y="5931090"/>
            <a:ext cx="3690937" cy="307777"/>
          </a:xfrm>
        </p:spPr>
        <p:txBody>
          <a:bodyPr lIns="0" tIns="0" rIns="0" bIns="0"/>
          <a:lstStyle>
            <a:lvl1pPr marL="0" indent="0">
              <a:lnSpc>
                <a:spcPts val="1200"/>
              </a:lnSpc>
              <a:spcBef>
                <a:spcPts val="900"/>
              </a:spcBef>
              <a:buFont typeface="Arial" panose="020B0604020202020204" pitchFamily="34" charset="0"/>
              <a:buNone/>
              <a:defRPr sz="1000" b="0" i="0">
                <a:solidFill>
                  <a:schemeClr val="tx1"/>
                </a:solidFill>
                <a:latin typeface="+mn-lt"/>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6" name="Text Placeholder 4"/>
          <p:cNvSpPr>
            <a:spLocks noGrp="1"/>
          </p:cNvSpPr>
          <p:nvPr>
            <p:ph type="body" sz="quarter" idx="17" hasCustomPrompt="1"/>
          </p:nvPr>
        </p:nvSpPr>
        <p:spPr>
          <a:xfrm>
            <a:off x="4389442" y="5773736"/>
            <a:ext cx="3679822"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7" name="Text Placeholder 4"/>
          <p:cNvSpPr>
            <a:spLocks noGrp="1"/>
          </p:cNvSpPr>
          <p:nvPr>
            <p:ph type="body" sz="quarter" idx="18" hasCustomPrompt="1"/>
          </p:nvPr>
        </p:nvSpPr>
        <p:spPr>
          <a:xfrm>
            <a:off x="4389438" y="5931090"/>
            <a:ext cx="3679825" cy="307777"/>
          </a:xfrm>
        </p:spPr>
        <p:txBody>
          <a:bodyPr vert="horz" wrap="square" lIns="0" tIns="0" rIns="0" bIns="0" rtlCol="0">
            <a:spAutoFit/>
          </a:bodyPr>
          <a:lstStyle>
            <a:lvl1pPr>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8" name="Text Placeholder 4"/>
          <p:cNvSpPr>
            <a:spLocks noGrp="1"/>
          </p:cNvSpPr>
          <p:nvPr>
            <p:ph type="body" sz="quarter" idx="19" hasCustomPrompt="1"/>
          </p:nvPr>
        </p:nvSpPr>
        <p:spPr>
          <a:xfrm>
            <a:off x="8302626" y="5773736"/>
            <a:ext cx="3702056"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9" name="Text Placeholder 4"/>
          <p:cNvSpPr>
            <a:spLocks noGrp="1"/>
          </p:cNvSpPr>
          <p:nvPr>
            <p:ph type="body" sz="quarter" idx="20" hasCustomPrompt="1"/>
          </p:nvPr>
        </p:nvSpPr>
        <p:spPr>
          <a:xfrm>
            <a:off x="8302625" y="5931090"/>
            <a:ext cx="3702053" cy="307777"/>
          </a:xfrm>
        </p:spPr>
        <p:txBody>
          <a:bodyPr vert="horz" wrap="square" lIns="0" tIns="0" rIns="0" bIns="0" rtlCol="0">
            <a:spAutoFit/>
          </a:bodyPr>
          <a:lstStyle>
            <a:lvl1pPr marL="463550" indent="-463550">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89438" y="2168525"/>
            <a:ext cx="3679825" cy="3605213"/>
          </a:xfrm>
        </p:spPr>
        <p:txBody>
          <a:bodyPr anchor="ctr">
            <a:noAutofit/>
          </a:bodyPr>
          <a:lstStyle>
            <a:lvl1pPr marL="0" indent="0" algn="ctr">
              <a:buNone/>
              <a:defRPr sz="2400"/>
            </a:lvl1pPr>
          </a:lstStyle>
          <a:p>
            <a:r>
              <a:rPr lang="en-US"/>
              <a:t>Click icon to add chart</a:t>
            </a:r>
            <a:endParaRPr lang="en-US" dirty="0"/>
          </a:p>
        </p:txBody>
      </p:sp>
      <p:sp>
        <p:nvSpPr>
          <p:cNvPr id="21" name="Chart Placeholder 6"/>
          <p:cNvSpPr>
            <a:spLocks noGrp="1"/>
          </p:cNvSpPr>
          <p:nvPr>
            <p:ph type="chart" sz="quarter" idx="23"/>
          </p:nvPr>
        </p:nvSpPr>
        <p:spPr>
          <a:xfrm>
            <a:off x="8302624" y="2168525"/>
            <a:ext cx="3695701" cy="3605213"/>
          </a:xfrm>
        </p:spPr>
        <p:txBody>
          <a:bodyPr anchor="ctr">
            <a:noAutofit/>
          </a:bodyPr>
          <a:lstStyle>
            <a:lvl1pPr marL="0" indent="0" algn="ctr">
              <a:buNone/>
              <a:defRPr sz="2400"/>
            </a:lvl1pPr>
          </a:lstStyle>
          <a:p>
            <a:r>
              <a:rPr lang="en-US"/>
              <a:t>Click icon to add chart</a:t>
            </a:r>
            <a:endParaRPr lang="en-US" dirty="0"/>
          </a:p>
        </p:txBody>
      </p:sp>
    </p:spTree>
    <p:extLst>
      <p:ext uri="{BB962C8B-B14F-4D97-AF65-F5344CB8AC3E}">
        <p14:creationId xmlns:p14="http://schemas.microsoft.com/office/powerpoint/2010/main" val="381132296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Table styling</a:t>
            </a:r>
          </a:p>
        </p:txBody>
      </p:sp>
      <p:sp>
        <p:nvSpPr>
          <p:cNvPr id="4" name="Table Placeholder 3"/>
          <p:cNvSpPr>
            <a:spLocks noGrp="1"/>
          </p:cNvSpPr>
          <p:nvPr>
            <p:ph type="tbl" sz="quarter" idx="10"/>
          </p:nvPr>
        </p:nvSpPr>
        <p:spPr>
          <a:xfrm>
            <a:off x="465138" y="2168525"/>
            <a:ext cx="11533187" cy="4371975"/>
          </a:xfrm>
        </p:spPr>
        <p:txBody>
          <a:bodyPr/>
          <a:lstStyle/>
          <a:p>
            <a:r>
              <a:rPr lang="en-US" dirty="0"/>
              <a:t>Click icon to add table</a:t>
            </a:r>
          </a:p>
        </p:txBody>
      </p:sp>
    </p:spTree>
    <p:extLst>
      <p:ext uri="{BB962C8B-B14F-4D97-AF65-F5344CB8AC3E}">
        <p14:creationId xmlns:p14="http://schemas.microsoft.com/office/powerpoint/2010/main" val="139930719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accent1"/>
                </a:solidFill>
              </a:defRPr>
            </a:lvl1pPr>
          </a:lstStyle>
          <a:p>
            <a:r>
              <a:rPr lang="en-US" dirty="0"/>
              <a:t>Thank you.</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3290855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2">
    <p:bg>
      <p:bgPr>
        <a:solidFill>
          <a:schemeClr val="tx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465139" y="449264"/>
            <a:ext cx="933131" cy="200341"/>
            <a:chOff x="465139" y="449264"/>
            <a:chExt cx="933131" cy="200341"/>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bg2"/>
                </a:solidFill>
              </a:defRPr>
            </a:lvl1pPr>
          </a:lstStyle>
          <a:p>
            <a:r>
              <a:rPr lang="en-US" dirty="0"/>
              <a:t>Thank you.</a:t>
            </a:r>
          </a:p>
        </p:txBody>
      </p:sp>
    </p:spTree>
    <p:extLst>
      <p:ext uri="{BB962C8B-B14F-4D97-AF65-F5344CB8AC3E}">
        <p14:creationId xmlns:p14="http://schemas.microsoft.com/office/powerpoint/2010/main" val="10720828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1"/>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Picture 7"/>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4400" y="633600"/>
            <a:ext cx="115752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Slide for Developer Code</a:t>
            </a:r>
          </a:p>
        </p:txBody>
      </p:sp>
      <p:sp>
        <p:nvSpPr>
          <p:cNvPr id="3" name="Rectangle 2"/>
          <p:cNvSpPr/>
          <p:nvPr userDrawn="1"/>
        </p:nvSpPr>
        <p:spPr bwMode="hidden">
          <a:xfrm>
            <a:off x="1" y="1178952"/>
            <a:ext cx="12436475" cy="5815573"/>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0" tIns="46630" rIns="46630" bIns="46630" numCol="1" spcCol="0" rtlCol="0" fromWordArt="0" anchor="ctr" anchorCtr="0" forceAA="0" compatLnSpc="1">
            <a:prstTxWarp prst="textNoShape">
              <a:avLst/>
            </a:prstTxWarp>
            <a:noAutofit/>
          </a:bodyPr>
          <a:lstStyle/>
          <a:p>
            <a:pPr algn="ctr" defTabSz="932290" fontAlgn="base">
              <a:spcBef>
                <a:spcPct val="0"/>
              </a:spcBef>
              <a:spcAft>
                <a:spcPct val="0"/>
              </a:spcAft>
            </a:pPr>
            <a:endParaRPr lang="en-US" sz="1836"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464400" y="1178952"/>
            <a:ext cx="11575200" cy="2658444"/>
          </a:xfrm>
        </p:spPr>
        <p:txBody>
          <a:bodyPr/>
          <a:lstStyle>
            <a:lvl1pPr marL="0" indent="0">
              <a:lnSpc>
                <a:spcPct val="95000"/>
              </a:lnSpc>
              <a:buNone/>
              <a:defRPr sz="3264">
                <a:gradFill>
                  <a:gsLst>
                    <a:gs pos="1250">
                      <a:srgbClr val="000000"/>
                    </a:gs>
                    <a:gs pos="100000">
                      <a:srgbClr val="000000"/>
                    </a:gs>
                  </a:gsLst>
                  <a:lin ang="5400000" scaled="0"/>
                </a:gradFill>
                <a:latin typeface="Consolas" pitchFamily="49" charset="0"/>
                <a:cs typeface="Consolas" pitchFamily="49" charset="0"/>
              </a:defRPr>
            </a:lvl1pPr>
            <a:lvl2pPr marL="34648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84492"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81440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50791"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1733220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464400" y="633600"/>
            <a:ext cx="115740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Click to edit Master title style</a:t>
            </a:r>
          </a:p>
        </p:txBody>
      </p:sp>
      <p:sp>
        <p:nvSpPr>
          <p:cNvPr id="6" name="Text Placeholder 5"/>
          <p:cNvSpPr>
            <a:spLocks noGrp="1"/>
          </p:cNvSpPr>
          <p:nvPr>
            <p:ph type="body" sz="quarter" idx="10"/>
          </p:nvPr>
        </p:nvSpPr>
        <p:spPr>
          <a:xfrm>
            <a:off x="464400" y="1212850"/>
            <a:ext cx="11574000" cy="1346522"/>
          </a:xfrm>
        </p:spPr>
        <p:txBody>
          <a:bodyPr/>
          <a:lstStyle>
            <a:lvl1pPr marL="0" indent="0">
              <a:buNone/>
              <a:defRPr sz="2400">
                <a:solidFill>
                  <a:schemeClr val="tx2"/>
                </a:solidFill>
              </a:defRPr>
            </a:lvl1pPr>
            <a:lvl2pPr marL="0" indent="0">
              <a:buFontTx/>
              <a:buNone/>
              <a:defRPr sz="1400"/>
            </a:lvl2pPr>
            <a:lvl3pPr marL="228600" indent="0">
              <a:buNone/>
              <a:defRPr sz="1200"/>
            </a:lvl3pPr>
            <a:lvl4pPr marL="457200" indent="0">
              <a:buNone/>
              <a:defRPr sz="1100"/>
            </a:lvl4pPr>
            <a:lvl5pPr marL="685800" indent="0">
              <a:buNone/>
              <a:defRPr sz="105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4585901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4400" y="633600"/>
            <a:ext cx="115740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Click to edit Master title style</a:t>
            </a:r>
          </a:p>
        </p:txBody>
      </p:sp>
    </p:spTree>
    <p:extLst>
      <p:ext uri="{BB962C8B-B14F-4D97-AF65-F5344CB8AC3E}">
        <p14:creationId xmlns:p14="http://schemas.microsoft.com/office/powerpoint/2010/main" val="515024452"/>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4400" y="1212850"/>
            <a:ext cx="11574000" cy="1566583"/>
          </a:xfrm>
        </p:spPr>
        <p:txBody>
          <a:bodyPr>
            <a:spAutoFit/>
          </a:bodyPr>
          <a:lstStyle>
            <a:lvl1pPr>
              <a:defRPr sz="24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64400" y="633600"/>
            <a:ext cx="11574000" cy="410369"/>
          </a:xfrm>
        </p:spPr>
        <p:txBody>
          <a:bodyPr vert="horz" wrap="square" lIns="0" tIns="0" rIns="0" bIns="0" rtlCol="0" anchor="t">
            <a:spAutoFit/>
          </a:bodyPr>
          <a:lstStyle>
            <a:lvl1pPr>
              <a:defRPr lang="en-US" sz="2800">
                <a:solidFill>
                  <a:srgbClr val="2F2F2F"/>
                </a:solidFill>
              </a:defRPr>
            </a:lvl1pPr>
          </a:lstStyle>
          <a:p>
            <a:pPr lvl="0">
              <a:lnSpc>
                <a:spcPts val="3200"/>
              </a:lnSpc>
            </a:pPr>
            <a:r>
              <a:rPr lang="en-US" dirty="0"/>
              <a:t>Click to edit Master title style</a:t>
            </a:r>
          </a:p>
        </p:txBody>
      </p:sp>
    </p:spTree>
    <p:extLst>
      <p:ext uri="{BB962C8B-B14F-4D97-AF65-F5344CB8AC3E}">
        <p14:creationId xmlns:p14="http://schemas.microsoft.com/office/powerpoint/2010/main" val="243925009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a:xfrm rot="5400000">
            <a:off x="9363858" y="3071982"/>
            <a:ext cx="6995160" cy="849926"/>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24" r:id="rId1"/>
    <p:sldLayoutId id="2147484525" r:id="rId2"/>
    <p:sldLayoutId id="2147484526" r:id="rId3"/>
    <p:sldLayoutId id="2147484240" r:id="rId4"/>
    <p:sldLayoutId id="2147484529" r:id="rId5"/>
    <p:sldLayoutId id="2147484530" r:id="rId6"/>
    <p:sldLayoutId id="2147484531" r:id="rId7"/>
    <p:sldLayoutId id="2147484532" r:id="rId8"/>
    <p:sldLayoutId id="2147484533" r:id="rId9"/>
    <p:sldLayoutId id="2147484535" r:id="rId10"/>
    <p:sldLayoutId id="2147484251" r:id="rId11"/>
    <p:sldLayoutId id="2147484548" r:id="rId12"/>
    <p:sldLayoutId id="2147484536" r:id="rId13"/>
    <p:sldLayoutId id="2147484264" r:id="rId14"/>
    <p:sldLayoutId id="2147484537" r:id="rId15"/>
    <p:sldLayoutId id="2147484538" r:id="rId16"/>
    <p:sldLayoutId id="2147484539" r:id="rId17"/>
    <p:sldLayoutId id="2147484540" r:id="rId18"/>
    <p:sldLayoutId id="2147484541" r:id="rId19"/>
    <p:sldLayoutId id="2147484542" r:id="rId20"/>
    <p:sldLayoutId id="2147484543" r:id="rId21"/>
    <p:sldLayoutId id="2147484544" r:id="rId22"/>
    <p:sldLayoutId id="2147484545" r:id="rId23"/>
    <p:sldLayoutId id="2147484546" r:id="rId24"/>
    <p:sldLayoutId id="2147484299" r:id="rId25"/>
    <p:sldLayoutId id="2147484552" r:id="rId26"/>
    <p:sldLayoutId id="2147484556" r:id="rId27"/>
    <p:sldLayoutId id="2147484557" r:id="rId28"/>
    <p:sldLayoutId id="2147484559" r:id="rId29"/>
  </p:sldLayoutIdLst>
  <p:transition>
    <p:fade/>
  </p:transition>
  <p:txStyles>
    <p:titleStyle>
      <a:lvl1pPr algn="l" defTabSz="932742" rtl="0" eaLnBrk="1" latinLnBrk="0" hangingPunct="1">
        <a:lnSpc>
          <a:spcPct val="90000"/>
        </a:lnSpc>
        <a:spcBef>
          <a:spcPct val="0"/>
        </a:spcBef>
        <a:buNone/>
        <a:defRPr lang="en-US" sz="4800" b="0" kern="1200" cap="none" spc="-1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81" userDrawn="1">
          <p15:clr>
            <a:srgbClr val="C35EA4"/>
          </p15:clr>
        </p15:guide>
        <p15:guide id="4" pos="1528" userDrawn="1">
          <p15:clr>
            <a:srgbClr val="C35EA4"/>
          </p15:clr>
        </p15:guide>
        <p15:guide id="5" pos="2618" userDrawn="1">
          <p15:clr>
            <a:srgbClr val="C35EA4"/>
          </p15:clr>
        </p15:guide>
        <p15:guide id="6" pos="2765" userDrawn="1">
          <p15:clr>
            <a:srgbClr val="C35EA4"/>
          </p15:clr>
        </p15:guide>
        <p15:guide id="7" pos="3854" userDrawn="1">
          <p15:clr>
            <a:srgbClr val="C35EA4"/>
          </p15:clr>
        </p15:guide>
        <p15:guide id="8" pos="4003" userDrawn="1">
          <p15:clr>
            <a:srgbClr val="C35EA4"/>
          </p15:clr>
        </p15:guide>
        <p15:guide id="9" pos="5083" userDrawn="1">
          <p15:clr>
            <a:srgbClr val="C35EA4"/>
          </p15:clr>
        </p15:guide>
        <p15:guide id="10" pos="5230" userDrawn="1">
          <p15:clr>
            <a:srgbClr val="C35EA4"/>
          </p15:clr>
        </p15:guide>
        <p15:guide id="11" pos="6323" userDrawn="1">
          <p15:clr>
            <a:srgbClr val="C35EA4"/>
          </p15:clr>
        </p15:guide>
        <p15:guide id="12" pos="6469" userDrawn="1">
          <p15:clr>
            <a:srgbClr val="C35EA4"/>
          </p15:clr>
        </p15:guide>
        <p15:guide id="16" pos="293" userDrawn="1">
          <p15:clr>
            <a:srgbClr val="F26B43"/>
          </p15:clr>
        </p15:guide>
        <p15:guide id="17" pos="7558" userDrawn="1">
          <p15:clr>
            <a:srgbClr val="F26B43"/>
          </p15:clr>
        </p15:guide>
        <p15:guide id="18" orient="horz" pos="751" userDrawn="1">
          <p15:clr>
            <a:srgbClr val="5ACBF0"/>
          </p15:clr>
        </p15:guide>
        <p15:guide id="19" orient="horz" pos="1366" userDrawn="1">
          <p15:clr>
            <a:srgbClr val="5ACBF0"/>
          </p15:clr>
        </p15:guide>
        <p15:guide id="20" orient="horz" pos="605" userDrawn="1">
          <p15:clr>
            <a:srgbClr val="5ACBF0"/>
          </p15:clr>
        </p15:guide>
        <p15:guide id="21" orient="horz" pos="1514" userDrawn="1">
          <p15:clr>
            <a:srgbClr val="5ACBF0"/>
          </p15:clr>
        </p15:guide>
        <p15:guide id="22" orient="horz" pos="2130" userDrawn="1">
          <p15:clr>
            <a:srgbClr val="5ACBF0"/>
          </p15:clr>
        </p15:guide>
        <p15:guide id="23" orient="horz" pos="2275" userDrawn="1">
          <p15:clr>
            <a:srgbClr val="5ACBF0"/>
          </p15:clr>
        </p15:guide>
        <p15:guide id="25" orient="horz" pos="283" userDrawn="1">
          <p15:clr>
            <a:srgbClr val="F26B43"/>
          </p15:clr>
        </p15:guide>
        <p15:guide id="26" orient="horz" pos="4120" userDrawn="1">
          <p15:clr>
            <a:srgbClr val="F26B43"/>
          </p15:clr>
        </p15:guide>
        <p15:guide id="27" orient="horz" pos="2891" userDrawn="1">
          <p15:clr>
            <a:srgbClr val="5ACBF0"/>
          </p15:clr>
        </p15:guide>
        <p15:guide id="28" orient="horz" pos="3038" userDrawn="1">
          <p15:clr>
            <a:srgbClr val="5ACBF0"/>
          </p15:clr>
        </p15:guide>
        <p15:guide id="29" orient="horz" pos="3654" userDrawn="1">
          <p15:clr>
            <a:srgbClr val="5ACBF0"/>
          </p15:clr>
        </p15:guide>
        <p15:guide id="30" orient="horz" pos="3800"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8.png"/><Relationship Id="rId11" Type="http://schemas.openxmlformats.org/officeDocument/2006/relationships/image" Target="../media/image23.tiff"/><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tiff"/><Relationship Id="rId9" Type="http://schemas.openxmlformats.org/officeDocument/2006/relationships/image" Target="../media/image21.tiff"/></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5.emf"/><Relationship Id="rId7" Type="http://schemas.openxmlformats.org/officeDocument/2006/relationships/image" Target="../media/image29.tiff"/><Relationship Id="rId12"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8.xml"/><Relationship Id="rId6" Type="http://schemas.openxmlformats.org/officeDocument/2006/relationships/image" Target="../media/image28.tiff"/><Relationship Id="rId11" Type="http://schemas.openxmlformats.org/officeDocument/2006/relationships/image" Target="../media/image22.png"/><Relationship Id="rId5" Type="http://schemas.openxmlformats.org/officeDocument/2006/relationships/image" Target="../media/image27.png"/><Relationship Id="rId10" Type="http://schemas.openxmlformats.org/officeDocument/2006/relationships/image" Target="../media/image16.tiff"/><Relationship Id="rId4" Type="http://schemas.openxmlformats.org/officeDocument/2006/relationships/image" Target="../media/image26.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30.tiff"/><Relationship Id="rId2" Type="http://schemas.openxmlformats.org/officeDocument/2006/relationships/notesSlide" Target="../notesSlides/notesSlide5.xml"/><Relationship Id="rId1" Type="http://schemas.openxmlformats.org/officeDocument/2006/relationships/slideLayout" Target="../slideLayouts/slideLayout29.xml"/><Relationship Id="rId4" Type="http://schemas.openxmlformats.org/officeDocument/2006/relationships/hyperlink" Target="https://nodejs.org/"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npmjs.com/" TargetMode="External"/><Relationship Id="rId2" Type="http://schemas.openxmlformats.org/officeDocument/2006/relationships/notesSlide" Target="../notesSlides/notesSlide6.xml"/><Relationship Id="rId1" Type="http://schemas.openxmlformats.org/officeDocument/2006/relationships/slideLayout" Target="../slideLayouts/slideLayout29.xml"/><Relationship Id="rId5" Type="http://schemas.openxmlformats.org/officeDocument/2006/relationships/image" Target="../media/image17.png"/><Relationship Id="rId4" Type="http://schemas.openxmlformats.org/officeDocument/2006/relationships/hyperlink" Target="https://www.nuget.or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9.xml"/><Relationship Id="rId4" Type="http://schemas.openxmlformats.org/officeDocument/2006/relationships/hyperlink" Target="http://yeoman.io/"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heft.rushstack.io/" TargetMode="External"/><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hyperlink" Target="https://www.typescriptlang.org/"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8" Type="http://schemas.openxmlformats.org/officeDocument/2006/relationships/hyperlink" Target="https://learn.microsoft.com/sharepoint/dev/spfx/set-up-your-development-environment" TargetMode="External"/><Relationship Id="rId3" Type="http://schemas.openxmlformats.org/officeDocument/2006/relationships/hyperlink" Target="https://nodejs.org/" TargetMode="External"/><Relationship Id="rId7" Type="http://schemas.openxmlformats.org/officeDocument/2006/relationships/hyperlink" Target="https://www.typescriptlang.org/"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hyperlink" Target="http://gulpjs.org/" TargetMode="External"/><Relationship Id="rId5" Type="http://schemas.openxmlformats.org/officeDocument/2006/relationships/hyperlink" Target="http://yeoman.io/" TargetMode="External"/><Relationship Id="rId4" Type="http://schemas.openxmlformats.org/officeDocument/2006/relationships/hyperlink" Target="https://www.npmjs.com/"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Configuring your </a:t>
            </a:r>
            <a:r>
              <a:rPr lang="en-US" dirty="0" err="1"/>
              <a:t>SPFx</a:t>
            </a:r>
            <a:r>
              <a:rPr lang="en-US" dirty="0"/>
              <a:t> Development Environment</a:t>
            </a:r>
          </a:p>
        </p:txBody>
      </p:sp>
      <p:sp>
        <p:nvSpPr>
          <p:cNvPr id="5" name="Text Placeholder 4"/>
          <p:cNvSpPr>
            <a:spLocks noGrp="1"/>
          </p:cNvSpPr>
          <p:nvPr>
            <p:ph type="body" sz="quarter" idx="12"/>
          </p:nvPr>
        </p:nvSpPr>
        <p:spPr/>
        <p:txBody>
          <a:bodyPr/>
          <a:lstStyle/>
          <a:p>
            <a:r>
              <a:rPr lang="en-US" dirty="0"/>
              <a:t>Understanding &amp; Installing the necessary tools</a:t>
            </a:r>
          </a:p>
        </p:txBody>
      </p:sp>
    </p:spTree>
    <p:extLst>
      <p:ext uri="{BB962C8B-B14F-4D97-AF65-F5344CB8AC3E}">
        <p14:creationId xmlns:p14="http://schemas.microsoft.com/office/powerpoint/2010/main" val="1999187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standing in a room&#10;&#10;Description generated with very high confidence">
            <a:extLst>
              <a:ext uri="{FF2B5EF4-FFF2-40B4-BE49-F238E27FC236}">
                <a16:creationId xmlns:a16="http://schemas.microsoft.com/office/drawing/2014/main" id="{297CE05B-2BFB-9245-A0F0-B1C807F7EA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42064" y="0"/>
            <a:ext cx="10494411" cy="6994525"/>
          </a:xfrm>
          <a:prstGeom prst="rect">
            <a:avLst/>
          </a:prstGeom>
        </p:spPr>
      </p:pic>
      <p:sp>
        <p:nvSpPr>
          <p:cNvPr id="7" name="Rectangle 6">
            <a:extLst>
              <a:ext uri="{FF2B5EF4-FFF2-40B4-BE49-F238E27FC236}">
                <a16:creationId xmlns:a16="http://schemas.microsoft.com/office/drawing/2014/main" id="{9A852F9E-D476-2648-BBF6-16FE76BAE418}"/>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p:cNvSpPr>
            <a:spLocks noGrp="1"/>
          </p:cNvSpPr>
          <p:nvPr>
            <p:ph type="title"/>
          </p:nvPr>
        </p:nvSpPr>
        <p:spPr>
          <a:xfrm>
            <a:off x="465138" y="960438"/>
            <a:ext cx="3722689" cy="917575"/>
          </a:xfrm>
        </p:spPr>
        <p:txBody>
          <a:bodyPr/>
          <a:lstStyle/>
          <a:p>
            <a:r>
              <a:rPr lang="en-US" sz="2800" dirty="0"/>
              <a:t>Configuring your </a:t>
            </a:r>
            <a:r>
              <a:rPr lang="en-US" sz="2800" dirty="0" err="1"/>
              <a:t>SPFx</a:t>
            </a:r>
            <a:r>
              <a:rPr lang="en-US" sz="2800" dirty="0"/>
              <a:t> Development Environment</a:t>
            </a:r>
          </a:p>
        </p:txBody>
      </p:sp>
      <p:sp>
        <p:nvSpPr>
          <p:cNvPr id="5" name="Text Placeholder 4"/>
          <p:cNvSpPr>
            <a:spLocks noGrp="1"/>
          </p:cNvSpPr>
          <p:nvPr>
            <p:ph type="body" sz="quarter" idx="10"/>
          </p:nvPr>
        </p:nvSpPr>
        <p:spPr>
          <a:xfrm>
            <a:off x="465138" y="2574721"/>
            <a:ext cx="3914774" cy="3862387"/>
          </a:xfrm>
        </p:spPr>
        <p:txBody>
          <a:bodyPr/>
          <a:lstStyle/>
          <a:p>
            <a:pPr>
              <a:spcBef>
                <a:spcPts val="1200"/>
              </a:spcBef>
            </a:pPr>
            <a:r>
              <a:rPr lang="en-US" sz="2000" dirty="0"/>
              <a:t>Tool Comparison:</a:t>
            </a:r>
          </a:p>
          <a:p>
            <a:pPr>
              <a:spcBef>
                <a:spcPts val="1200"/>
              </a:spcBef>
            </a:pPr>
            <a:r>
              <a:rPr lang="en-US" sz="2000" dirty="0"/>
              <a:t>	server-side vs. client-side</a:t>
            </a:r>
          </a:p>
          <a:p>
            <a:pPr>
              <a:spcBef>
                <a:spcPts val="1200"/>
              </a:spcBef>
            </a:pPr>
            <a:r>
              <a:rPr lang="en-US" sz="2000" dirty="0"/>
              <a:t>Node.js</a:t>
            </a:r>
          </a:p>
          <a:p>
            <a:pPr>
              <a:spcBef>
                <a:spcPts val="1200"/>
              </a:spcBef>
            </a:pPr>
            <a:r>
              <a:rPr lang="en-US" sz="2000" dirty="0"/>
              <a:t>NPM, Yeoman, Heft</a:t>
            </a:r>
          </a:p>
          <a:p>
            <a:pPr>
              <a:spcBef>
                <a:spcPts val="1200"/>
              </a:spcBef>
            </a:pPr>
            <a:r>
              <a:rPr lang="en-US" sz="2000" dirty="0"/>
              <a:t>TypeScript</a:t>
            </a:r>
          </a:p>
        </p:txBody>
      </p:sp>
    </p:spTree>
    <p:extLst>
      <p:ext uri="{BB962C8B-B14F-4D97-AF65-F5344CB8AC3E}">
        <p14:creationId xmlns:p14="http://schemas.microsoft.com/office/powerpoint/2010/main" val="36062552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D3738-85A7-7C40-8DA2-A4B0252B48A1}"/>
              </a:ext>
            </a:extLst>
          </p:cNvPr>
          <p:cNvSpPr>
            <a:spLocks noGrp="1"/>
          </p:cNvSpPr>
          <p:nvPr>
            <p:ph type="title"/>
          </p:nvPr>
        </p:nvSpPr>
        <p:spPr/>
        <p:txBody>
          <a:bodyPr/>
          <a:lstStyle/>
          <a:p>
            <a:r>
              <a:rPr lang="en-US" dirty="0"/>
              <a:t>Open source tooling</a:t>
            </a:r>
          </a:p>
        </p:txBody>
      </p:sp>
      <p:sp>
        <p:nvSpPr>
          <p:cNvPr id="3" name="Text Placeholder 2">
            <a:extLst>
              <a:ext uri="{FF2B5EF4-FFF2-40B4-BE49-F238E27FC236}">
                <a16:creationId xmlns:a16="http://schemas.microsoft.com/office/drawing/2014/main" id="{0EED46B7-3B43-6F44-B2BF-B488D951C689}"/>
              </a:ext>
            </a:extLst>
          </p:cNvPr>
          <p:cNvSpPr>
            <a:spLocks noGrp="1"/>
          </p:cNvSpPr>
          <p:nvPr>
            <p:ph type="body" sz="quarter" idx="10"/>
          </p:nvPr>
        </p:nvSpPr>
        <p:spPr>
          <a:xfrm>
            <a:off x="465138" y="1514451"/>
            <a:ext cx="7604125" cy="923330"/>
          </a:xfrm>
        </p:spPr>
        <p:txBody>
          <a:bodyPr/>
          <a:lstStyle/>
          <a:p>
            <a:r>
              <a:rPr lang="en-US" dirty="0"/>
              <a:t>SharePoint Framework leverages an open source, Node.js based toolchain and embraces all web frameworks + code editors</a:t>
            </a:r>
          </a:p>
        </p:txBody>
      </p:sp>
      <p:sp>
        <p:nvSpPr>
          <p:cNvPr id="4" name="Text Placeholder 3">
            <a:extLst>
              <a:ext uri="{FF2B5EF4-FFF2-40B4-BE49-F238E27FC236}">
                <a16:creationId xmlns:a16="http://schemas.microsoft.com/office/drawing/2014/main" id="{48FFB67D-BD61-0E43-BD70-43C598304F42}"/>
              </a:ext>
            </a:extLst>
          </p:cNvPr>
          <p:cNvSpPr>
            <a:spLocks noGrp="1"/>
          </p:cNvSpPr>
          <p:nvPr>
            <p:ph type="body" sz="quarter" idx="11"/>
          </p:nvPr>
        </p:nvSpPr>
        <p:spPr>
          <a:xfrm>
            <a:off x="465138" y="2808771"/>
            <a:ext cx="3690937" cy="3150478"/>
          </a:xfrm>
        </p:spPr>
        <p:txBody>
          <a:bodyPr/>
          <a:lstStyle/>
          <a:p>
            <a:r>
              <a:rPr lang="en-US" dirty="0"/>
              <a:t> Build Process &amp; Tooling</a:t>
            </a:r>
          </a:p>
          <a:p>
            <a:endParaRPr lang="en-US" dirty="0"/>
          </a:p>
          <a:p>
            <a:pPr lvl="1"/>
            <a:r>
              <a:rPr lang="en-US" dirty="0"/>
              <a:t>Yeoman Templates</a:t>
            </a:r>
          </a:p>
          <a:p>
            <a:pPr lvl="1"/>
            <a:r>
              <a:rPr lang="en-US" dirty="0"/>
              <a:t>Heft (task runner)</a:t>
            </a:r>
          </a:p>
          <a:p>
            <a:pPr lvl="1"/>
            <a:r>
              <a:rPr lang="en-US" dirty="0"/>
              <a:t>Node.js</a:t>
            </a:r>
          </a:p>
          <a:p>
            <a:pPr lvl="1"/>
            <a:r>
              <a:rPr lang="en-US" dirty="0" err="1"/>
              <a:t>npm</a:t>
            </a:r>
            <a:r>
              <a:rPr lang="en-US" dirty="0"/>
              <a:t> (package manager)</a:t>
            </a:r>
          </a:p>
          <a:p>
            <a:pPr lvl="1"/>
            <a:r>
              <a:rPr lang="en-US" dirty="0" err="1"/>
              <a:t>SystemJS</a:t>
            </a:r>
            <a:endParaRPr lang="en-US" dirty="0"/>
          </a:p>
          <a:p>
            <a:pPr lvl="1"/>
            <a:r>
              <a:rPr lang="en-US" dirty="0"/>
              <a:t>Webpack</a:t>
            </a:r>
          </a:p>
          <a:p>
            <a:pPr lvl="1"/>
            <a:r>
              <a:rPr lang="en-US" dirty="0"/>
              <a:t>SASS</a:t>
            </a:r>
          </a:p>
          <a:p>
            <a:pPr lvl="1"/>
            <a:r>
              <a:rPr lang="en-US" dirty="0"/>
              <a:t>TypeScript</a:t>
            </a:r>
            <a:br>
              <a:rPr lang="en-US" dirty="0"/>
            </a:br>
            <a:endParaRPr lang="en-US" dirty="0"/>
          </a:p>
        </p:txBody>
      </p:sp>
      <p:sp>
        <p:nvSpPr>
          <p:cNvPr id="5" name="Text Placeholder 4">
            <a:extLst>
              <a:ext uri="{FF2B5EF4-FFF2-40B4-BE49-F238E27FC236}">
                <a16:creationId xmlns:a16="http://schemas.microsoft.com/office/drawing/2014/main" id="{8E9FD6A8-B2F4-2E44-BD54-2472755508AE}"/>
              </a:ext>
            </a:extLst>
          </p:cNvPr>
          <p:cNvSpPr>
            <a:spLocks noGrp="1"/>
          </p:cNvSpPr>
          <p:nvPr>
            <p:ph type="body" sz="quarter" idx="12"/>
          </p:nvPr>
        </p:nvSpPr>
        <p:spPr>
          <a:xfrm>
            <a:off x="4399597" y="2818351"/>
            <a:ext cx="3669666" cy="2731517"/>
          </a:xfrm>
        </p:spPr>
        <p:txBody>
          <a:bodyPr/>
          <a:lstStyle/>
          <a:p>
            <a:r>
              <a:rPr lang="en-US" dirty="0"/>
              <a:t>Web Frameworks</a:t>
            </a:r>
          </a:p>
          <a:p>
            <a:endParaRPr lang="en-US" dirty="0"/>
          </a:p>
          <a:p>
            <a:pPr lvl="1"/>
            <a:r>
              <a:rPr lang="en-US" dirty="0"/>
              <a:t>React</a:t>
            </a:r>
          </a:p>
          <a:p>
            <a:pPr lvl="1"/>
            <a:r>
              <a:rPr lang="en-US" dirty="0"/>
              <a:t>Angular</a:t>
            </a:r>
          </a:p>
          <a:p>
            <a:pPr lvl="1"/>
            <a:r>
              <a:rPr lang="en-US" dirty="0"/>
              <a:t>Knockout</a:t>
            </a:r>
          </a:p>
          <a:p>
            <a:pPr lvl="1"/>
            <a:r>
              <a:rPr lang="en-US" dirty="0"/>
              <a:t>jQuery</a:t>
            </a:r>
          </a:p>
          <a:p>
            <a:pPr lvl="1"/>
            <a:r>
              <a:rPr lang="en-US" dirty="0"/>
              <a:t>… and more… your choice!</a:t>
            </a:r>
          </a:p>
        </p:txBody>
      </p:sp>
      <p:sp>
        <p:nvSpPr>
          <p:cNvPr id="6" name="Text Placeholder 5">
            <a:extLst>
              <a:ext uri="{FF2B5EF4-FFF2-40B4-BE49-F238E27FC236}">
                <a16:creationId xmlns:a16="http://schemas.microsoft.com/office/drawing/2014/main" id="{4E51DB93-3B70-CC4E-AF8E-6ADA870F2AF5}"/>
              </a:ext>
            </a:extLst>
          </p:cNvPr>
          <p:cNvSpPr>
            <a:spLocks noGrp="1"/>
          </p:cNvSpPr>
          <p:nvPr>
            <p:ph type="body" sz="quarter" idx="13"/>
          </p:nvPr>
        </p:nvSpPr>
        <p:spPr>
          <a:xfrm>
            <a:off x="8303577" y="2808771"/>
            <a:ext cx="3694748" cy="2731517"/>
          </a:xfrm>
        </p:spPr>
        <p:txBody>
          <a:bodyPr/>
          <a:lstStyle/>
          <a:p>
            <a:r>
              <a:rPr lang="en-US" dirty="0"/>
              <a:t>Code Editors</a:t>
            </a:r>
          </a:p>
          <a:p>
            <a:endParaRPr lang="en-US" dirty="0"/>
          </a:p>
          <a:p>
            <a:pPr lvl="1"/>
            <a:r>
              <a:rPr lang="en-US" dirty="0"/>
              <a:t>Visual Studio Code</a:t>
            </a:r>
          </a:p>
          <a:p>
            <a:pPr lvl="1"/>
            <a:r>
              <a:rPr lang="en-US" dirty="0"/>
              <a:t>Atom</a:t>
            </a:r>
          </a:p>
          <a:p>
            <a:pPr lvl="1"/>
            <a:r>
              <a:rPr lang="en-US" dirty="0"/>
              <a:t>Sublime</a:t>
            </a:r>
          </a:p>
          <a:p>
            <a:pPr lvl="1"/>
            <a:r>
              <a:rPr lang="en-US" dirty="0" err="1"/>
              <a:t>Webstorm</a:t>
            </a:r>
            <a:endParaRPr lang="en-US" dirty="0"/>
          </a:p>
          <a:p>
            <a:pPr lvl="1"/>
            <a:r>
              <a:rPr lang="en-US" dirty="0"/>
              <a:t>… and more… your choice!</a:t>
            </a:r>
          </a:p>
        </p:txBody>
      </p:sp>
      <p:pic>
        <p:nvPicPr>
          <p:cNvPr id="7" name="Picture 6">
            <a:extLst>
              <a:ext uri="{FF2B5EF4-FFF2-40B4-BE49-F238E27FC236}">
                <a16:creationId xmlns:a16="http://schemas.microsoft.com/office/drawing/2014/main" id="{602AF50E-2384-8C4B-A5A1-83E293A9F0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5282" y="2818351"/>
            <a:ext cx="1015974" cy="880149"/>
          </a:xfrm>
          <a:prstGeom prst="rect">
            <a:avLst/>
          </a:prstGeom>
        </p:spPr>
      </p:pic>
      <p:pic>
        <p:nvPicPr>
          <p:cNvPr id="9" name="Picture 8">
            <a:extLst>
              <a:ext uri="{FF2B5EF4-FFF2-40B4-BE49-F238E27FC236}">
                <a16:creationId xmlns:a16="http://schemas.microsoft.com/office/drawing/2014/main" id="{719FD20B-C4BB-7B45-A4DF-C7E5E640B19F}"/>
              </a:ext>
            </a:extLst>
          </p:cNvPr>
          <p:cNvPicPr>
            <a:picLocks noChangeAspect="1"/>
          </p:cNvPicPr>
          <p:nvPr/>
        </p:nvPicPr>
        <p:blipFill>
          <a:blip r:embed="rId4"/>
          <a:stretch>
            <a:fillRect/>
          </a:stretch>
        </p:blipFill>
        <p:spPr>
          <a:xfrm>
            <a:off x="2639444" y="5389638"/>
            <a:ext cx="1547650" cy="570187"/>
          </a:xfrm>
          <a:prstGeom prst="rect">
            <a:avLst/>
          </a:prstGeom>
        </p:spPr>
      </p:pic>
      <p:pic>
        <p:nvPicPr>
          <p:cNvPr id="10" name="Picture 4" descr="https://upload.wikimedia.org/wikipedia/commons/thumb/d/db/Npm-logo.svg/320px-Npm-logo.svg.png">
            <a:extLst>
              <a:ext uri="{FF2B5EF4-FFF2-40B4-BE49-F238E27FC236}">
                <a16:creationId xmlns:a16="http://schemas.microsoft.com/office/drawing/2014/main" id="{57374B63-39D7-CB40-A5D6-7365C91466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2701" y="4741534"/>
            <a:ext cx="1161136" cy="44994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red-badger.com/blog/wp-content/uploads/2015/04/react-logo-1000-transparent.png">
            <a:extLst>
              <a:ext uri="{FF2B5EF4-FFF2-40B4-BE49-F238E27FC236}">
                <a16:creationId xmlns:a16="http://schemas.microsoft.com/office/drawing/2014/main" id="{B7D6AB55-A8DB-8C42-9F23-65159DC14E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0489" y="3442104"/>
            <a:ext cx="821306" cy="82130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https://avatars0.githubusercontent.com/u/139426?v=3&amp;s=400">
            <a:extLst>
              <a:ext uri="{FF2B5EF4-FFF2-40B4-BE49-F238E27FC236}">
                <a16:creationId xmlns:a16="http://schemas.microsoft.com/office/drawing/2014/main" id="{DFC10F3A-0F5F-9E40-93A4-D9D9D68148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76770" y="4407162"/>
            <a:ext cx="668744" cy="66874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http://js.agency/assets/img/hire-freelance-javascript-developers/knockout-js.png">
            <a:extLst>
              <a:ext uri="{FF2B5EF4-FFF2-40B4-BE49-F238E27FC236}">
                <a16:creationId xmlns:a16="http://schemas.microsoft.com/office/drawing/2014/main" id="{616D25BE-2C11-C94D-B88A-CC1DFDA1CFF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a:stretch/>
        </p:blipFill>
        <p:spPr bwMode="auto">
          <a:xfrm>
            <a:off x="6353022" y="5219658"/>
            <a:ext cx="1716241" cy="73959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128482ED-BE2A-0D4E-8F67-7B04732EB533}"/>
              </a:ext>
            </a:extLst>
          </p:cNvPr>
          <p:cNvPicPr>
            <a:picLocks noChangeAspect="1"/>
          </p:cNvPicPr>
          <p:nvPr/>
        </p:nvPicPr>
        <p:blipFill>
          <a:blip r:embed="rId9"/>
          <a:stretch>
            <a:fillRect/>
          </a:stretch>
        </p:blipFill>
        <p:spPr>
          <a:xfrm>
            <a:off x="10639561" y="4176287"/>
            <a:ext cx="1563067" cy="329603"/>
          </a:xfrm>
          <a:prstGeom prst="rect">
            <a:avLst/>
          </a:prstGeom>
        </p:spPr>
      </p:pic>
      <p:pic>
        <p:nvPicPr>
          <p:cNvPr id="15" name="Picture 14">
            <a:extLst>
              <a:ext uri="{FF2B5EF4-FFF2-40B4-BE49-F238E27FC236}">
                <a16:creationId xmlns:a16="http://schemas.microsoft.com/office/drawing/2014/main" id="{DF5633EE-F38E-DA47-A816-8BB498580997}"/>
              </a:ext>
            </a:extLst>
          </p:cNvPr>
          <p:cNvPicPr>
            <a:picLocks noChangeAspect="1"/>
          </p:cNvPicPr>
          <p:nvPr/>
        </p:nvPicPr>
        <p:blipFill>
          <a:blip r:embed="rId10"/>
          <a:stretch>
            <a:fillRect/>
          </a:stretch>
        </p:blipFill>
        <p:spPr>
          <a:xfrm>
            <a:off x="10477298" y="3487918"/>
            <a:ext cx="1931896" cy="454563"/>
          </a:xfrm>
          <a:prstGeom prst="rect">
            <a:avLst/>
          </a:prstGeom>
        </p:spPr>
      </p:pic>
      <p:pic>
        <p:nvPicPr>
          <p:cNvPr id="16" name="Picture 15">
            <a:extLst>
              <a:ext uri="{FF2B5EF4-FFF2-40B4-BE49-F238E27FC236}">
                <a16:creationId xmlns:a16="http://schemas.microsoft.com/office/drawing/2014/main" id="{EE483E89-C500-A045-8EF3-97D01BC91768}"/>
              </a:ext>
            </a:extLst>
          </p:cNvPr>
          <p:cNvPicPr>
            <a:picLocks noChangeAspect="1"/>
          </p:cNvPicPr>
          <p:nvPr/>
        </p:nvPicPr>
        <p:blipFill>
          <a:blip r:embed="rId11"/>
          <a:stretch>
            <a:fillRect/>
          </a:stretch>
        </p:blipFill>
        <p:spPr>
          <a:xfrm>
            <a:off x="11072407" y="4772321"/>
            <a:ext cx="753481" cy="753481"/>
          </a:xfrm>
          <a:prstGeom prst="rect">
            <a:avLst/>
          </a:prstGeom>
        </p:spPr>
      </p:pic>
      <p:pic>
        <p:nvPicPr>
          <p:cNvPr id="17" name="Picture 16">
            <a:extLst>
              <a:ext uri="{FF2B5EF4-FFF2-40B4-BE49-F238E27FC236}">
                <a16:creationId xmlns:a16="http://schemas.microsoft.com/office/drawing/2014/main" id="{1E4C7AC4-5D15-A6EE-DC47-0E803C5803C7}"/>
              </a:ext>
            </a:extLst>
          </p:cNvPr>
          <p:cNvPicPr>
            <a:picLocks noChangeAspect="1"/>
          </p:cNvPicPr>
          <p:nvPr/>
        </p:nvPicPr>
        <p:blipFill>
          <a:blip r:embed="rId12"/>
          <a:stretch>
            <a:fillRect/>
          </a:stretch>
        </p:blipFill>
        <p:spPr>
          <a:xfrm>
            <a:off x="2930669" y="3715199"/>
            <a:ext cx="965200" cy="965200"/>
          </a:xfrm>
          <a:prstGeom prst="rect">
            <a:avLst/>
          </a:prstGeom>
        </p:spPr>
      </p:pic>
    </p:spTree>
    <p:extLst>
      <p:ext uri="{BB962C8B-B14F-4D97-AF65-F5344CB8AC3E}">
        <p14:creationId xmlns:p14="http://schemas.microsoft.com/office/powerpoint/2010/main" val="242388797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p:cNvGrpSpPr/>
          <p:nvPr/>
        </p:nvGrpSpPr>
        <p:grpSpPr>
          <a:xfrm>
            <a:off x="326270" y="1725946"/>
            <a:ext cx="2925293" cy="1079635"/>
            <a:chOff x="655637" y="2265226"/>
            <a:chExt cx="2925293" cy="1079635"/>
          </a:xfrm>
        </p:grpSpPr>
        <p:grpSp>
          <p:nvGrpSpPr>
            <p:cNvPr id="3" name="Group 2"/>
            <p:cNvGrpSpPr/>
            <p:nvPr/>
          </p:nvGrpSpPr>
          <p:grpSpPr>
            <a:xfrm>
              <a:off x="655637" y="2265226"/>
              <a:ext cx="1438895" cy="1079635"/>
              <a:chOff x="1140359" y="2157070"/>
              <a:chExt cx="1790492" cy="1239228"/>
            </a:xfrm>
          </p:grpSpPr>
          <p:sp>
            <p:nvSpPr>
              <p:cNvPr id="4" name="Rectangle 3"/>
              <p:cNvSpPr/>
              <p:nvPr/>
            </p:nvSpPr>
            <p:spPr bwMode="auto">
              <a:xfrm>
                <a:off x="1140359" y="2157070"/>
                <a:ext cx="1536519" cy="962937"/>
              </a:xfrm>
              <a:prstGeom prst="rect">
                <a:avLst/>
              </a:prstGeom>
              <a:solidFill>
                <a:schemeClr val="bg2">
                  <a:lumMod val="95000"/>
                </a:schemeClr>
              </a:solidFill>
              <a:ln>
                <a:solidFill>
                  <a:schemeClr val="bg1">
                    <a:lumMod val="7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defTabSz="914099" fontAlgn="base">
                  <a:spcBef>
                    <a:spcPct val="0"/>
                  </a:spcBef>
                  <a:spcAft>
                    <a:spcPct val="0"/>
                  </a:spcAft>
                </a:pPr>
                <a:r>
                  <a:rPr lang="en-US" sz="1400" b="1">
                    <a:solidFill>
                      <a:srgbClr val="2072B8"/>
                    </a:solidFill>
                    <a:ea typeface="Segoe UI" pitchFamily="34" charset="0"/>
                    <a:cs typeface="Segoe UI" pitchFamily="34" charset="0"/>
                  </a:rPr>
                  <a:t>IIS Express</a:t>
                </a:r>
              </a:p>
            </p:txBody>
          </p:sp>
          <p:pic>
            <p:nvPicPr>
              <p:cNvPr id="5" name="Picture 4"/>
              <p:cNvPicPr>
                <a:picLocks noChangeAspect="1"/>
              </p:cNvPicPr>
              <p:nvPr/>
            </p:nvPicPr>
            <p:blipFill>
              <a:blip r:embed="rId3"/>
              <a:stretch>
                <a:fillRect/>
              </a:stretch>
            </p:blipFill>
            <p:spPr>
              <a:xfrm>
                <a:off x="2158744" y="2496298"/>
                <a:ext cx="772107" cy="900000"/>
              </a:xfrm>
              <a:prstGeom prst="rect">
                <a:avLst/>
              </a:prstGeom>
            </p:spPr>
          </p:pic>
        </p:grpSp>
        <p:pic>
          <p:nvPicPr>
            <p:cNvPr id="6" name="Picture 2" descr="https://upload.wikimedia.org/wikipedia/en/0/0d/Microsoft_.NET_Framework_v4.5_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5237" y="2551101"/>
              <a:ext cx="1505693" cy="371833"/>
            </a:xfrm>
            <a:prstGeom prst="rect">
              <a:avLst/>
            </a:prstGeom>
            <a:noFill/>
            <a:extLst>
              <a:ext uri="{909E8E84-426E-40DD-AFC4-6F175D3DCCD1}">
                <a14:hiddenFill xmlns:a14="http://schemas.microsoft.com/office/drawing/2010/main">
                  <a:solidFill>
                    <a:srgbClr val="FFFFFF"/>
                  </a:solidFill>
                </a14:hiddenFill>
              </a:ext>
            </a:extLst>
          </p:spPr>
        </p:pic>
      </p:grpSp>
      <p:pic>
        <p:nvPicPr>
          <p:cNvPr id="7" name="Picture 6" descr="http://cdn.gapotchenko.com/website/Content/Blog/Images/2014/05/NuGet%20Logo%20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5841" y="1987167"/>
            <a:ext cx="1534966" cy="557193"/>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9564454" y="1857964"/>
            <a:ext cx="2366853" cy="815598"/>
            <a:chOff x="9672033" y="3490175"/>
            <a:chExt cx="2366853" cy="815598"/>
          </a:xfrm>
        </p:grpSpPr>
        <p:sp>
          <p:nvSpPr>
            <p:cNvPr id="10" name="Rectangle 9"/>
            <p:cNvSpPr/>
            <p:nvPr/>
          </p:nvSpPr>
          <p:spPr>
            <a:xfrm>
              <a:off x="10204889" y="3967219"/>
              <a:ext cx="1833997" cy="338554"/>
            </a:xfrm>
            <a:prstGeom prst="rect">
              <a:avLst/>
            </a:prstGeom>
          </p:spPr>
          <p:txBody>
            <a:bodyPr wrap="square">
              <a:spAutoFit/>
            </a:bodyPr>
            <a:lstStyle/>
            <a:p>
              <a:r>
                <a:rPr lang="en-US" sz="1600">
                  <a:solidFill>
                    <a:srgbClr val="5B318F"/>
                  </a:solidFill>
                  <a:sym typeface="Wingdings"/>
                </a:rPr>
                <a:t>Project Templates</a:t>
              </a:r>
              <a:endParaRPr lang="fi-FI" sz="1600">
                <a:solidFill>
                  <a:srgbClr val="5B318F"/>
                </a:solidFill>
              </a:endParaRPr>
            </a:p>
          </p:txBody>
        </p:sp>
        <p:pic>
          <p:nvPicPr>
            <p:cNvPr id="11" name="Picture 10"/>
            <p:cNvPicPr>
              <a:picLocks noChangeAspect="1"/>
            </p:cNvPicPr>
            <p:nvPr/>
          </p:nvPicPr>
          <p:blipFill>
            <a:blip r:embed="rId6"/>
            <a:stretch>
              <a:fillRect/>
            </a:stretch>
          </p:blipFill>
          <p:spPr>
            <a:xfrm>
              <a:off x="9672033" y="3490175"/>
              <a:ext cx="2366853" cy="661259"/>
            </a:xfrm>
            <a:prstGeom prst="rect">
              <a:avLst/>
            </a:prstGeom>
          </p:spPr>
        </p:pic>
      </p:grpSp>
      <p:pic>
        <p:nvPicPr>
          <p:cNvPr id="14" name="Picture 13"/>
          <p:cNvPicPr>
            <a:picLocks noChangeAspect="1"/>
          </p:cNvPicPr>
          <p:nvPr/>
        </p:nvPicPr>
        <p:blipFill>
          <a:blip r:embed="rId7"/>
          <a:stretch>
            <a:fillRect/>
          </a:stretch>
        </p:blipFill>
        <p:spPr>
          <a:xfrm>
            <a:off x="1356990" y="4998842"/>
            <a:ext cx="1175725" cy="633083"/>
          </a:xfrm>
          <a:prstGeom prst="rect">
            <a:avLst/>
          </a:prstGeom>
        </p:spPr>
      </p:pic>
      <p:pic>
        <p:nvPicPr>
          <p:cNvPr id="15" name="Picture 4" descr="https://upload.wikimedia.org/wikipedia/commons/thumb/d/db/Npm-logo.svg/320px-Npm-logo.svg.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15841" y="5061832"/>
            <a:ext cx="1503380" cy="58256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394701" y="4812318"/>
            <a:ext cx="1262944" cy="1094101"/>
          </a:xfrm>
          <a:prstGeom prst="rect">
            <a:avLst/>
          </a:prstGeom>
        </p:spPr>
      </p:pic>
      <p:pic>
        <p:nvPicPr>
          <p:cNvPr id="27" name="Picture 26"/>
          <p:cNvPicPr>
            <a:picLocks noChangeAspect="1"/>
          </p:cNvPicPr>
          <p:nvPr/>
        </p:nvPicPr>
        <p:blipFill>
          <a:blip r:embed="rId10">
            <a:clrChange>
              <a:clrFrom>
                <a:srgbClr val="FFFFFF"/>
              </a:clrFrom>
              <a:clrTo>
                <a:srgbClr val="FFFFFF">
                  <a:alpha val="0"/>
                </a:srgbClr>
              </a:clrTo>
            </a:clrChange>
          </a:blip>
          <a:stretch>
            <a:fillRect/>
          </a:stretch>
        </p:blipFill>
        <p:spPr>
          <a:xfrm>
            <a:off x="7716927" y="5061832"/>
            <a:ext cx="1648562" cy="607365"/>
          </a:xfrm>
          <a:prstGeom prst="rect">
            <a:avLst/>
          </a:prstGeom>
        </p:spPr>
      </p:pic>
      <p:cxnSp>
        <p:nvCxnSpPr>
          <p:cNvPr id="30" name="Straight Connector 29"/>
          <p:cNvCxnSpPr/>
          <p:nvPr/>
        </p:nvCxnSpPr>
        <p:spPr>
          <a:xfrm>
            <a:off x="322103" y="3822506"/>
            <a:ext cx="11584766" cy="0"/>
          </a:xfrm>
          <a:prstGeom prst="line">
            <a:avLst/>
          </a:prstGeom>
          <a:ln w="19050">
            <a:headEnd type="none"/>
            <a:tailEnd type="none"/>
          </a:ln>
        </p:spPr>
        <p:style>
          <a:lnRef idx="1">
            <a:schemeClr val="accent1"/>
          </a:lnRef>
          <a:fillRef idx="0">
            <a:schemeClr val="accent1"/>
          </a:fillRef>
          <a:effectRef idx="0">
            <a:schemeClr val="accent1"/>
          </a:effectRef>
          <a:fontRef idx="minor">
            <a:schemeClr val="tx1"/>
          </a:fontRef>
        </p:style>
      </p:cxnSp>
      <p:sp>
        <p:nvSpPr>
          <p:cNvPr id="8" name="Title 7"/>
          <p:cNvSpPr>
            <a:spLocks noGrp="1"/>
          </p:cNvSpPr>
          <p:nvPr>
            <p:ph type="title"/>
          </p:nvPr>
        </p:nvSpPr>
        <p:spPr>
          <a:xfrm>
            <a:off x="464400" y="633600"/>
            <a:ext cx="11574000" cy="387798"/>
          </a:xfrm>
        </p:spPr>
        <p:txBody>
          <a:bodyPr/>
          <a:lstStyle/>
          <a:p>
            <a:r>
              <a:rPr lang="en-US" dirty="0"/>
              <a:t>Server-side tool comparison</a:t>
            </a:r>
          </a:p>
        </p:txBody>
      </p:sp>
      <p:cxnSp>
        <p:nvCxnSpPr>
          <p:cNvPr id="17" name="Straight Connector 16"/>
          <p:cNvCxnSpPr/>
          <p:nvPr/>
        </p:nvCxnSpPr>
        <p:spPr>
          <a:xfrm>
            <a:off x="1965508" y="2910106"/>
            <a:ext cx="0" cy="1708219"/>
          </a:xfrm>
          <a:prstGeom prst="line">
            <a:avLst/>
          </a:prstGeom>
          <a:ln w="19050">
            <a:solidFill>
              <a:schemeClr val="tx1"/>
            </a:solidFill>
            <a:prstDash val="dash"/>
            <a:headEnd type="none"/>
            <a:tailEnd type="none"/>
          </a:ln>
        </p:spPr>
        <p:style>
          <a:lnRef idx="1">
            <a:schemeClr val="accent2"/>
          </a:lnRef>
          <a:fillRef idx="0">
            <a:schemeClr val="accent2"/>
          </a:fillRef>
          <a:effectRef idx="0">
            <a:schemeClr val="accent2"/>
          </a:effectRef>
          <a:fontRef idx="minor">
            <a:schemeClr val="tx1"/>
          </a:fontRef>
        </p:style>
      </p:cxnSp>
      <p:cxnSp>
        <p:nvCxnSpPr>
          <p:cNvPr id="35" name="Straight Connector 34"/>
          <p:cNvCxnSpPr/>
          <p:nvPr/>
        </p:nvCxnSpPr>
        <p:spPr>
          <a:xfrm>
            <a:off x="4467584" y="2910106"/>
            <a:ext cx="0" cy="1708219"/>
          </a:xfrm>
          <a:prstGeom prst="line">
            <a:avLst/>
          </a:prstGeom>
          <a:ln w="19050">
            <a:solidFill>
              <a:schemeClr val="tx1"/>
            </a:solidFill>
            <a:prstDash val="dash"/>
            <a:headEnd type="none"/>
            <a:tailEnd type="none"/>
          </a:ln>
        </p:spPr>
        <p:style>
          <a:lnRef idx="1">
            <a:schemeClr val="accent2"/>
          </a:lnRef>
          <a:fillRef idx="0">
            <a:schemeClr val="accent2"/>
          </a:fillRef>
          <a:effectRef idx="0">
            <a:schemeClr val="accent2"/>
          </a:effectRef>
          <a:fontRef idx="minor">
            <a:schemeClr val="tx1"/>
          </a:fontRef>
        </p:style>
      </p:cxnSp>
      <p:cxnSp>
        <p:nvCxnSpPr>
          <p:cNvPr id="36" name="Straight Connector 35"/>
          <p:cNvCxnSpPr/>
          <p:nvPr/>
        </p:nvCxnSpPr>
        <p:spPr>
          <a:xfrm>
            <a:off x="6600093" y="2910106"/>
            <a:ext cx="0" cy="1708219"/>
          </a:xfrm>
          <a:prstGeom prst="line">
            <a:avLst/>
          </a:prstGeom>
          <a:ln w="19050">
            <a:solidFill>
              <a:schemeClr val="tx1"/>
            </a:solidFill>
            <a:prstDash val="dash"/>
            <a:headEnd type="none"/>
            <a:tailEnd type="none"/>
          </a:ln>
        </p:spPr>
        <p:style>
          <a:lnRef idx="1">
            <a:schemeClr val="accent2"/>
          </a:lnRef>
          <a:fillRef idx="0">
            <a:schemeClr val="accent2"/>
          </a:fillRef>
          <a:effectRef idx="0">
            <a:schemeClr val="accent2"/>
          </a:effectRef>
          <a:fontRef idx="minor">
            <a:schemeClr val="tx1"/>
          </a:fontRef>
        </p:style>
      </p:cxnSp>
      <p:cxnSp>
        <p:nvCxnSpPr>
          <p:cNvPr id="37" name="Straight Connector 36"/>
          <p:cNvCxnSpPr/>
          <p:nvPr/>
        </p:nvCxnSpPr>
        <p:spPr>
          <a:xfrm>
            <a:off x="8541210" y="2924438"/>
            <a:ext cx="0" cy="1708219"/>
          </a:xfrm>
          <a:prstGeom prst="line">
            <a:avLst/>
          </a:prstGeom>
          <a:ln w="19050">
            <a:solidFill>
              <a:schemeClr val="tx1"/>
            </a:solidFill>
            <a:prstDash val="dash"/>
            <a:headEnd type="none"/>
            <a:tailEnd type="none"/>
          </a:ln>
        </p:spPr>
        <p:style>
          <a:lnRef idx="1">
            <a:schemeClr val="accent2"/>
          </a:lnRef>
          <a:fillRef idx="0">
            <a:schemeClr val="accent2"/>
          </a:fillRef>
          <a:effectRef idx="0">
            <a:schemeClr val="accent2"/>
          </a:effectRef>
          <a:fontRef idx="minor">
            <a:schemeClr val="tx1"/>
          </a:fontRef>
        </p:style>
      </p:cxnSp>
      <p:cxnSp>
        <p:nvCxnSpPr>
          <p:cNvPr id="38" name="Straight Connector 37"/>
          <p:cNvCxnSpPr/>
          <p:nvPr/>
        </p:nvCxnSpPr>
        <p:spPr>
          <a:xfrm>
            <a:off x="11026173" y="2910106"/>
            <a:ext cx="0" cy="1708219"/>
          </a:xfrm>
          <a:prstGeom prst="line">
            <a:avLst/>
          </a:prstGeom>
          <a:ln w="19050">
            <a:solidFill>
              <a:schemeClr val="tx1"/>
            </a:solidFill>
            <a:prstDash val="dash"/>
            <a:headEnd type="none"/>
            <a:tailEnd type="none"/>
          </a:ln>
        </p:spPr>
        <p:style>
          <a:lnRef idx="1">
            <a:schemeClr val="accent2"/>
          </a:lnRef>
          <a:fillRef idx="0">
            <a:schemeClr val="accent2"/>
          </a:fillRef>
          <a:effectRef idx="0">
            <a:schemeClr val="accent2"/>
          </a:effectRef>
          <a:fontRef idx="minor">
            <a:schemeClr val="tx1"/>
          </a:fontRef>
        </p:style>
      </p:cxnSp>
      <p:sp>
        <p:nvSpPr>
          <p:cNvPr id="2" name="Rounded Rectangle 1"/>
          <p:cNvSpPr/>
          <p:nvPr/>
        </p:nvSpPr>
        <p:spPr bwMode="auto">
          <a:xfrm>
            <a:off x="5958946" y="1975047"/>
            <a:ext cx="1247245" cy="58143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000" b="1">
                <a:solidFill>
                  <a:sysClr val="windowText" lastClr="000000"/>
                </a:solidFill>
              </a:rPr>
              <a:t>MSBuild</a:t>
            </a:r>
          </a:p>
        </p:txBody>
      </p:sp>
      <p:sp>
        <p:nvSpPr>
          <p:cNvPr id="31" name="TextBox 30"/>
          <p:cNvSpPr txBox="1"/>
          <p:nvPr/>
        </p:nvSpPr>
        <p:spPr>
          <a:xfrm>
            <a:off x="7938158" y="1744082"/>
            <a:ext cx="1206099" cy="1043363"/>
          </a:xfrm>
          <a:prstGeom prst="rect">
            <a:avLst/>
          </a:prstGeom>
          <a:noFill/>
        </p:spPr>
        <p:txBody>
          <a:bodyPr wrap="none" lIns="182880" tIns="146304" rIns="182880" bIns="146304" rtlCol="0">
            <a:spAutoFit/>
          </a:bodyPr>
          <a:lstStyle/>
          <a:p>
            <a:pPr>
              <a:lnSpc>
                <a:spcPct val="90000"/>
              </a:lnSpc>
              <a:spcAft>
                <a:spcPts val="600"/>
              </a:spcAft>
            </a:pPr>
            <a:r>
              <a:rPr lang="en-US" sz="5400" dirty="0">
                <a:solidFill>
                  <a:schemeClr val="tx2"/>
                </a:solidFill>
              </a:rPr>
              <a:t>C#</a:t>
            </a:r>
            <a:endParaRPr lang="fi-FI" sz="5400" dirty="0">
              <a:solidFill>
                <a:schemeClr val="tx2"/>
              </a:solidFill>
            </a:endParaRPr>
          </a:p>
        </p:txBody>
      </p:sp>
      <p:pic>
        <p:nvPicPr>
          <p:cNvPr id="29" name="Picture 28">
            <a:extLst>
              <a:ext uri="{FF2B5EF4-FFF2-40B4-BE49-F238E27FC236}">
                <a16:creationId xmlns:a16="http://schemas.microsoft.com/office/drawing/2014/main" id="{8FA694C3-1B6D-E041-B235-C27CF36CE428}"/>
              </a:ext>
            </a:extLst>
          </p:cNvPr>
          <p:cNvPicPr>
            <a:picLocks noChangeAspect="1"/>
          </p:cNvPicPr>
          <p:nvPr/>
        </p:nvPicPr>
        <p:blipFill>
          <a:blip r:embed="rId11"/>
          <a:stretch>
            <a:fillRect/>
          </a:stretch>
        </p:blipFill>
        <p:spPr>
          <a:xfrm>
            <a:off x="10082376" y="4290768"/>
            <a:ext cx="1887594" cy="444139"/>
          </a:xfrm>
          <a:prstGeom prst="rect">
            <a:avLst/>
          </a:prstGeom>
        </p:spPr>
      </p:pic>
      <p:pic>
        <p:nvPicPr>
          <p:cNvPr id="16" name="Picture 15">
            <a:extLst>
              <a:ext uri="{FF2B5EF4-FFF2-40B4-BE49-F238E27FC236}">
                <a16:creationId xmlns:a16="http://schemas.microsoft.com/office/drawing/2014/main" id="{53DF8353-F0A2-872D-4434-C8C6C6E60869}"/>
              </a:ext>
            </a:extLst>
          </p:cNvPr>
          <p:cNvPicPr>
            <a:picLocks noChangeAspect="1"/>
          </p:cNvPicPr>
          <p:nvPr/>
        </p:nvPicPr>
        <p:blipFill>
          <a:blip r:embed="rId12"/>
          <a:stretch>
            <a:fillRect/>
          </a:stretch>
        </p:blipFill>
        <p:spPr>
          <a:xfrm>
            <a:off x="6117493" y="4826502"/>
            <a:ext cx="965200" cy="965200"/>
          </a:xfrm>
          <a:prstGeom prst="rect">
            <a:avLst/>
          </a:prstGeom>
        </p:spPr>
      </p:pic>
    </p:spTree>
    <p:extLst>
      <p:ext uri="{BB962C8B-B14F-4D97-AF65-F5344CB8AC3E}">
        <p14:creationId xmlns:p14="http://schemas.microsoft.com/office/powerpoint/2010/main" val="1869246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42" presetClass="path" presetSubtype="0" decel="100000" fill="hold" grpId="1" nodeType="withEffect">
                                  <p:stCondLst>
                                    <p:cond delay="0"/>
                                  </p:stCondLst>
                                  <p:childTnLst>
                                    <p:animMotion origin="layout" path="M -6.38244E-7 -0.07784 L -6.38244E-7 4.70268E-6 " pathEditMode="relative" rAng="0" ptsTypes="AA">
                                      <p:cBhvr>
                                        <p:cTn id="9" dur="500" fill="hold"/>
                                        <p:tgtEl>
                                          <p:spTgt spid="8"/>
                                        </p:tgtEl>
                                        <p:attrNameLst>
                                          <p:attrName>ppt_x</p:attrName>
                                          <p:attrName>ppt_y</p:attrName>
                                        </p:attrNameLst>
                                      </p:cBhvr>
                                      <p:rCtr x="0" y="3813"/>
                                    </p:animMotion>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500"/>
                                        <p:tgtEl>
                                          <p:spTgt spid="17"/>
                                        </p:tgtEl>
                                      </p:cBhvr>
                                    </p:animEffect>
                                  </p:childTnLst>
                                </p:cTn>
                              </p:par>
                              <p:par>
                                <p:cTn id="15" presetID="10"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par>
                                <p:cTn id="21" presetID="10" presetClass="entr" presetSubtype="0" fill="hold" nodeType="withEffect">
                                  <p:stCondLst>
                                    <p:cond delay="5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nodeType="withEffect">
                                  <p:stCondLst>
                                    <p:cond delay="500"/>
                                  </p:stCondLst>
                                  <p:childTnLst>
                                    <p:set>
                                      <p:cBhvr>
                                        <p:cTn id="25" dur="1" fill="hold">
                                          <p:stCondLst>
                                            <p:cond delay="0"/>
                                          </p:stCondLst>
                                        </p:cTn>
                                        <p:tgtEl>
                                          <p:spTgt spid="36"/>
                                        </p:tgtEl>
                                        <p:attrNameLst>
                                          <p:attrName>style.visibility</p:attrName>
                                        </p:attrNameLst>
                                      </p:cBhvr>
                                      <p:to>
                                        <p:strVal val="visible"/>
                                      </p:to>
                                    </p:set>
                                    <p:animEffect transition="in" filter="fade">
                                      <p:cBhvr>
                                        <p:cTn id="26" dur="500"/>
                                        <p:tgtEl>
                                          <p:spTgt spid="36"/>
                                        </p:tgtEl>
                                      </p:cBhvr>
                                    </p:animEffect>
                                  </p:childTnLst>
                                </p:cTn>
                              </p:par>
                              <p:par>
                                <p:cTn id="27" presetID="10" presetClass="entr" presetSubtype="0" fill="hold" nodeType="withEffect">
                                  <p:stCondLst>
                                    <p:cond delay="50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500"/>
                                        <p:tgtEl>
                                          <p:spTgt spid="37"/>
                                        </p:tgtEl>
                                      </p:cBhvr>
                                    </p:animEffect>
                                  </p:childTnLst>
                                </p:cTn>
                              </p:par>
                              <p:par>
                                <p:cTn id="30" presetID="10" presetClass="entr" presetSubtype="0" fill="hold" nodeType="withEffect">
                                  <p:stCondLst>
                                    <p:cond delay="50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par>
                                <p:cTn id="33" presetID="10" presetClass="entr" presetSubtype="0" fill="hold" nodeType="withEffect">
                                  <p:stCondLst>
                                    <p:cond delay="50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par>
                                <p:cTn id="36" presetID="10" presetClass="entr" presetSubtype="0" fill="hold" nodeType="withEffect">
                                  <p:stCondLst>
                                    <p:cond delay="50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2AC2C1-7743-C44B-A46E-01C1B8679308}"/>
              </a:ext>
            </a:extLst>
          </p:cNvPr>
          <p:cNvSpPr>
            <a:spLocks noGrp="1"/>
          </p:cNvSpPr>
          <p:nvPr>
            <p:ph type="body" sz="quarter" idx="10"/>
          </p:nvPr>
        </p:nvSpPr>
        <p:spPr>
          <a:xfrm>
            <a:off x="274638" y="1212850"/>
            <a:ext cx="11887200" cy="5053691"/>
          </a:xfrm>
        </p:spPr>
        <p:txBody>
          <a:bodyPr/>
          <a:lstStyle/>
          <a:p>
            <a:r>
              <a:rPr lang="en-US" dirty="0"/>
              <a:t>Cross platform JavaScript runtime</a:t>
            </a:r>
          </a:p>
          <a:p>
            <a:pPr lvl="1"/>
            <a:r>
              <a:rPr lang="en-US" dirty="0"/>
              <a:t>Similar to .NET Framework is a runtime for C# based projects</a:t>
            </a:r>
          </a:p>
          <a:p>
            <a:pPr lvl="1"/>
            <a:r>
              <a:rPr lang="en-US" dirty="0"/>
              <a:t>Used to execute JavaScript on the desktop / server / devices</a:t>
            </a:r>
          </a:p>
          <a:p>
            <a:pPr lvl="1"/>
            <a:r>
              <a:rPr lang="en-US" dirty="0"/>
              <a:t>API wrapper to Chromes V8 JavaScript engine</a:t>
            </a:r>
          </a:p>
          <a:p>
            <a:endParaRPr lang="en-US" dirty="0"/>
          </a:p>
          <a:p>
            <a:r>
              <a:rPr lang="en-US" dirty="0"/>
              <a:t>SPFx’s open-source tooling is built on Node.js</a:t>
            </a:r>
          </a:p>
          <a:p>
            <a:endParaRPr lang="en-US" dirty="0"/>
          </a:p>
          <a:p>
            <a:r>
              <a:rPr lang="en-US" dirty="0"/>
              <a:t>SPFx versions support specific Node.js LTS versions</a:t>
            </a:r>
          </a:p>
          <a:p>
            <a:pPr lvl="1"/>
            <a:r>
              <a:rPr lang="en-US" dirty="0"/>
              <a:t>LTS: Long term support</a:t>
            </a:r>
          </a:p>
          <a:p>
            <a:pPr lvl="1"/>
            <a:r>
              <a:rPr lang="en-US" dirty="0"/>
              <a:t>For example:</a:t>
            </a:r>
          </a:p>
          <a:p>
            <a:pPr lvl="2"/>
            <a:r>
              <a:rPr lang="en-US" dirty="0"/>
              <a:t>SPFx v1.19 &amp; v1.20 support Node.js v18</a:t>
            </a:r>
          </a:p>
          <a:p>
            <a:pPr lvl="2"/>
            <a:r>
              <a:rPr lang="en-US" dirty="0"/>
              <a:t>SPFx v1.21, v1.22, &amp; v1.12 support Node.js v22</a:t>
            </a:r>
          </a:p>
          <a:p>
            <a:pPr lvl="2"/>
            <a:r>
              <a:rPr lang="en-US" dirty="0"/>
              <a:t>SharePoint Server 2016 only supports SPFx v1.0 &amp; v1.1 which only support Node.js v6</a:t>
            </a:r>
          </a:p>
          <a:p>
            <a:pPr lvl="2"/>
            <a:r>
              <a:rPr lang="en-US" dirty="0"/>
              <a:t>SharePoint Server 2019 &amp; Subscription Edition support SPFx v1.4.1 &amp; Node.js v6 &amp; v8</a:t>
            </a:r>
          </a:p>
          <a:p>
            <a:pPr lvl="1"/>
            <a:r>
              <a:rPr lang="en-US" b="1" dirty="0"/>
              <a:t>Check the version of SPFx you’re using for the supported Node.js version</a:t>
            </a:r>
          </a:p>
        </p:txBody>
      </p:sp>
      <p:sp>
        <p:nvSpPr>
          <p:cNvPr id="3" name="Title 2">
            <a:extLst>
              <a:ext uri="{FF2B5EF4-FFF2-40B4-BE49-F238E27FC236}">
                <a16:creationId xmlns:a16="http://schemas.microsoft.com/office/drawing/2014/main" id="{1FB8A5DC-BC39-244C-9FCB-F55947AF85BF}"/>
              </a:ext>
            </a:extLst>
          </p:cNvPr>
          <p:cNvSpPr>
            <a:spLocks noGrp="1"/>
          </p:cNvSpPr>
          <p:nvPr>
            <p:ph type="title"/>
          </p:nvPr>
        </p:nvSpPr>
        <p:spPr/>
        <p:txBody>
          <a:bodyPr/>
          <a:lstStyle/>
          <a:p>
            <a:r>
              <a:rPr lang="en-US" dirty="0"/>
              <a:t>Node.js - Runtime</a:t>
            </a:r>
          </a:p>
        </p:txBody>
      </p:sp>
      <p:pic>
        <p:nvPicPr>
          <p:cNvPr id="4" name="Picture 3">
            <a:extLst>
              <a:ext uri="{FF2B5EF4-FFF2-40B4-BE49-F238E27FC236}">
                <a16:creationId xmlns:a16="http://schemas.microsoft.com/office/drawing/2014/main" id="{EC484D50-6B5A-0E40-A16A-DF5E8AA9BC5D}"/>
              </a:ext>
            </a:extLst>
          </p:cNvPr>
          <p:cNvPicPr>
            <a:picLocks noChangeAspect="1"/>
          </p:cNvPicPr>
          <p:nvPr/>
        </p:nvPicPr>
        <p:blipFill>
          <a:blip r:embed="rId3"/>
          <a:stretch>
            <a:fillRect/>
          </a:stretch>
        </p:blipFill>
        <p:spPr>
          <a:xfrm>
            <a:off x="9851573" y="633600"/>
            <a:ext cx="2310265" cy="1415241"/>
          </a:xfrm>
          <a:prstGeom prst="rect">
            <a:avLst/>
          </a:prstGeom>
        </p:spPr>
      </p:pic>
      <p:sp>
        <p:nvSpPr>
          <p:cNvPr id="5" name="Rectangle 4">
            <a:extLst>
              <a:ext uri="{FF2B5EF4-FFF2-40B4-BE49-F238E27FC236}">
                <a16:creationId xmlns:a16="http://schemas.microsoft.com/office/drawing/2014/main" id="{6C1E6618-CF81-9141-BA69-DB1DCF116137}"/>
              </a:ext>
            </a:extLst>
          </p:cNvPr>
          <p:cNvSpPr/>
          <p:nvPr/>
        </p:nvSpPr>
        <p:spPr>
          <a:xfrm>
            <a:off x="9956578" y="2116212"/>
            <a:ext cx="2100254" cy="369332"/>
          </a:xfrm>
          <a:prstGeom prst="rect">
            <a:avLst/>
          </a:prstGeom>
        </p:spPr>
        <p:txBody>
          <a:bodyPr wrap="none">
            <a:spAutoFit/>
          </a:bodyPr>
          <a:lstStyle/>
          <a:p>
            <a:pPr algn="ctr"/>
            <a:r>
              <a:rPr lang="fi-FI" dirty="0">
                <a:hlinkClick r:id="rId4"/>
              </a:rPr>
              <a:t>https://nodejs.org/</a:t>
            </a:r>
            <a:endParaRPr lang="fi-FI" dirty="0"/>
          </a:p>
        </p:txBody>
      </p:sp>
    </p:spTree>
    <p:extLst>
      <p:ext uri="{BB962C8B-B14F-4D97-AF65-F5344CB8AC3E}">
        <p14:creationId xmlns:p14="http://schemas.microsoft.com/office/powerpoint/2010/main" val="246218909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C6204A8D-57A9-EA4F-A26E-B5BB969BD16F}"/>
              </a:ext>
            </a:extLst>
          </p:cNvPr>
          <p:cNvSpPr>
            <a:spLocks noGrp="1"/>
          </p:cNvSpPr>
          <p:nvPr>
            <p:ph type="body" sz="quarter" idx="10"/>
          </p:nvPr>
        </p:nvSpPr>
        <p:spPr>
          <a:xfrm>
            <a:off x="274638" y="1212850"/>
            <a:ext cx="11887200" cy="3314754"/>
          </a:xfrm>
        </p:spPr>
        <p:txBody>
          <a:bodyPr/>
          <a:lstStyle/>
          <a:p>
            <a:r>
              <a:rPr lang="en-US" dirty="0" err="1"/>
              <a:t>npm</a:t>
            </a:r>
            <a:r>
              <a:rPr lang="en-US" dirty="0"/>
              <a:t> is a package manager for </a:t>
            </a:r>
            <a:br>
              <a:rPr lang="en-US" dirty="0"/>
            </a:br>
            <a:r>
              <a:rPr lang="en-US" dirty="0"/>
              <a:t>Node.js based projects</a:t>
            </a:r>
          </a:p>
          <a:p>
            <a:pPr lvl="1"/>
            <a:r>
              <a:rPr lang="en-US" dirty="0"/>
              <a:t>Similar to NuGet -.NET Framework’s package manager</a:t>
            </a:r>
          </a:p>
          <a:p>
            <a:endParaRPr lang="en-US" dirty="0"/>
          </a:p>
          <a:p>
            <a:r>
              <a:rPr lang="en-US" dirty="0"/>
              <a:t>Client tool used to acquire packages from the </a:t>
            </a:r>
            <a:br>
              <a:rPr lang="en-US" dirty="0"/>
            </a:br>
            <a:r>
              <a:rPr lang="en-US" dirty="0" err="1"/>
              <a:t>npm</a:t>
            </a:r>
            <a:r>
              <a:rPr lang="en-US" dirty="0"/>
              <a:t> registry: </a:t>
            </a:r>
            <a:r>
              <a:rPr lang="en-US" dirty="0">
                <a:hlinkClick r:id="rId3"/>
              </a:rPr>
              <a:t>https://www.npmjs.com</a:t>
            </a:r>
            <a:r>
              <a:rPr lang="en-US" dirty="0"/>
              <a:t> </a:t>
            </a:r>
          </a:p>
          <a:p>
            <a:pPr lvl="1"/>
            <a:r>
              <a:rPr lang="en-US" dirty="0"/>
              <a:t>Similar to NuGet, </a:t>
            </a:r>
            <a:r>
              <a:rPr lang="en-US" dirty="0" err="1"/>
              <a:t>thenclient</a:t>
            </a:r>
            <a:r>
              <a:rPr lang="en-US" dirty="0"/>
              <a:t> tool for the NuGet registry: </a:t>
            </a:r>
            <a:r>
              <a:rPr lang="en-US" dirty="0">
                <a:hlinkClick r:id="rId4"/>
              </a:rPr>
              <a:t>https://www.nuget.org</a:t>
            </a:r>
            <a:r>
              <a:rPr lang="en-US" dirty="0"/>
              <a:t> </a:t>
            </a:r>
          </a:p>
          <a:p>
            <a:pPr lvl="1"/>
            <a:endParaRPr lang="en-US" dirty="0"/>
          </a:p>
          <a:p>
            <a:r>
              <a:rPr lang="en-US" dirty="0"/>
              <a:t>Included with the default Node.js install</a:t>
            </a:r>
          </a:p>
        </p:txBody>
      </p:sp>
      <p:sp>
        <p:nvSpPr>
          <p:cNvPr id="2" name="Title 1"/>
          <p:cNvSpPr>
            <a:spLocks noGrp="1"/>
          </p:cNvSpPr>
          <p:nvPr>
            <p:ph type="title"/>
          </p:nvPr>
        </p:nvSpPr>
        <p:spPr>
          <a:xfrm>
            <a:off x="464400" y="633600"/>
            <a:ext cx="11574000" cy="387798"/>
          </a:xfrm>
        </p:spPr>
        <p:txBody>
          <a:bodyPr/>
          <a:lstStyle/>
          <a:p>
            <a:r>
              <a:rPr lang="en-US" dirty="0" err="1"/>
              <a:t>npm</a:t>
            </a:r>
            <a:r>
              <a:rPr lang="en-US" dirty="0"/>
              <a:t> – Node Package Manager</a:t>
            </a:r>
            <a:endParaRPr lang="fi-FI" dirty="0"/>
          </a:p>
        </p:txBody>
      </p:sp>
      <p:pic>
        <p:nvPicPr>
          <p:cNvPr id="4" name="Picture 4" descr="https://upload.wikimedia.org/wikipedia/commons/thumb/d/db/Npm-logo.svg/320px-Npm-logo.sv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82629" y="633600"/>
            <a:ext cx="2132387" cy="8263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612687" y="1519461"/>
            <a:ext cx="2672270" cy="369332"/>
          </a:xfrm>
          <a:prstGeom prst="rect">
            <a:avLst/>
          </a:prstGeom>
        </p:spPr>
        <p:txBody>
          <a:bodyPr wrap="none">
            <a:spAutoFit/>
          </a:bodyPr>
          <a:lstStyle/>
          <a:p>
            <a:pPr algn="ctr"/>
            <a:r>
              <a:rPr lang="fi-FI" dirty="0">
                <a:hlinkClick r:id="rId3"/>
              </a:rPr>
              <a:t>https://www.npmjs.com</a:t>
            </a:r>
            <a:r>
              <a:rPr lang="fi-FI" dirty="0"/>
              <a:t> </a:t>
            </a:r>
          </a:p>
        </p:txBody>
      </p:sp>
    </p:spTree>
    <p:extLst>
      <p:ext uri="{BB962C8B-B14F-4D97-AF65-F5344CB8AC3E}">
        <p14:creationId xmlns:p14="http://schemas.microsoft.com/office/powerpoint/2010/main" val="2205291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62170ACF-777C-B342-A28C-86C86793F29C}"/>
              </a:ext>
            </a:extLst>
          </p:cNvPr>
          <p:cNvSpPr>
            <a:spLocks noGrp="1"/>
          </p:cNvSpPr>
          <p:nvPr>
            <p:ph type="body" sz="quarter" idx="10"/>
          </p:nvPr>
        </p:nvSpPr>
        <p:spPr>
          <a:xfrm>
            <a:off x="274638" y="1212850"/>
            <a:ext cx="11887200" cy="2880789"/>
          </a:xfrm>
        </p:spPr>
        <p:txBody>
          <a:bodyPr/>
          <a:lstStyle/>
          <a:p>
            <a:r>
              <a:rPr lang="en-US" dirty="0"/>
              <a:t>Scaffolding engine that executes generators</a:t>
            </a:r>
          </a:p>
          <a:p>
            <a:r>
              <a:rPr lang="en-US" dirty="0"/>
              <a:t>Generators prompt user with questions</a:t>
            </a:r>
          </a:p>
          <a:p>
            <a:r>
              <a:rPr lang="en-US" dirty="0"/>
              <a:t>Generates project scaffolding (folders &amp; files) </a:t>
            </a:r>
            <a:br>
              <a:rPr lang="en-US" dirty="0"/>
            </a:br>
            <a:r>
              <a:rPr lang="en-US" dirty="0"/>
              <a:t>for projects</a:t>
            </a:r>
          </a:p>
          <a:p>
            <a:r>
              <a:rPr lang="en-US" dirty="0"/>
              <a:t>Microsoft provides SharePoint Framework generator</a:t>
            </a:r>
          </a:p>
          <a:p>
            <a:r>
              <a:rPr lang="en-US" dirty="0"/>
              <a:t>Installed on your dev environment with </a:t>
            </a:r>
            <a:r>
              <a:rPr lang="en-US" dirty="0" err="1"/>
              <a:t>npm</a:t>
            </a:r>
            <a:endParaRPr lang="fi-FI" dirty="0"/>
          </a:p>
          <a:p>
            <a:endParaRPr lang="en-US" dirty="0"/>
          </a:p>
        </p:txBody>
      </p:sp>
      <p:sp>
        <p:nvSpPr>
          <p:cNvPr id="2" name="Title 1"/>
          <p:cNvSpPr>
            <a:spLocks noGrp="1"/>
          </p:cNvSpPr>
          <p:nvPr>
            <p:ph type="title"/>
          </p:nvPr>
        </p:nvSpPr>
        <p:spPr/>
        <p:txBody>
          <a:bodyPr/>
          <a:lstStyle/>
          <a:p>
            <a:r>
              <a:rPr lang="en-US" dirty="0"/>
              <a:t>Yeoman – Project Scaffolding Generator</a:t>
            </a:r>
            <a:endParaRPr lang="fi-FI"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5767" y="633600"/>
            <a:ext cx="2362633" cy="2046773"/>
          </a:xfrm>
          <a:prstGeom prst="rect">
            <a:avLst/>
          </a:prstGeom>
        </p:spPr>
      </p:pic>
      <p:sp>
        <p:nvSpPr>
          <p:cNvPr id="8" name="Text Placeholder 4"/>
          <p:cNvSpPr txBox="1">
            <a:spLocks/>
          </p:cNvSpPr>
          <p:nvPr/>
        </p:nvSpPr>
        <p:spPr>
          <a:xfrm>
            <a:off x="274638" y="2781838"/>
            <a:ext cx="11887200" cy="2523768"/>
          </a:xfrm>
          <a:prstGeom prst="rect">
            <a:avLst/>
          </a:prstGeom>
        </p:spPr>
        <p:txBody>
          <a:bodyPr vert="horz" lIns="91440" tIns="45720" rIns="182880" bIns="45720" rtlCol="0" anchor="t"/>
          <a:lstStyle>
            <a:defPPr>
              <a:defRPr lang="en-US"/>
            </a:defPPr>
            <a:lvl1pPr marL="0" algn="r" defTabSz="932742" rtl="0" eaLnBrk="1" latinLnBrk="0" hangingPunct="1">
              <a:defRPr sz="1200" kern="1200">
                <a:solidFill>
                  <a:schemeClr val="tx1">
                    <a:tint val="75000"/>
                  </a:schemeClr>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342900" indent="-342900" algn="l">
              <a:lnSpc>
                <a:spcPct val="90000"/>
              </a:lnSpc>
              <a:spcBef>
                <a:spcPct val="20000"/>
              </a:spcBef>
              <a:buSzPct val="90000"/>
              <a:buFont typeface="Arial" pitchFamily="34" charset="0"/>
              <a:buChar char="•"/>
            </a:pPr>
            <a:endParaRPr lang="fi-FI" sz="4000" dirty="0">
              <a:gradFill>
                <a:gsLst>
                  <a:gs pos="92515">
                    <a:srgbClr val="262626"/>
                  </a:gs>
                  <a:gs pos="75000">
                    <a:srgbClr val="262626"/>
                  </a:gs>
                </a:gsLst>
                <a:lin ang="5400000" scaled="0"/>
              </a:gradFill>
              <a:latin typeface="+mj-lt"/>
            </a:endParaRPr>
          </a:p>
        </p:txBody>
      </p:sp>
      <p:sp>
        <p:nvSpPr>
          <p:cNvPr id="7" name="Rectangle 6"/>
          <p:cNvSpPr/>
          <p:nvPr/>
        </p:nvSpPr>
        <p:spPr>
          <a:xfrm>
            <a:off x="9886555" y="2641554"/>
            <a:ext cx="1951625" cy="369332"/>
          </a:xfrm>
          <a:prstGeom prst="rect">
            <a:avLst/>
          </a:prstGeom>
        </p:spPr>
        <p:txBody>
          <a:bodyPr wrap="none">
            <a:spAutoFit/>
          </a:bodyPr>
          <a:lstStyle/>
          <a:p>
            <a:pPr algn="ctr"/>
            <a:r>
              <a:rPr lang="fi-FI" dirty="0">
                <a:hlinkClick r:id="rId4"/>
              </a:rPr>
              <a:t>http://yeoman.io</a:t>
            </a:r>
            <a:r>
              <a:rPr lang="fi-FI" dirty="0"/>
              <a:t> </a:t>
            </a:r>
          </a:p>
        </p:txBody>
      </p:sp>
      <p:sp>
        <p:nvSpPr>
          <p:cNvPr id="15" name="Rectangle 2">
            <a:extLst>
              <a:ext uri="{FF2B5EF4-FFF2-40B4-BE49-F238E27FC236}">
                <a16:creationId xmlns:a16="http://schemas.microsoft.com/office/drawing/2014/main" id="{F34728EF-F7FD-8C47-8FF6-E84F085F43CC}"/>
              </a:ext>
            </a:extLst>
          </p:cNvPr>
          <p:cNvSpPr>
            <a:spLocks noChangeArrowheads="1"/>
          </p:cNvSpPr>
          <p:nvPr/>
        </p:nvSpPr>
        <p:spPr bwMode="auto">
          <a:xfrm>
            <a:off x="617244" y="5212256"/>
            <a:ext cx="9303300" cy="956773"/>
          </a:xfrm>
          <a:prstGeom prst="rect">
            <a:avLst/>
          </a:prstGeom>
          <a:solidFill>
            <a:schemeClr val="tx2"/>
          </a:solidFill>
          <a:ln>
            <a:noFill/>
          </a:ln>
          <a:effectLst/>
        </p:spPr>
        <p:txBody>
          <a:bodyPr vert="horz" wrap="square" lIns="180000" tIns="108000" rIns="180000" bIns="108000" numCol="1" anchor="ctr" anchorCtr="0" compatLnSpc="1">
            <a:prstTxWarp prst="textNoShape">
              <a:avLst/>
            </a:prstTxWarp>
            <a:spAutoFit/>
          </a:bodyPr>
          <a:lstStyle/>
          <a:p>
            <a:pPr defTabSz="914400" eaLnBrk="0" fontAlgn="base" hangingPunct="0">
              <a:spcBef>
                <a:spcPct val="0"/>
              </a:spcBef>
              <a:spcAft>
                <a:spcPct val="0"/>
              </a:spcAft>
            </a:pPr>
            <a:r>
              <a:rPr lang="sv-SE" altLang="en-US" sz="2400" dirty="0">
                <a:solidFill>
                  <a:schemeClr val="bg1"/>
                </a:solidFill>
                <a:latin typeface="Consolas" panose="020B0609020204030204" pitchFamily="49" charset="0"/>
                <a:cs typeface="Times New Roman" panose="02020603050405020304" pitchFamily="18" charset="0"/>
              </a:rPr>
              <a:t>npm </a:t>
            </a:r>
            <a:r>
              <a:rPr lang="sv-SE" altLang="en-US" sz="2400" dirty="0" err="1">
                <a:solidFill>
                  <a:schemeClr val="bg1"/>
                </a:solidFill>
                <a:latin typeface="Consolas" panose="020B0609020204030204" pitchFamily="49" charset="0"/>
                <a:cs typeface="Times New Roman" panose="02020603050405020304" pitchFamily="18" charset="0"/>
              </a:rPr>
              <a:t>install</a:t>
            </a:r>
            <a:r>
              <a:rPr lang="sv-SE" altLang="en-US" sz="2400" dirty="0">
                <a:solidFill>
                  <a:schemeClr val="bg1"/>
                </a:solidFill>
                <a:latin typeface="Consolas" panose="020B0609020204030204" pitchFamily="49" charset="0"/>
                <a:cs typeface="Times New Roman" panose="02020603050405020304" pitchFamily="18" charset="0"/>
              </a:rPr>
              <a:t> --global </a:t>
            </a:r>
            <a:r>
              <a:rPr lang="sv-SE" altLang="en-US" sz="2400" dirty="0" err="1">
                <a:solidFill>
                  <a:schemeClr val="bg1"/>
                </a:solidFill>
                <a:latin typeface="Consolas" panose="020B0609020204030204" pitchFamily="49" charset="0"/>
                <a:cs typeface="Times New Roman" panose="02020603050405020304" pitchFamily="18" charset="0"/>
              </a:rPr>
              <a:t>yo</a:t>
            </a:r>
            <a:endParaRPr lang="sv-SE" altLang="en-US" sz="2400" dirty="0">
              <a:solidFill>
                <a:schemeClr val="bg1"/>
              </a:solidFill>
              <a:latin typeface="Consolas" panose="020B0609020204030204" pitchFamily="49" charset="0"/>
              <a:cs typeface="Times New Roman" panose="02020603050405020304" pitchFamily="18" charset="0"/>
            </a:endParaRPr>
          </a:p>
          <a:p>
            <a:pPr defTabSz="914400" eaLnBrk="0" fontAlgn="base" hangingPunct="0">
              <a:spcBef>
                <a:spcPct val="0"/>
              </a:spcBef>
              <a:spcAft>
                <a:spcPct val="0"/>
              </a:spcAft>
            </a:pPr>
            <a:r>
              <a:rPr lang="sv-SE" altLang="en-US" sz="2400" dirty="0" err="1">
                <a:solidFill>
                  <a:schemeClr val="bg1"/>
                </a:solidFill>
                <a:latin typeface="Consolas" panose="020B0609020204030204" pitchFamily="49" charset="0"/>
                <a:cs typeface="Times New Roman" panose="02020603050405020304" pitchFamily="18" charset="0"/>
              </a:rPr>
              <a:t>npm</a:t>
            </a:r>
            <a:r>
              <a:rPr lang="sv-SE" altLang="en-US" sz="2400" dirty="0">
                <a:solidFill>
                  <a:schemeClr val="bg1"/>
                </a:solidFill>
                <a:latin typeface="Consolas" panose="020B0609020204030204" pitchFamily="49" charset="0"/>
                <a:cs typeface="Times New Roman" panose="02020603050405020304" pitchFamily="18" charset="0"/>
              </a:rPr>
              <a:t> </a:t>
            </a:r>
            <a:r>
              <a:rPr lang="sv-SE" altLang="en-US" sz="2400" dirty="0" err="1">
                <a:solidFill>
                  <a:schemeClr val="bg1"/>
                </a:solidFill>
                <a:latin typeface="Consolas" panose="020B0609020204030204" pitchFamily="49" charset="0"/>
                <a:cs typeface="Times New Roman" panose="02020603050405020304" pitchFamily="18" charset="0"/>
              </a:rPr>
              <a:t>install</a:t>
            </a:r>
            <a:r>
              <a:rPr lang="sv-SE" altLang="en-US" sz="2400" dirty="0">
                <a:solidFill>
                  <a:schemeClr val="bg1"/>
                </a:solidFill>
                <a:latin typeface="Consolas" panose="020B0609020204030204" pitchFamily="49" charset="0"/>
                <a:cs typeface="Times New Roman" panose="02020603050405020304" pitchFamily="18" charset="0"/>
              </a:rPr>
              <a:t> --global @</a:t>
            </a:r>
            <a:r>
              <a:rPr lang="sv-SE" altLang="en-US" sz="2400" dirty="0" err="1">
                <a:solidFill>
                  <a:schemeClr val="bg1"/>
                </a:solidFill>
                <a:latin typeface="Consolas" panose="020B0609020204030204" pitchFamily="49" charset="0"/>
                <a:cs typeface="Times New Roman" panose="02020603050405020304" pitchFamily="18" charset="0"/>
              </a:rPr>
              <a:t>microsoft</a:t>
            </a:r>
            <a:r>
              <a:rPr lang="sv-SE" altLang="en-US" sz="2400" dirty="0">
                <a:solidFill>
                  <a:schemeClr val="bg1"/>
                </a:solidFill>
                <a:latin typeface="Consolas" panose="020B0609020204030204" pitchFamily="49" charset="0"/>
                <a:cs typeface="Times New Roman" panose="02020603050405020304" pitchFamily="18" charset="0"/>
              </a:rPr>
              <a:t>/generator-</a:t>
            </a:r>
            <a:r>
              <a:rPr lang="sv-SE" altLang="en-US" sz="2400" dirty="0" err="1">
                <a:solidFill>
                  <a:schemeClr val="bg1"/>
                </a:solidFill>
                <a:latin typeface="Consolas" panose="020B0609020204030204" pitchFamily="49" charset="0"/>
                <a:cs typeface="Times New Roman" panose="02020603050405020304" pitchFamily="18" charset="0"/>
              </a:rPr>
              <a:t>sharepoint</a:t>
            </a:r>
            <a:endParaRPr lang="sv-SE" altLang="en-US" sz="2400" dirty="0">
              <a:solidFill>
                <a:schemeClr val="bg1"/>
              </a:solidFill>
              <a:latin typeface="Consolas" panose="020B0609020204030204" pitchFamily="49" charset="0"/>
              <a:cs typeface="Times New Roman" panose="02020603050405020304" pitchFamily="18" charset="0"/>
            </a:endParaRPr>
          </a:p>
        </p:txBody>
      </p:sp>
    </p:spTree>
    <p:extLst>
      <p:ext uri="{BB962C8B-B14F-4D97-AF65-F5344CB8AC3E}">
        <p14:creationId xmlns:p14="http://schemas.microsoft.com/office/powerpoint/2010/main" val="1401516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5381386-5852-4946-B49E-C43E71BE2505}"/>
              </a:ext>
            </a:extLst>
          </p:cNvPr>
          <p:cNvSpPr>
            <a:spLocks noGrp="1"/>
          </p:cNvSpPr>
          <p:nvPr>
            <p:ph type="body" sz="quarter" idx="10"/>
          </p:nvPr>
        </p:nvSpPr>
        <p:spPr>
          <a:xfrm>
            <a:off x="274638" y="1212850"/>
            <a:ext cx="11887200" cy="3490186"/>
          </a:xfrm>
        </p:spPr>
        <p:txBody>
          <a:bodyPr/>
          <a:lstStyle/>
          <a:p>
            <a:r>
              <a:rPr lang="en-US" dirty="0"/>
              <a:t>Heft is a task runner for projects</a:t>
            </a:r>
          </a:p>
          <a:p>
            <a:pPr lvl="1"/>
            <a:r>
              <a:rPr lang="en-US" dirty="0"/>
              <a:t>Similar to </a:t>
            </a:r>
            <a:r>
              <a:rPr lang="en-US" dirty="0" err="1"/>
              <a:t>MSBuild</a:t>
            </a:r>
            <a:r>
              <a:rPr lang="en-US" dirty="0"/>
              <a:t> - the .NET Framework task runner</a:t>
            </a:r>
          </a:p>
          <a:p>
            <a:r>
              <a:rPr lang="en-US" dirty="0"/>
              <a:t>Tasks are defined with JavaScript</a:t>
            </a:r>
          </a:p>
          <a:p>
            <a:pPr lvl="1"/>
            <a:r>
              <a:rPr lang="en-US" dirty="0"/>
              <a:t>Similar to </a:t>
            </a:r>
            <a:r>
              <a:rPr lang="en-US" dirty="0" err="1"/>
              <a:t>MSBuild</a:t>
            </a:r>
            <a:r>
              <a:rPr lang="en-US" dirty="0"/>
              <a:t> - tasks defined in XML</a:t>
            </a:r>
          </a:p>
          <a:p>
            <a:r>
              <a:rPr lang="en-US" dirty="0"/>
              <a:t>Performs common tasks: compile, package, </a:t>
            </a:r>
            <a:br>
              <a:rPr lang="en-US" dirty="0"/>
            </a:br>
            <a:r>
              <a:rPr lang="en-US" dirty="0"/>
              <a:t>start test process, etc.</a:t>
            </a:r>
          </a:p>
          <a:p>
            <a:r>
              <a:rPr lang="en-US" dirty="0"/>
              <a:t>Microsoft has created all required tasks</a:t>
            </a:r>
          </a:p>
          <a:p>
            <a:endParaRPr lang="en-US" i="1" dirty="0"/>
          </a:p>
          <a:p>
            <a:pPr marL="0" indent="0">
              <a:buNone/>
            </a:pPr>
            <a:r>
              <a:rPr lang="en-US" i="1" dirty="0"/>
              <a:t>Heft replaced Gulp as the task runner in SPFx v1.21</a:t>
            </a:r>
          </a:p>
        </p:txBody>
      </p:sp>
      <p:sp>
        <p:nvSpPr>
          <p:cNvPr id="2" name="Title 1"/>
          <p:cNvSpPr>
            <a:spLocks noGrp="1"/>
          </p:cNvSpPr>
          <p:nvPr>
            <p:ph type="title"/>
          </p:nvPr>
        </p:nvSpPr>
        <p:spPr>
          <a:xfrm>
            <a:off x="464400" y="633600"/>
            <a:ext cx="11574000" cy="387798"/>
          </a:xfrm>
        </p:spPr>
        <p:txBody>
          <a:bodyPr/>
          <a:lstStyle/>
          <a:p>
            <a:r>
              <a:rPr lang="en-US" dirty="0"/>
              <a:t>Heft – Task Runner</a:t>
            </a:r>
            <a:endParaRPr lang="fi-FI" dirty="0"/>
          </a:p>
        </p:txBody>
      </p:sp>
      <p:sp>
        <p:nvSpPr>
          <p:cNvPr id="11" name="Text Placeholder 4"/>
          <p:cNvSpPr txBox="1">
            <a:spLocks/>
          </p:cNvSpPr>
          <p:nvPr/>
        </p:nvSpPr>
        <p:spPr>
          <a:xfrm>
            <a:off x="274638" y="2781838"/>
            <a:ext cx="11887200" cy="2523768"/>
          </a:xfrm>
          <a:prstGeom prst="rect">
            <a:avLst/>
          </a:prstGeom>
        </p:spPr>
        <p:txBody>
          <a:bodyPr vert="horz" lIns="91440" tIns="45720" rIns="182880" bIns="45720" rtlCol="0" anchor="t"/>
          <a:lstStyle>
            <a:defPPr>
              <a:defRPr lang="en-US"/>
            </a:defPPr>
            <a:lvl1pPr marL="0" algn="r" defTabSz="932742" rtl="0" eaLnBrk="1" latinLnBrk="0" hangingPunct="1">
              <a:defRPr sz="1200" kern="1200">
                <a:solidFill>
                  <a:schemeClr val="tx1">
                    <a:tint val="75000"/>
                  </a:schemeClr>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342900" indent="-342900" algn="l">
              <a:lnSpc>
                <a:spcPct val="90000"/>
              </a:lnSpc>
              <a:spcBef>
                <a:spcPct val="20000"/>
              </a:spcBef>
              <a:buSzPct val="90000"/>
              <a:buFont typeface="Arial" pitchFamily="34" charset="0"/>
              <a:buChar char="•"/>
            </a:pPr>
            <a:endParaRPr lang="en-US" sz="4000" dirty="0">
              <a:gradFill>
                <a:gsLst>
                  <a:gs pos="92515">
                    <a:srgbClr val="262626"/>
                  </a:gs>
                  <a:gs pos="75000">
                    <a:srgbClr val="262626"/>
                  </a:gs>
                </a:gsLst>
                <a:lin ang="5400000" scaled="0"/>
              </a:gradFill>
              <a:latin typeface="+mj-lt"/>
            </a:endParaRPr>
          </a:p>
        </p:txBody>
      </p:sp>
      <p:sp>
        <p:nvSpPr>
          <p:cNvPr id="3" name="Rectangle 2"/>
          <p:cNvSpPr/>
          <p:nvPr/>
        </p:nvSpPr>
        <p:spPr>
          <a:xfrm>
            <a:off x="9658402" y="3247937"/>
            <a:ext cx="2745239" cy="369332"/>
          </a:xfrm>
          <a:prstGeom prst="rect">
            <a:avLst/>
          </a:prstGeom>
        </p:spPr>
        <p:txBody>
          <a:bodyPr wrap="none">
            <a:spAutoFit/>
          </a:bodyPr>
          <a:lstStyle/>
          <a:p>
            <a:pPr algn="ctr"/>
            <a:r>
              <a:rPr lang="fi-FI" dirty="0">
                <a:hlinkClick r:id="rId3"/>
              </a:rPr>
              <a:t>https://heft.rushstack.io/</a:t>
            </a:r>
            <a:r>
              <a:rPr lang="fi-FI" dirty="0"/>
              <a:t> </a:t>
            </a:r>
          </a:p>
        </p:txBody>
      </p:sp>
      <p:sp>
        <p:nvSpPr>
          <p:cNvPr id="15" name="Rectangle 2">
            <a:extLst>
              <a:ext uri="{FF2B5EF4-FFF2-40B4-BE49-F238E27FC236}">
                <a16:creationId xmlns:a16="http://schemas.microsoft.com/office/drawing/2014/main" id="{4F45946D-B91D-7E4B-BF61-757FB6638C32}"/>
              </a:ext>
            </a:extLst>
          </p:cNvPr>
          <p:cNvSpPr>
            <a:spLocks noChangeArrowheads="1"/>
          </p:cNvSpPr>
          <p:nvPr/>
        </p:nvSpPr>
        <p:spPr bwMode="auto">
          <a:xfrm>
            <a:off x="464400" y="5305605"/>
            <a:ext cx="8749906" cy="587441"/>
          </a:xfrm>
          <a:prstGeom prst="rect">
            <a:avLst/>
          </a:prstGeom>
          <a:solidFill>
            <a:schemeClr val="tx2"/>
          </a:solidFill>
          <a:ln>
            <a:noFill/>
          </a:ln>
          <a:effectLst/>
        </p:spPr>
        <p:txBody>
          <a:bodyPr vert="horz" wrap="square" lIns="180000" tIns="108000" rIns="180000" bIns="108000" numCol="1" anchor="ctr" anchorCtr="0" compatLnSpc="1">
            <a:prstTxWarp prst="textNoShape">
              <a:avLst/>
            </a:prstTxWarp>
            <a:spAutoFit/>
          </a:bodyPr>
          <a:lstStyle/>
          <a:p>
            <a:pPr defTabSz="914400" eaLnBrk="0" fontAlgn="base" hangingPunct="0">
              <a:spcBef>
                <a:spcPct val="0"/>
              </a:spcBef>
              <a:spcAft>
                <a:spcPct val="0"/>
              </a:spcAft>
            </a:pPr>
            <a:r>
              <a:rPr lang="sv-SE" altLang="en-US" sz="2400" dirty="0">
                <a:solidFill>
                  <a:schemeClr val="bg1"/>
                </a:solidFill>
                <a:latin typeface="Consolas" panose="020B0609020204030204" pitchFamily="49" charset="0"/>
                <a:cs typeface="Times New Roman" panose="02020603050405020304" pitchFamily="18" charset="0"/>
              </a:rPr>
              <a:t>npm </a:t>
            </a:r>
            <a:r>
              <a:rPr lang="sv-SE" altLang="en-US" sz="2400" dirty="0" err="1">
                <a:solidFill>
                  <a:schemeClr val="bg1"/>
                </a:solidFill>
                <a:latin typeface="Consolas" panose="020B0609020204030204" pitchFamily="49" charset="0"/>
                <a:cs typeface="Times New Roman" panose="02020603050405020304" pitchFamily="18" charset="0"/>
              </a:rPr>
              <a:t>install</a:t>
            </a:r>
            <a:r>
              <a:rPr lang="sv-SE" altLang="en-US" sz="2400" dirty="0">
                <a:solidFill>
                  <a:schemeClr val="bg1"/>
                </a:solidFill>
                <a:latin typeface="Consolas" panose="020B0609020204030204" pitchFamily="49" charset="0"/>
                <a:cs typeface="Times New Roman" panose="02020603050405020304" pitchFamily="18" charset="0"/>
              </a:rPr>
              <a:t> --global @rushstak/</a:t>
            </a:r>
            <a:r>
              <a:rPr lang="sv-SE" altLang="en-US" sz="2400" dirty="0" err="1">
                <a:solidFill>
                  <a:schemeClr val="bg1"/>
                </a:solidFill>
                <a:latin typeface="Consolas" panose="020B0609020204030204" pitchFamily="49" charset="0"/>
                <a:cs typeface="Times New Roman" panose="02020603050405020304" pitchFamily="18" charset="0"/>
              </a:rPr>
              <a:t>heft</a:t>
            </a:r>
            <a:endParaRPr lang="sv-SE" altLang="en-US" sz="2400" dirty="0">
              <a:solidFill>
                <a:schemeClr val="bg1"/>
              </a:solidFill>
              <a:latin typeface="Consolas" panose="020B0609020204030204" pitchFamily="49" charset="0"/>
              <a:cs typeface="Times New Roman" panose="02020603050405020304" pitchFamily="18" charset="0"/>
            </a:endParaRPr>
          </a:p>
        </p:txBody>
      </p:sp>
      <p:pic>
        <p:nvPicPr>
          <p:cNvPr id="5" name="Picture 4">
            <a:extLst>
              <a:ext uri="{FF2B5EF4-FFF2-40B4-BE49-F238E27FC236}">
                <a16:creationId xmlns:a16="http://schemas.microsoft.com/office/drawing/2014/main" id="{4136F69E-68D3-3CC3-3BD0-5BD84370CC28}"/>
              </a:ext>
            </a:extLst>
          </p:cNvPr>
          <p:cNvPicPr>
            <a:picLocks noChangeAspect="1"/>
          </p:cNvPicPr>
          <p:nvPr/>
        </p:nvPicPr>
        <p:blipFill>
          <a:blip r:embed="rId4"/>
          <a:stretch>
            <a:fillRect/>
          </a:stretch>
        </p:blipFill>
        <p:spPr>
          <a:xfrm>
            <a:off x="9832166" y="633600"/>
            <a:ext cx="2397710" cy="2397710"/>
          </a:xfrm>
          <a:prstGeom prst="rect">
            <a:avLst/>
          </a:prstGeom>
        </p:spPr>
      </p:pic>
    </p:spTree>
    <p:extLst>
      <p:ext uri="{BB962C8B-B14F-4D97-AF65-F5344CB8AC3E}">
        <p14:creationId xmlns:p14="http://schemas.microsoft.com/office/powerpoint/2010/main" val="3237345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274638" y="1212850"/>
            <a:ext cx="11325847" cy="5090624"/>
          </a:xfrm>
        </p:spPr>
        <p:txBody>
          <a:bodyPr/>
          <a:lstStyle/>
          <a:p>
            <a:r>
              <a:rPr lang="en-US" dirty="0"/>
              <a:t>Typed superset of JavaScript</a:t>
            </a:r>
          </a:p>
          <a:p>
            <a:r>
              <a:rPr lang="en-US" dirty="0"/>
              <a:t>Compiles to plain JavaScript</a:t>
            </a:r>
          </a:p>
          <a:p>
            <a:r>
              <a:rPr lang="en-US" dirty="0"/>
              <a:t>Development language for the base templates in </a:t>
            </a:r>
            <a:br>
              <a:rPr lang="en-US" dirty="0"/>
            </a:br>
            <a:r>
              <a:rPr lang="en-US" dirty="0"/>
              <a:t>SharePoint Framework projects</a:t>
            </a:r>
          </a:p>
          <a:p>
            <a:r>
              <a:rPr lang="en-US" dirty="0"/>
              <a:t>You can also integrate native JavaScript to SharePoint Framework customizations * </a:t>
            </a:r>
          </a:p>
          <a:p>
            <a:pPr lvl="1"/>
            <a:r>
              <a:rPr lang="en-US" dirty="0"/>
              <a:t>No need to rewrite everything</a:t>
            </a:r>
          </a:p>
          <a:p>
            <a:r>
              <a:rPr lang="en-US" dirty="0"/>
              <a:t>Version of TypeScript supported by </a:t>
            </a:r>
            <a:r>
              <a:rPr lang="en-US" dirty="0" err="1"/>
              <a:t>SPFx</a:t>
            </a:r>
            <a:br>
              <a:rPr lang="en-US" dirty="0"/>
            </a:br>
            <a:r>
              <a:rPr lang="en-US" dirty="0"/>
              <a:t>included in each </a:t>
            </a:r>
            <a:r>
              <a:rPr lang="en-US" dirty="0" err="1"/>
              <a:t>SPFx</a:t>
            </a:r>
            <a:r>
              <a:rPr lang="en-US" dirty="0"/>
              <a:t> project</a:t>
            </a:r>
            <a:endParaRPr lang="fi-FI" dirty="0"/>
          </a:p>
        </p:txBody>
      </p:sp>
      <p:sp>
        <p:nvSpPr>
          <p:cNvPr id="2" name="Title 1"/>
          <p:cNvSpPr>
            <a:spLocks noGrp="1"/>
          </p:cNvSpPr>
          <p:nvPr>
            <p:ph type="title"/>
          </p:nvPr>
        </p:nvSpPr>
        <p:spPr/>
        <p:txBody>
          <a:bodyPr/>
          <a:lstStyle/>
          <a:p>
            <a:r>
              <a:rPr lang="en-US" err="1"/>
              <a:t>TypeScript</a:t>
            </a:r>
            <a:r>
              <a:rPr lang="en-US"/>
              <a:t> – Typed JavaScript</a:t>
            </a:r>
            <a:endParaRPr lang="fi-FI"/>
          </a:p>
        </p:txBody>
      </p:sp>
      <p:pic>
        <p:nvPicPr>
          <p:cNvPr id="4" name="Picture 3"/>
          <p:cNvPicPr>
            <a:picLocks noChangeAspect="1"/>
          </p:cNvPicPr>
          <p:nvPr/>
        </p:nvPicPr>
        <p:blipFill>
          <a:blip r:embed="rId3"/>
          <a:stretch>
            <a:fillRect/>
          </a:stretch>
        </p:blipFill>
        <p:spPr>
          <a:xfrm>
            <a:off x="9319759" y="633600"/>
            <a:ext cx="2280726" cy="840268"/>
          </a:xfrm>
          <a:prstGeom prst="rect">
            <a:avLst/>
          </a:prstGeom>
        </p:spPr>
      </p:pic>
      <p:sp>
        <p:nvSpPr>
          <p:cNvPr id="3" name="Rectangle 2"/>
          <p:cNvSpPr/>
          <p:nvPr/>
        </p:nvSpPr>
        <p:spPr>
          <a:xfrm>
            <a:off x="8758406" y="1468896"/>
            <a:ext cx="3403432" cy="369332"/>
          </a:xfrm>
          <a:prstGeom prst="rect">
            <a:avLst/>
          </a:prstGeom>
        </p:spPr>
        <p:txBody>
          <a:bodyPr wrap="none">
            <a:spAutoFit/>
          </a:bodyPr>
          <a:lstStyle/>
          <a:p>
            <a:pPr algn="ctr"/>
            <a:r>
              <a:rPr lang="fi-FI" dirty="0">
                <a:hlinkClick r:id="rId4"/>
              </a:rPr>
              <a:t>https://www.typescriptlang.org</a:t>
            </a:r>
            <a:r>
              <a:rPr lang="fi-FI" dirty="0"/>
              <a:t> </a:t>
            </a:r>
          </a:p>
        </p:txBody>
      </p:sp>
    </p:spTree>
    <p:extLst>
      <p:ext uri="{BB962C8B-B14F-4D97-AF65-F5344CB8AC3E}">
        <p14:creationId xmlns:p14="http://schemas.microsoft.com/office/powerpoint/2010/main" val="2225603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a:t>
            </a:r>
            <a:br>
              <a:rPr lang="en-US" dirty="0"/>
            </a:br>
            <a:r>
              <a:rPr lang="en-US" sz="2400" dirty="0"/>
              <a:t>Configuring Your Local Developer Environment</a:t>
            </a:r>
            <a:endParaRPr lang="en-US" dirty="0"/>
          </a:p>
        </p:txBody>
      </p:sp>
    </p:spTree>
    <p:extLst>
      <p:ext uri="{BB962C8B-B14F-4D97-AF65-F5344CB8AC3E}">
        <p14:creationId xmlns:p14="http://schemas.microsoft.com/office/powerpoint/2010/main" val="6887604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people sitting at a table&#10;&#10;Description generated with high confidence">
            <a:extLst>
              <a:ext uri="{FF2B5EF4-FFF2-40B4-BE49-F238E27FC236}">
                <a16:creationId xmlns:a16="http://schemas.microsoft.com/office/drawing/2014/main" id="{D2306968-4303-2646-8585-0AC3A60408F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
          <a:stretch/>
        </p:blipFill>
        <p:spPr>
          <a:xfrm flipH="1">
            <a:off x="1943100" y="0"/>
            <a:ext cx="10493376" cy="6994525"/>
          </a:xfrm>
          <a:prstGeom prst="rect">
            <a:avLst/>
          </a:prstGeom>
        </p:spPr>
      </p:pic>
      <p:sp>
        <p:nvSpPr>
          <p:cNvPr id="6" name="Rectangle 5">
            <a:extLst>
              <a:ext uri="{FF2B5EF4-FFF2-40B4-BE49-F238E27FC236}">
                <a16:creationId xmlns:a16="http://schemas.microsoft.com/office/drawing/2014/main" id="{983A2655-A41F-244A-9475-FD805B4A5770}"/>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8047349F-0B8F-4D12-A39C-718C1C57DDFF}"/>
              </a:ext>
            </a:extLst>
          </p:cNvPr>
          <p:cNvSpPr>
            <a:spLocks noGrp="1"/>
          </p:cNvSpPr>
          <p:nvPr>
            <p:ph type="title"/>
          </p:nvPr>
        </p:nvSpPr>
        <p:spPr>
          <a:xfrm>
            <a:off x="465138" y="1843063"/>
            <a:ext cx="11533187" cy="411162"/>
          </a:xfrm>
        </p:spPr>
        <p:txBody>
          <a:bodyPr/>
          <a:lstStyle/>
          <a:p>
            <a:r>
              <a:rPr lang="en-US" dirty="0"/>
              <a:t>Summary</a:t>
            </a:r>
          </a:p>
        </p:txBody>
      </p:sp>
      <p:sp>
        <p:nvSpPr>
          <p:cNvPr id="10" name="Text Placeholder 6">
            <a:extLst>
              <a:ext uri="{FF2B5EF4-FFF2-40B4-BE49-F238E27FC236}">
                <a16:creationId xmlns:a16="http://schemas.microsoft.com/office/drawing/2014/main" id="{61D48218-75E0-4C6C-BFA7-A1010BADED35}"/>
              </a:ext>
            </a:extLst>
          </p:cNvPr>
          <p:cNvSpPr txBox="1">
            <a:spLocks/>
          </p:cNvSpPr>
          <p:nvPr/>
        </p:nvSpPr>
        <p:spPr>
          <a:xfrm>
            <a:off x="465139" y="2621905"/>
            <a:ext cx="4234184" cy="2031325"/>
          </a:xfrm>
          <a:prstGeom prst="rect">
            <a:avLst/>
          </a:prstGeom>
        </p:spPr>
        <p:txBody>
          <a:bodyPr vert="horz" wrap="square" lIns="0" tIns="0" rIns="0" bIns="0" rtlCol="0">
            <a:spAutoFit/>
          </a:bodyPr>
          <a:lstStyle>
            <a:lvl1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b="1" kern="1200" spc="0" baseline="0">
                <a:solidFill>
                  <a:schemeClr val="tx1"/>
                </a:solidFill>
                <a:latin typeface="+mn-lt"/>
                <a:ea typeface="+mn-ea"/>
                <a:cs typeface="+mn-cs"/>
              </a:defRPr>
            </a:lvl1pPr>
            <a:lvl2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2pPr>
            <a:lvl3pPr marL="4572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kern="1200" spc="0" baseline="0">
                <a:gradFill>
                  <a:gsLst>
                    <a:gs pos="1250">
                      <a:schemeClr val="tx1"/>
                    </a:gs>
                    <a:gs pos="100000">
                      <a:schemeClr val="tx1"/>
                    </a:gs>
                  </a:gsLst>
                  <a:lin ang="5400000" scaled="0"/>
                </a:gradFill>
                <a:latin typeface="+mn-lt"/>
                <a:ea typeface="+mn-ea"/>
                <a:cs typeface="+mn-cs"/>
              </a:defRPr>
            </a:lvl3pPr>
            <a:lvl4pPr marL="6858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nSpc>
                <a:spcPct val="90000"/>
              </a:lnSpc>
              <a:spcBef>
                <a:spcPts val="1800"/>
              </a:spcBef>
            </a:pPr>
            <a:r>
              <a:rPr lang="en-US" sz="1600" b="0" dirty="0">
                <a:solidFill>
                  <a:srgbClr val="2F2F2F"/>
                </a:solidFill>
                <a:latin typeface="Segoe UI Semibold"/>
              </a:rPr>
              <a:t>Tool Comparison:</a:t>
            </a:r>
          </a:p>
          <a:p>
            <a:pPr lvl="0">
              <a:lnSpc>
                <a:spcPct val="90000"/>
              </a:lnSpc>
              <a:spcBef>
                <a:spcPts val="1800"/>
              </a:spcBef>
            </a:pPr>
            <a:r>
              <a:rPr lang="en-US" sz="1600" b="0" dirty="0">
                <a:solidFill>
                  <a:srgbClr val="2F2F2F"/>
                </a:solidFill>
                <a:latin typeface="Segoe UI Semibold"/>
              </a:rPr>
              <a:t>    Server-side vs. client-side</a:t>
            </a:r>
          </a:p>
          <a:p>
            <a:pPr lvl="0">
              <a:lnSpc>
                <a:spcPct val="90000"/>
              </a:lnSpc>
              <a:spcBef>
                <a:spcPts val="1800"/>
              </a:spcBef>
            </a:pPr>
            <a:r>
              <a:rPr lang="en-US" sz="1600" b="0" dirty="0">
                <a:solidFill>
                  <a:srgbClr val="2F2F2F"/>
                </a:solidFill>
                <a:latin typeface="Segoe UI Semibold"/>
              </a:rPr>
              <a:t>Node.js</a:t>
            </a:r>
          </a:p>
          <a:p>
            <a:pPr lvl="0">
              <a:lnSpc>
                <a:spcPct val="90000"/>
              </a:lnSpc>
              <a:spcBef>
                <a:spcPts val="1800"/>
              </a:spcBef>
            </a:pPr>
            <a:r>
              <a:rPr lang="en-US" sz="1600" b="0" dirty="0">
                <a:solidFill>
                  <a:srgbClr val="2F2F2F"/>
                </a:solidFill>
                <a:latin typeface="Segoe UI Semibold"/>
              </a:rPr>
              <a:t>NPM, Yeoman, Heft</a:t>
            </a:r>
          </a:p>
          <a:p>
            <a:pPr lvl="0">
              <a:lnSpc>
                <a:spcPct val="90000"/>
              </a:lnSpc>
              <a:spcBef>
                <a:spcPts val="1800"/>
              </a:spcBef>
            </a:pPr>
            <a:r>
              <a:rPr lang="en-US" sz="1600" b="0" dirty="0">
                <a:solidFill>
                  <a:srgbClr val="2F2F2F"/>
                </a:solidFill>
                <a:latin typeface="Segoe UI Semibold"/>
              </a:rPr>
              <a:t>TypeScript</a:t>
            </a:r>
          </a:p>
        </p:txBody>
      </p:sp>
    </p:spTree>
    <p:extLst>
      <p:ext uri="{BB962C8B-B14F-4D97-AF65-F5344CB8AC3E}">
        <p14:creationId xmlns:p14="http://schemas.microsoft.com/office/powerpoint/2010/main" val="197582143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B3A684-C5C1-4B91-8D72-E2DBE6DAFFCC}"/>
              </a:ext>
            </a:extLst>
          </p:cNvPr>
          <p:cNvSpPr/>
          <p:nvPr/>
        </p:nvSpPr>
        <p:spPr bwMode="auto">
          <a:xfrm>
            <a:off x="0" y="1504710"/>
            <a:ext cx="12436475" cy="4857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lstStyle/>
          <a:p>
            <a:r>
              <a:rPr lang="en-US" dirty="0"/>
              <a:t>Reading further</a:t>
            </a:r>
          </a:p>
        </p:txBody>
      </p:sp>
      <p:sp>
        <p:nvSpPr>
          <p:cNvPr id="3" name="Text Placeholder 2"/>
          <p:cNvSpPr>
            <a:spLocks noGrp="1"/>
          </p:cNvSpPr>
          <p:nvPr>
            <p:ph type="body" sz="quarter" idx="10"/>
          </p:nvPr>
        </p:nvSpPr>
        <p:spPr>
          <a:xfrm>
            <a:off x="465138" y="1919804"/>
            <a:ext cx="11533187" cy="2776466"/>
          </a:xfrm>
        </p:spPr>
        <p:txBody>
          <a:bodyPr/>
          <a:lstStyle/>
          <a:p>
            <a:pPr lvl="0"/>
            <a:r>
              <a:rPr lang="en-US" sz="1600" dirty="0"/>
              <a:t>Node.js – </a:t>
            </a:r>
            <a:r>
              <a:rPr lang="en-US" sz="1600" dirty="0">
                <a:hlinkClick r:id="rId3"/>
              </a:rPr>
              <a:t>https://nodejs.org</a:t>
            </a:r>
            <a:endParaRPr lang="en-US" sz="1600" dirty="0"/>
          </a:p>
          <a:p>
            <a:pPr lvl="0"/>
            <a:r>
              <a:rPr lang="en-US" sz="1600" dirty="0"/>
              <a:t>NPM - </a:t>
            </a:r>
            <a:r>
              <a:rPr lang="en-US" sz="1600" dirty="0">
                <a:hlinkClick r:id="rId4"/>
              </a:rPr>
              <a:t>https://www.npmjs.com</a:t>
            </a:r>
            <a:endParaRPr lang="en-US" sz="1600" dirty="0"/>
          </a:p>
          <a:p>
            <a:pPr lvl="0"/>
            <a:r>
              <a:rPr lang="en-US" sz="1600" dirty="0"/>
              <a:t>Yeoman - </a:t>
            </a:r>
            <a:r>
              <a:rPr lang="en-US" sz="1600" dirty="0">
                <a:hlinkClick r:id="rId5"/>
              </a:rPr>
              <a:t>http://yeoman.io</a:t>
            </a:r>
            <a:r>
              <a:rPr lang="en-US" sz="1600" dirty="0"/>
              <a:t> </a:t>
            </a:r>
          </a:p>
          <a:p>
            <a:pPr lvl="0"/>
            <a:r>
              <a:rPr lang="en-US" sz="1600" dirty="0"/>
              <a:t>Gulp - </a:t>
            </a:r>
            <a:r>
              <a:rPr lang="en-US" sz="1600" dirty="0">
                <a:hlinkClick r:id="rId6"/>
              </a:rPr>
              <a:t>http://gulpjs.org</a:t>
            </a:r>
            <a:r>
              <a:rPr lang="en-US" sz="1600" dirty="0"/>
              <a:t>  </a:t>
            </a:r>
          </a:p>
          <a:p>
            <a:pPr lvl="0"/>
            <a:r>
              <a:rPr lang="en-US" sz="1600" dirty="0"/>
              <a:t>TypeScript - </a:t>
            </a:r>
            <a:r>
              <a:rPr lang="en-US" sz="1600" dirty="0">
                <a:hlinkClick r:id="rId7"/>
              </a:rPr>
              <a:t>https://www.typescriptlang.org</a:t>
            </a:r>
            <a:endParaRPr lang="en-US" sz="1600" dirty="0"/>
          </a:p>
          <a:p>
            <a:pPr lvl="0"/>
            <a:r>
              <a:rPr lang="en-US" sz="1600" dirty="0"/>
              <a:t> </a:t>
            </a:r>
          </a:p>
          <a:p>
            <a:pPr lvl="0"/>
            <a:r>
              <a:rPr lang="en-US" sz="1600" dirty="0"/>
              <a:t>Set up your developer environment</a:t>
            </a:r>
          </a:p>
          <a:p>
            <a:r>
              <a:rPr lang="en-US" sz="1600" dirty="0">
                <a:hlinkClick r:id="rId8"/>
              </a:rPr>
              <a:t>https://learn.microsoft.com/sharepoint/dev/spfx/set-up-your-development-environment</a:t>
            </a:r>
            <a:endParaRPr lang="en-US" sz="1600" dirty="0"/>
          </a:p>
        </p:txBody>
      </p:sp>
    </p:spTree>
    <p:extLst>
      <p:ext uri="{BB962C8B-B14F-4D97-AF65-F5344CB8AC3E}">
        <p14:creationId xmlns:p14="http://schemas.microsoft.com/office/powerpoint/2010/main" val="176450976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4179606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0211511"/>
      </p:ext>
    </p:extLst>
  </p:cSld>
  <p:clrMapOvr>
    <a:masterClrMapping/>
  </p:clrMapOvr>
  <p:transition>
    <p:fade/>
  </p:transition>
</p:sld>
</file>

<file path=ppt/theme/theme1.xml><?xml version="1.0" encoding="utf-8"?>
<a:theme xmlns:a="http://schemas.openxmlformats.org/drawingml/2006/main" name="Office 365 PPT Template - 2017">
  <a:themeElements>
    <a:clrScheme name="Office17_2">
      <a:dk1>
        <a:srgbClr val="2F2F2F"/>
      </a:dk1>
      <a:lt1>
        <a:srgbClr val="E6E6E6"/>
      </a:lt1>
      <a:dk2>
        <a:srgbClr val="2F2F2F"/>
      </a:dk2>
      <a:lt2>
        <a:srgbClr val="FFFFFF"/>
      </a:lt2>
      <a:accent1>
        <a:srgbClr val="D83B01"/>
      </a:accent1>
      <a:accent2>
        <a:srgbClr val="2F2F2F"/>
      </a:accent2>
      <a:accent3>
        <a:srgbClr val="D2D2D2"/>
      </a:accent3>
      <a:accent4>
        <a:srgbClr val="E6E6E6"/>
      </a:accent4>
      <a:accent5>
        <a:srgbClr val="2F2F2F"/>
      </a:accent5>
      <a:accent6>
        <a:srgbClr val="D2D2D2"/>
      </a:accent6>
      <a:hlink>
        <a:srgbClr val="D83B01"/>
      </a:hlink>
      <a:folHlink>
        <a:srgbClr val="D83B01"/>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ffice PPT Template 2017_Final [Read-Only]" id="{73F65A92-A1E2-4F85-816E-D7BE701F4FD1}" vid="{D56D5674-EDE9-4FB8-A009-BF74ED985E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athena xmlns="http://schemas.microsoft.com/edu/athena" version="0.1.3396.0">
  <ink scale="0.5713244">AAEAAAD/////AQAAAAAAAAAMAgAAAE9BdXRob3JQUFQsIFZlcnNpb249MC4xLjMzOTYuMCwgQ3VsdHVyZT1uZXV0cmFsLCBQdWJsaWNLZXlUb2tlbj0zMWJmMzg1NmFkMzY0ZTM1BQEAAAALSW5rTWF0dGVyVjEDAAAADUxpc3RgMStfaXRlbXMMTGlzdGAxK19zaXplD0xpc3RgMStfdmVyc2lvbgQAABdTaGFyZWQuSW5raW5nLklua0F0b21bXQIAAAAICAIAAAAJAwAAAAIAAAAdAAAABwMAAAAAAQAAAAQAAAAECUlua0F0b21WMQIAAAAJBAAAAAkFAAAADQIFBAAAAAtQZW5TdHJva2VWMQQAAAAKQXR0cmlidXRlcwVUcmFjZQlTdGFydFRpbWUEVHlwZQQEAAQPUGVuQXR0cmlidXRlc1YxAgAAAApJbmtUcmFjZVYxAgAAABAMQWN0aW9uVHlwZVYxAgAAAAIAAAAJBgAAAAkHAAAA5O8AAAAAAAAF+P///wxBY3Rpb25UeXBlVjEBAAAAB3ZhbHVlX18ACAIAAAAAAAAABQUAAAANQ2xlYXJDYW52YXNWMQIAAAAJU3RhcnRUaW1lBFR5cGUABBAMQWN0aW9uVHlwZVYxAgAAAAIAAADYBgEAAAAAAAH3////+P///wAAAAAFBgAAAA9QZW5BdHRyaWJ1dGVzVjEKAAAAB19jb2xvckEHX2NvbG9yUgdfY29sb3JHB19jb2xvckIKRml0VG9DdXJ2ZQZIZWlnaHQOSWdub3JlUHJlc3N1cmUNSXNIaWdobGlnaHRlcgVTaGFwZQVXaWR0aAAAAAAAAAAABAACAgICAQYBAQxCcnVzaFNoYXBlVjECAAAABgIAAAD/AAAAAAAAAAAAAAhAAAAF9v///wxCcnVzaFNoYXBlVjEBAAAAB3ZhbHVlX18ACAIAAAABAAAAAAAAAAAACEAFBwAAAApJbmtUcmFjZVYxAwAAAA1MaXN0YDErX2l0ZW1zDExpc3RgMStfc2l6ZQ9MaXN0YDErX3ZlcnNpb24EAAAYU2hhcmVkLklua2luZy5JbmtQb2ludFtdAgAAAAgIAgAAAAkLAAAAAQAAAAEAAAAHCwAAAAABAAAABAAAAAQKSW5rUG9pbnRWMQIAAAAJDAAAAA0DBQwAAAAKSW5rUG9pbnRWMQQAAAABWAFZDlByZXNzdXJlRmFjdG9yCVRpbWVTdGFtcAAAAAAGBgsQAgAAAAACAAAAAOA/IAAAAAAA4D8AAAA/AAAAAAAAAAAL</ink>
</athena>
</file>

<file path=customXml/itemProps1.xml><?xml version="1.0" encoding="utf-8"?>
<ds:datastoreItem xmlns:ds="http://schemas.openxmlformats.org/officeDocument/2006/customXml" ds:itemID="{AB748CBD-0949-444B-9600-75CD9A8FAB3E}">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emplate>Office templates</Template>
  <TotalTime>0</TotalTime>
  <Words>2254</Words>
  <Application>Microsoft Macintosh PowerPoint</Application>
  <PresentationFormat>Custom</PresentationFormat>
  <Paragraphs>203</Paragraphs>
  <Slides>14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Consolas</vt:lpstr>
      <vt:lpstr>Segoe UI</vt:lpstr>
      <vt:lpstr>Segoe UI Light</vt:lpstr>
      <vt:lpstr>Segoe UI Semibold</vt:lpstr>
      <vt:lpstr>Wingdings</vt:lpstr>
      <vt:lpstr>Office 365 PPT Template - 2017</vt:lpstr>
      <vt:lpstr>Configuring your SPFx Development Environment</vt:lpstr>
      <vt:lpstr>Configuring your SPFx Development Environment</vt:lpstr>
      <vt:lpstr>Open source tooling</vt:lpstr>
      <vt:lpstr>Server-side tool comparison</vt:lpstr>
      <vt:lpstr>Node.js - Runtime</vt:lpstr>
      <vt:lpstr>npm – Node Package Manager</vt:lpstr>
      <vt:lpstr>Yeoman – Project Scaffolding Generator</vt:lpstr>
      <vt:lpstr>Heft – Task Runner</vt:lpstr>
      <vt:lpstr>TypeScript – Typed JavaScript</vt:lpstr>
      <vt:lpstr>Demo Configuring Your Local Developer Environment</vt:lpstr>
      <vt:lpstr>Summary</vt:lpstr>
      <vt:lpstr>Reading further</vt:lpstr>
      <vt:lpstr>Thank you.</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2017-08-19T23:50:46Z</dcterms:created>
  <dcterms:modified xsi:type="dcterms:W3CDTF">2026-05-24T14:08:30Z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vesaj@microsoft.com</vt:lpwstr>
  </property>
  <property fmtid="{D5CDD505-2E9C-101B-9397-08002B2CF9AE}" pid="5" name="MSIP_Label_f42aa342-8706-4288-bd11-ebb85995028c_SetDate">
    <vt:lpwstr>2018-12-20T12:55:35.4497539Z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